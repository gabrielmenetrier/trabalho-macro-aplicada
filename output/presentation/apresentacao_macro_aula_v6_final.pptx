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e4bf950c61483d" /><Relationship Type="http://schemas.openxmlformats.org/officeDocument/2006/relationships/extended-properties" Target="/docProps/app.xml" Id="Re10cb241f01d48d0" /><Relationship Type="http://schemas.openxmlformats.org/officeDocument/2006/relationships/officeDocument" Target="/ppt/presentation.xml" Id="Rae766f958704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b25044b3c84f01"/>
  </p:sldMasterIdLst>
  <p:notesMasterIdLst>
    <p:notesMasterId xmlns:r="http://schemas.openxmlformats.org/officeDocument/2006/relationships" r:id="R1fc9ffd7e3b64850"/>
  </p:notesMasterIdLst>
  <p:sldIdLst>
    <p:sldId xmlns:r="http://schemas.openxmlformats.org/officeDocument/2006/relationships" id="256" r:id="Rcabf78afca1b4988"/>
    <p:sldId xmlns:r="http://schemas.openxmlformats.org/officeDocument/2006/relationships" id="257" r:id="Rac9aa6e3610d40d6"/>
    <p:sldId xmlns:r="http://schemas.openxmlformats.org/officeDocument/2006/relationships" id="258" r:id="R76dc64ad900940fe"/>
    <p:sldId xmlns:r="http://schemas.openxmlformats.org/officeDocument/2006/relationships" id="259" r:id="R7fbbb04e08584d81"/>
    <p:sldId xmlns:r="http://schemas.openxmlformats.org/officeDocument/2006/relationships" id="260" r:id="R8adc153e396d4d73"/>
    <p:sldId xmlns:r="http://schemas.openxmlformats.org/officeDocument/2006/relationships" id="261" r:id="R943ba0259d424d60"/>
    <p:sldId xmlns:r="http://schemas.openxmlformats.org/officeDocument/2006/relationships" id="262" r:id="R2dbb3b1b4d5d4c44"/>
    <p:sldId xmlns:r="http://schemas.openxmlformats.org/officeDocument/2006/relationships" id="263" r:id="R89004632c338450f"/>
    <p:sldId xmlns:r="http://schemas.openxmlformats.org/officeDocument/2006/relationships" id="264" r:id="R976c98092bbc4ea6"/>
    <p:sldId xmlns:r="http://schemas.openxmlformats.org/officeDocument/2006/relationships" id="265" r:id="R0886e107663b4a6e"/>
    <p:sldId xmlns:r="http://schemas.openxmlformats.org/officeDocument/2006/relationships" id="266" r:id="Ra4fef088dc124467"/>
    <p:sldId xmlns:r="http://schemas.openxmlformats.org/officeDocument/2006/relationships" id="267" r:id="R35c9fec87c4f44e1"/>
    <p:sldId xmlns:r="http://schemas.openxmlformats.org/officeDocument/2006/relationships" id="268" r:id="R7be7f86ed97e450b"/>
    <p:sldId xmlns:r="http://schemas.openxmlformats.org/officeDocument/2006/relationships" id="269" r:id="Rde5290cf14a046f9"/>
    <p:sldId xmlns:r="http://schemas.openxmlformats.org/officeDocument/2006/relationships" id="270" r:id="R0e75a282b1bb484d"/>
    <p:sldId xmlns:r="http://schemas.openxmlformats.org/officeDocument/2006/relationships" id="271" r:id="R07d7c45ff68741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c38170dc944d79" /><Relationship Type="http://schemas.openxmlformats.org/officeDocument/2006/relationships/slideMaster" Target="/ppt/slideMasters/slideMaster1.xml" Id="R7eb25044b3c84f01" /><Relationship Type="http://schemas.openxmlformats.org/officeDocument/2006/relationships/notesMaster" Target="/ppt/notesMasters/notesMaster1.xml" Id="R1fc9ffd7e3b64850" /><Relationship Type="http://schemas.openxmlformats.org/officeDocument/2006/relationships/presProps" Target="/ppt/presProps.xml" Id="Rbda72142d6bc4461" /><Relationship Type="http://schemas.openxmlformats.org/officeDocument/2006/relationships/tableStyles" Target="/ppt/tableStyles.xml" Id="R6f86524eaa4a427f" /><Relationship Type="http://schemas.openxmlformats.org/officeDocument/2006/relationships/slide" Target="/ppt/slides/slide1.xml" Id="Rcabf78afca1b4988" /><Relationship Type="http://schemas.openxmlformats.org/officeDocument/2006/relationships/slide" Target="/ppt/slides/slide2.xml" Id="Rac9aa6e3610d40d6" /><Relationship Type="http://schemas.openxmlformats.org/officeDocument/2006/relationships/slide" Target="/ppt/slides/slide3.xml" Id="R76dc64ad900940fe" /><Relationship Type="http://schemas.openxmlformats.org/officeDocument/2006/relationships/slide" Target="/ppt/slides/slide4.xml" Id="R7fbbb04e08584d81" /><Relationship Type="http://schemas.openxmlformats.org/officeDocument/2006/relationships/slide" Target="/ppt/slides/slide5.xml" Id="R8adc153e396d4d73" /><Relationship Type="http://schemas.openxmlformats.org/officeDocument/2006/relationships/slide" Target="/ppt/slides/slide6.xml" Id="R943ba0259d424d60" /><Relationship Type="http://schemas.openxmlformats.org/officeDocument/2006/relationships/slide" Target="/ppt/slides/slide7.xml" Id="R2dbb3b1b4d5d4c44" /><Relationship Type="http://schemas.openxmlformats.org/officeDocument/2006/relationships/slide" Target="/ppt/slides/slide8.xml" Id="R89004632c338450f" /><Relationship Type="http://schemas.openxmlformats.org/officeDocument/2006/relationships/slide" Target="/ppt/slides/slide9.xml" Id="R976c98092bbc4ea6" /><Relationship Type="http://schemas.openxmlformats.org/officeDocument/2006/relationships/slide" Target="/ppt/slides/slide10.xml" Id="R0886e107663b4a6e" /><Relationship Type="http://schemas.openxmlformats.org/officeDocument/2006/relationships/slide" Target="/ppt/slides/slide11.xml" Id="Ra4fef088dc124467" /><Relationship Type="http://schemas.openxmlformats.org/officeDocument/2006/relationships/slide" Target="/ppt/slides/slide12.xml" Id="R35c9fec87c4f44e1" /><Relationship Type="http://schemas.openxmlformats.org/officeDocument/2006/relationships/slide" Target="/ppt/slides/slide13.xml" Id="R7be7f86ed97e450b" /><Relationship Type="http://schemas.openxmlformats.org/officeDocument/2006/relationships/slide" Target="/ppt/slides/slide14.xml" Id="Rde5290cf14a046f9" /><Relationship Type="http://schemas.openxmlformats.org/officeDocument/2006/relationships/slide" Target="/ppt/slides/slide15.xml" Id="R0e75a282b1bb484d" /><Relationship Type="http://schemas.openxmlformats.org/officeDocument/2006/relationships/slide" Target="/ppt/slides/slide16.xml" Id="R07d7c45ff68741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fe9cab5171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24f84c84844d87" /><Relationship Type="http://schemas.openxmlformats.org/officeDocument/2006/relationships/notesMaster" Target="/ppt/notesMasters/notesMaster1.xml" Id="R79070baada0a43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7760e54d1847f1" /><Relationship Type="http://schemas.openxmlformats.org/officeDocument/2006/relationships/notesMaster" Target="/ppt/notesMasters/notesMaster1.xml" Id="Rc5775bf2048e4d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843db03e694706" /><Relationship Type="http://schemas.openxmlformats.org/officeDocument/2006/relationships/notesMaster" Target="/ppt/notesMasters/notesMaster1.xml" Id="Rc86012331c7443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c0d3b67eac463c" /><Relationship Type="http://schemas.openxmlformats.org/officeDocument/2006/relationships/notesMaster" Target="/ppt/notesMasters/notesMaster1.xml" Id="R67d21286985a4d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6e282f7774f57" /><Relationship Type="http://schemas.openxmlformats.org/officeDocument/2006/relationships/notesMaster" Target="/ppt/notesMasters/notesMaster1.xml" Id="R1fb4329e76a0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3f073333764021" /><Relationship Type="http://schemas.openxmlformats.org/officeDocument/2006/relationships/notesMaster" Target="/ppt/notesMasters/notesMaster1.xml" Id="R85b8ae3bff5f46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98300873b641db" /><Relationship Type="http://schemas.openxmlformats.org/officeDocument/2006/relationships/notesMaster" Target="/ppt/notesMasters/notesMaster1.xml" Id="R677d1a34c4e4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ab121522764288" /><Relationship Type="http://schemas.openxmlformats.org/officeDocument/2006/relationships/notesMaster" Target="/ppt/notesMasters/notesMaster1.xml" Id="Rf7edbdcce5fd46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8931fc0ad84aec" /><Relationship Type="http://schemas.openxmlformats.org/officeDocument/2006/relationships/notesMaster" Target="/ppt/notesMasters/notesMaster1.xml" Id="Rdc031ba65d0d40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fa03f0802342d2" /><Relationship Type="http://schemas.openxmlformats.org/officeDocument/2006/relationships/notesMaster" Target="/ppt/notesMasters/notesMaster1.xml" Id="Rd85eaab049624b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21e4ef340c4985" /><Relationship Type="http://schemas.openxmlformats.org/officeDocument/2006/relationships/notesMaster" Target="/ppt/notesMasters/notesMaster1.xml" Id="Rc6de4be0e51c4b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9ea5914ae74b9b" /><Relationship Type="http://schemas.openxmlformats.org/officeDocument/2006/relationships/notesMaster" Target="/ppt/notesMasters/notesMaster1.xml" Id="Ra6976fce581844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28ab1f71f144e7" /><Relationship Type="http://schemas.openxmlformats.org/officeDocument/2006/relationships/notesMaster" Target="/ppt/notesMasters/notesMaster1.xml" Id="Rd181e2c5aee24b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152b5b954c47c8" /><Relationship Type="http://schemas.openxmlformats.org/officeDocument/2006/relationships/notesMaster" Target="/ppt/notesMasters/notesMaster1.xml" Id="R88a5d105189041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4c8c3a98ca4829" /><Relationship Type="http://schemas.openxmlformats.org/officeDocument/2006/relationships/notesMaster" Target="/ppt/notesMasters/notesMaster1.xml" Id="Rf6c5b4d91cf243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95ab6cdcf84ee2" /><Relationship Type="http://schemas.openxmlformats.org/officeDocument/2006/relationships/notesMaster" Target="/ppt/notesMasters/notesMaster1.xml" Id="R7bc400e1f03349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30s</a:t>
            </a:r>
          </a:p>
          <a:p xmlns:a="http://schemas.openxmlformats.org/drawingml/2006/main">
            <a:r>
              <a:t>O trabalho parte da previsibilidade cambial de médio e longo prazo estudada por Eichenbaum, Johannsen e Rebelo. Apresento uma replicação parcial da relação da aula e testes de previsão nominal. Depois mostro, apenas como referência exploratória, aplicações mensais e filtros de exposição. Esses resultados de carteira não demonstram a exploração do ajuste de longo prazo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90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 gráfico seguinte mostra como essa diferença se acumulou no patrimônio.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As duas carteiras incluem juros, câmbio e custos. O ranking com previsão termina abaixo do carry por juros.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é o resultado acumulado das mesmas duas regras. A linha do carry por juros termina acima da linha que acrescenta a previsão cambial. A diferença não vem de excluir os juros de uma delas: ambas incluem juros, câmbio, financiamento e negociação. A linha de caixa permite visualizar quanto seria recebido apenas no colateral em dólar. O gráfico reforça o fracasso da alteração direta do ranking nesta implementação.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Patrimônio base 100 é o valor acumulado após reinvestir os retornos mensais líquidos. Um nível de 195 significa ganho total próximo de 95%, e não retorno anual de 95%. A linha de caixa usa a mesma remuneração USD do backtest. Comparar o patrimônio não muda a estratégia: é outra forma de mostrar os resultados da tabela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As linhas cobrem março de 2010 a agosto de 2026. Compare os pontos finais e depois o caminho, sem tentar explicar cada oscilação. O gráfico usa os mesmos 198 retornos da tabela do slide 6, com inicialização em 100 antes do primeiro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não representa posições obrigatoriamente mantidas por cinco anos e não demonstra captura da convergência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São operações independentes de um mês? A carteira tem decisões mensais. Uma moeda pode permanecer na posição se o ranking continuar favorável. Calculamos o resultado dessa exposição sucessiva, com custos sobre as mudanças do notional.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seguir, mostro como referência exploratória os resultados das regras de exposição. Elas não validam uma estratégia de investimento de longo prazo baseada no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output/tables/portfolio_returns.csv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105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Para comparar, eu coloco o carry e a combinação exatamente nas mesmas datas.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Antes de ver o gráfico, verifico o que muda quando altero o prazo dos lotes.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trajetória do patrimônio da combinação-base, com lotes de até doze meses, aparece no próximo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Também vale separar contabilmente o que veio dos juros e o que veio do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decomposição contábil ajuda a entender o resultado. A combinação recebeu menos contribuição de juros, o que faz sentido porque operou com menor exposição. Em compensação, teve contribuição cambial maior na amostra. Isso manteve o excesso médio de retorno próximo ao do carry, com menos risco. Mas ficar de fora também tem custo: em 2019, a combinação ganhou pouco acima do caixa e ficou bastante atrás do carry. Em 2020 e 2021, ocorreu o contrário. Portanto, os filtros podem proteger em alguns episódios e deixar ganhos para trás em outros. Essa alternância é parte do resultado, não uma exceção a esconder.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atribuição divide a média mensal do retorno em excesso em parcelas contábeis e multiplica por 12. Os valores são pontos percentuais de contribuição anual, não CAGRs separáveis. Carry: câmbio 0,74 p.p. e juros 2,62 p.p. Combinação: câmbio 1,82 p.p. e juros 1,50 p.p. Interação, spread de financiamento e custos completam a conta. O excesso médio total é aproximadamente 3,07% e 3,17% ao ano, respectivamente. Isso é consistente com melhor seleção de exposição na história, mas não identifica um mecanismo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as barras de cada componente. A remuneração de juros cai na combinação, enquanto a contribuição de câmbio sobe. Diga que os componentes mostrados não somam o retorno composto da tabela anterior. Para ilustrar custo de oportunidade, em 2019 o excesso médio anualizado da combinação foi 0,40%, contra 3,83% do carry. Em 2020–2021, foi 2,39% contra −1,43%.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Mesmas previsões, regras e treinamento expansivo da combinação. Atribuição realizada no backtest de abr/2018 a ago/2026. Não há um novo modelo de previsão para a atribuição.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vem só do carrego? Não. As duas estratégias recebem juros e carregam risco cambial. A combinação mudou a exposição a essas duas fontes de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Os resultados são interessantes, mas há limites claros para a interpretação.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synthesis/tables/attribution.csv</a:t>
            </a:r>
          </a:p>
          <a:p xmlns:a="http://schemas.openxmlformats.org/drawingml/2006/main">
            <a:r>
              <a:t>synthesis/tables/episodes.csv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As carteiras são referências exploratórias: falta validar a ligação entre previsão de longo prazo e execução econômica.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principal limitação é que os módulos foram escolhidos após explorar essa mesma história. Eu cuidei para que as decisões mensais não usassem o futuro, mas isso não transforma o resultado em uma validação independente da escolha das regras. O desempenho também depende bastante do Brasil e do iene, e a menor exposição explica parte da queda de risco. Os testes corrigidos para as alternativas principais não sustentam ganho de retorno médio sobre o carry. Finalmente, taxas oficiais e séries revisadas são aproximações da informação e dos preços disponíveis para um investidor. Por isso, a próxima validação teria de congelar as regras e acompanhar dados futuros e custos executáveis.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Vazamento temporal ocorre quando a decisão usa informação que só seria conhecida depois. O projeto controla defasagens, maturação dos alvos e atraso de execução. Seleção de modelos é outro problema: depois de testar muitas ideias, as que parecem melhores podem ser apenas as que tiveram sorte nessa história. Um backtest pode respeitar o calendário e ainda sofrer com seleção retrospectiva. Além disso, os dados macroeconômicos disponíveis foram revisados e as taxas são proxies, não cotações executáveis. A dependência de países também limita a generalização.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quatro limites em linguagem simples: mesma história explorada, exposição menor, concentração por país e dados sem todas as versões históricas. A atribuição de BRL e JPY representa cerca de 86% da contribuição por moeda antes de custos de negociação. Na sensibilidade sem BRL, o excesso da combinação cai de 3,17% para aproximadamente 0,65% ao ano. O teste corrigido para a grade principal não estabelece ganho de retorno médio sobre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Evite ‘não houve nenhum vazamento’ como certificação absoluta. Diga quais controles existem e quais limitações permanecem.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Então o trabalho não tem valor? Tem. Reproduz a relação da aula, mostra onde extensões preditivas falham e documenta uma hipótese de controle de risco com resultados e limites transparentes.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Com esses limites, a conclusão fica mais simples e mais defensável.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synthesis/tables/search_adjustment.csv</a:t>
            </a:r>
          </a:p>
          <a:p xmlns:a="http://schemas.openxmlformats.org/drawingml/2006/main">
            <a:r>
              <a:t>synthesis/tables/robustness.csv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AUDITORIA.md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segundos.</a:t>
            </a:r>
          </a:p>
          <a:p xmlns:a="http://schemas.openxmlformats.org/drawingml/2006/main">
            <a:r>
              <a:t>Ideia central: A relação histórica foi parcialmente replicada. As aplicações mensais posteriores não validam uma estratégia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relação histórica da aula aparece na replicação parcial, e os testes preditivos variam por moeda e horizonte. As carteiras posteriores ficam como referências exploratórias. A conversão de uma previsão de cinco anos em sinal mensal e os filtros de doze meses não demonstram a captura do ajuste de longo prazo. Portanto, o trabalho ainda não estabelece uma estratégia econômica validada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conclusão deve separar o que foi reproduzido do que ficou como hipótese. A relação histórica brasileira apresentada na aula foi recuperada. Somar a previsão ao ranking mensal falhou, enquanto regras de exposição apresentaram risco histórico menor. Nenhuma dessas etapas prova arbitragem, ganho causal de uma variável ou alfa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Separe a evidência preditiva do resultado das carteiras. Encerre sem apresentar os filtros mensais como a conclusão econômica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Encerre no slide 14. Os slides 15 e 16 são apoio para perguntas e ficam fora dos 15 minutos e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que falta para a conclusão econômica? Um desenho de investimento explicitamente alinhado ao horizonte previsto, com regras de manutenção e saída justificadas, financiamento, custos e comparação adequada.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Obrigado. Posso detalhar a metodologia ou os resultados nas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Relatórios original e síntese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A regressão usa o desvio do câmbio real para prever a mudança futura do câmbio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a forma simplificada da regressão. A variável prevista é a mudança futura do log da cotação nominal. O regressor é o desvio do câmbio real em relação à sua média histórica disponível. Um alvo só entra no treinamento depois de terminar. Não treino uma previsão de cinco anos com resultados que ainda não poderiam ser conhecidos.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EJR implementado, Δs(t,t+h) = β_h × [q_t − média histórica de q] + erro, com coeficiente agrupado e sem intercepto adicional. A média é calculada com dados disponíveis na origem. Cada regressão em t só usa alvos j+h que terminaram até t−1. A observação atual do CPI entra com dois meses de atraso. A previsão mensal usada no sinal de carry é a previsão de Δs em 60 meses dividida por 60, uma aproximação de ritmo médio, não uma trajetória estimada.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Use somente se houver pergunta técnica. Explique cada letra antes de interpretar o coeficiente. A variável prevista é nominal. O câmbio real é o regressor.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Janela de treinamento começa em out/1999 no EJR nominal. Para horizonte h, uma origem j só entra se j+h ≤ t−1. Mínimo 60 origens maduras por moeda. CPI defasado em dois meses. As janelas de avaliação variam por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equação simplificada do slide omite índices de país para legibilidade. O exercício de dispersão da aula tem ajuste dentro da amostra e intercepto, diferentemente da previsão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Há identificação causal? Não. Há uma avaliação preditiva condicional, sem uma fonte exógena de variação que identifique um efeito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O segundo apoio detalha a comparação econômica e o calendário de negociação.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Esses detalhes sustentam a leitura cautelosa dos resultados principais.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ec329ed544a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61882c52c549a4" /><Relationship Type="http://schemas.openxmlformats.org/officeDocument/2006/relationships/slideLayout" Target="/ppt/slideLayouts/slideLayout1.xml" Id="R3eb934d3fce64f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b934d3fce6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6fcd4498a430c" /><Relationship Type="http://schemas.openxmlformats.org/officeDocument/2006/relationships/notesSlide" Target="/ppt/notesSlides/notesSlide1.xml" Id="R3893e5f5fb12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a2a92469042bb" /><Relationship Type="http://schemas.openxmlformats.org/officeDocument/2006/relationships/notesSlide" Target="/ppt/notesSlides/notesSlide2.xml" Id="R07045c3636644b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b7bec508148f5" /><Relationship Type="http://schemas.openxmlformats.org/officeDocument/2006/relationships/chart" Target="/ppt/slides/charts/chart1.xml" Id="R5c3b050e017c4206" /><Relationship Type="http://schemas.openxmlformats.org/officeDocument/2006/relationships/notesSlide" Target="/ppt/notesSlides/notesSlide3.xml" Id="Rfa794ef363c644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5c803c644482b" /><Relationship Type="http://schemas.openxmlformats.org/officeDocument/2006/relationships/notesSlide" Target="/ppt/notesSlides/notesSlide4.xml" Id="R47197287c97142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1917f25344917" /><Relationship Type="http://schemas.openxmlformats.org/officeDocument/2006/relationships/notesSlide" Target="/ppt/notesSlides/notesSlide5.xml" Id="R07bc090a4eb7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26a59009e4cc3" /><Relationship Type="http://schemas.openxmlformats.org/officeDocument/2006/relationships/notesSlide" Target="/ppt/notesSlides/notesSlide6.xml" Id="Rc139d09bc1f444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dac7a03d94f60" /><Relationship Type="http://schemas.openxmlformats.org/officeDocument/2006/relationships/chart" Target="/ppt/slides/charts/chart2.xml" Id="Rbcafb90420c045e2" /><Relationship Type="http://schemas.openxmlformats.org/officeDocument/2006/relationships/notesSlide" Target="/ppt/notesSlides/notesSlide7.xml" Id="R032dccadca0845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40be70af04817" /><Relationship Type="http://schemas.openxmlformats.org/officeDocument/2006/relationships/notesSlide" Target="/ppt/notesSlides/notesSlide8.xml" Id="R793acbc085ce4b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58f657ecf478e" /><Relationship Type="http://schemas.openxmlformats.org/officeDocument/2006/relationships/notesSlide" Target="/ppt/notesSlides/notesSlide9.xml" Id="R37d29bf021ab45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a64938e254879" /><Relationship Type="http://schemas.openxmlformats.org/officeDocument/2006/relationships/notesSlide" Target="/ppt/notesSlides/notesSlide10.xml" Id="R801d0a40ffdd4c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6f83ff6c64b9e" /><Relationship Type="http://schemas.openxmlformats.org/officeDocument/2006/relationships/chart" Target="/ppt/slides/charts/chart3.xml" Id="Ra049e8e130da4b1c" /><Relationship Type="http://schemas.openxmlformats.org/officeDocument/2006/relationships/chart" Target="/ppt/slides/charts/chart4.xml" Id="Rbb656fb166d049de" /><Relationship Type="http://schemas.openxmlformats.org/officeDocument/2006/relationships/notesSlide" Target="/ppt/notesSlides/notesSlide11.xml" Id="Rdd13d8cad61e4f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c9fb4349140b1" /><Relationship Type="http://schemas.openxmlformats.org/officeDocument/2006/relationships/chart" Target="/ppt/slides/charts/chart5.xml" Id="R87a3583ec363461d" /><Relationship Type="http://schemas.openxmlformats.org/officeDocument/2006/relationships/notesSlide" Target="/ppt/notesSlides/notesSlide12.xml" Id="R04679c29c60840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6df84d0de4e5a" /><Relationship Type="http://schemas.openxmlformats.org/officeDocument/2006/relationships/notesSlide" Target="/ppt/notesSlides/notesSlide13.xml" Id="R00065d51f5874f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01f0412694f81" /><Relationship Type="http://schemas.openxmlformats.org/officeDocument/2006/relationships/notesSlide" Target="/ppt/notesSlides/notesSlide14.xml" Id="R1b6c4010db0e4a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c826501f4435f" /><Relationship Type="http://schemas.openxmlformats.org/officeDocument/2006/relationships/notesSlide" Target="/ppt/notesSlides/notesSlide15.xml" Id="Rb249c75cf20440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c862075a1418b" /><Relationship Type="http://schemas.openxmlformats.org/officeDocument/2006/relationships/notesSlide" Target="/ppt/notesSlides/notesSlide16.xml" Id="R4961e1e649f247a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Data'!$A$2:$A$200</c:f>
              <c:numCache>
                <c:formatCode>General</c:formatCode>
                <c:ptCount val="199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  <c:pt idx="181">
                  <c:v>2025.16666667</c:v>
                </c:pt>
                <c:pt idx="182">
                  <c:v>2025.25</c:v>
                </c:pt>
                <c:pt idx="183">
                  <c:v>2025.33333333</c:v>
                </c:pt>
                <c:pt idx="184">
                  <c:v>2025.41666667</c:v>
                </c:pt>
                <c:pt idx="185">
                  <c:v>2025.5</c:v>
                </c:pt>
                <c:pt idx="186">
                  <c:v>2025.58333333</c:v>
                </c:pt>
                <c:pt idx="187">
                  <c:v>2025.66666667</c:v>
                </c:pt>
                <c:pt idx="188">
                  <c:v>2025.75</c:v>
                </c:pt>
                <c:pt idx="189">
                  <c:v>2025.83333333</c:v>
                </c:pt>
                <c:pt idx="190">
                  <c:v>2025.91666667</c:v>
                </c:pt>
                <c:pt idx="191">
                  <c:v>2026</c:v>
                </c:pt>
                <c:pt idx="192">
                  <c:v>2026.08333333</c:v>
                </c:pt>
                <c:pt idx="193">
                  <c:v>2026.16666667</c:v>
                </c:pt>
                <c:pt idx="194">
                  <c:v>2026.25</c:v>
                </c:pt>
                <c:pt idx="195">
                  <c:v>2026.33333333</c:v>
                </c:pt>
                <c:pt idx="196">
                  <c:v>2026.41666667</c:v>
                </c:pt>
                <c:pt idx="197">
                  <c:v>2026.5</c:v>
                </c:pt>
                <c:pt idx="198">
                  <c:v>2026.58333333</c:v>
                </c:pt>
              </c:numCache>
            </c:numRef>
          </c:xVal>
          <c:yVal>
            <c:numRef>
              <c:f>'Chart Data'!$B$2:$B$200</c:f>
              <c:numCache>
                <c:formatCode>0.00</c:formatCode>
                <c:ptCount val="199"/>
                <c:pt idx="0">
                  <c:v>100</c:v>
                </c:pt>
                <c:pt idx="1">
                  <c:v>101.89952312</c:v>
                </c:pt>
                <c:pt idx="2">
                  <c:v>103.804937901</c:v>
                </c:pt>
                <c:pt idx="3">
                  <c:v>102.448370139</c:v>
                </c:pt>
                <c:pt idx="4">
                  <c:v>103.012626093</c:v>
                </c:pt>
                <c:pt idx="5">
                  <c:v>102.572836719</c:v>
                </c:pt>
                <c:pt idx="6">
                  <c:v>102.06319004</c:v>
                </c:pt>
                <c:pt idx="7">
                  <c:v>101.731865838</c:v>
                </c:pt>
                <c:pt idx="8">
                  <c:v>100.913174527</c:v>
                </c:pt>
                <c:pt idx="9">
                  <c:v>103.346629199</c:v>
                </c:pt>
                <c:pt idx="10">
                  <c:v>104.32450628</c:v>
                </c:pt>
                <c:pt idx="11">
                  <c:v>104.848790359</c:v>
                </c:pt>
                <c:pt idx="12">
                  <c:v>105.679872807</c:v>
                </c:pt>
                <c:pt idx="13">
                  <c:v>106.217328069</c:v>
                </c:pt>
                <c:pt idx="14">
                  <c:v>106.768546558</c:v>
                </c:pt>
                <c:pt idx="15">
                  <c:v>107.135927442</c:v>
                </c:pt>
                <c:pt idx="16">
                  <c:v>106.545116589</c:v>
                </c:pt>
                <c:pt idx="17">
                  <c:v>105.973340474</c:v>
                </c:pt>
                <c:pt idx="18">
                  <c:v>105.138379036</c:v>
                </c:pt>
                <c:pt idx="19">
                  <c:v>101.089499775</c:v>
                </c:pt>
                <c:pt idx="20">
                  <c:v>105.16583891</c:v>
                </c:pt>
                <c:pt idx="21">
                  <c:v>102.534499315</c:v>
                </c:pt>
                <c:pt idx="22">
                  <c:v>102.070346789</c:v>
                </c:pt>
                <c:pt idx="23">
                  <c:v>103.911635328</c:v>
                </c:pt>
                <c:pt idx="24">
                  <c:v>106.231883553</c:v>
                </c:pt>
                <c:pt idx="25">
                  <c:v>105.164561154</c:v>
                </c:pt>
                <c:pt idx="26">
                  <c:v>103.626849242</c:v>
                </c:pt>
                <c:pt idx="27">
                  <c:v>101.606802271</c:v>
                </c:pt>
                <c:pt idx="28">
                  <c:v>102.167961145</c:v>
                </c:pt>
                <c:pt idx="29">
                  <c:v>103.192186977</c:v>
                </c:pt>
                <c:pt idx="30">
                  <c:v>103.529222256</c:v>
                </c:pt>
                <c:pt idx="31">
                  <c:v>103.288908414</c:v>
                </c:pt>
                <c:pt idx="32">
                  <c:v>103.703358608</c:v>
                </c:pt>
                <c:pt idx="33">
                  <c:v>103.594972577</c:v>
                </c:pt>
                <c:pt idx="34">
                  <c:v>105.802594195</c:v>
                </c:pt>
                <c:pt idx="35">
                  <c:v>108.097101939</c:v>
                </c:pt>
                <c:pt idx="36">
                  <c:v>109.385274661</c:v>
                </c:pt>
                <c:pt idx="37">
                  <c:v>109.975919758</c:v>
                </c:pt>
                <c:pt idx="38">
                  <c:v>110.39044601</c:v>
                </c:pt>
                <c:pt idx="39">
                  <c:v>109.666163906</c:v>
                </c:pt>
                <c:pt idx="40">
                  <c:v>107.824182109</c:v>
                </c:pt>
                <c:pt idx="41">
                  <c:v>107.041096145</c:v>
                </c:pt>
                <c:pt idx="42">
                  <c:v>106.435541639</c:v>
                </c:pt>
                <c:pt idx="43">
                  <c:v>107.940230002</c:v>
                </c:pt>
                <c:pt idx="44">
                  <c:v>108.544209559</c:v>
                </c:pt>
                <c:pt idx="45">
                  <c:v>108.059463038</c:v>
                </c:pt>
                <c:pt idx="46">
                  <c:v>108.640540189</c:v>
                </c:pt>
                <c:pt idx="47">
                  <c:v>107.403623803</c:v>
                </c:pt>
                <c:pt idx="48">
                  <c:v>108.323166061</c:v>
                </c:pt>
                <c:pt idx="49">
                  <c:v>109.872558093</c:v>
                </c:pt>
                <c:pt idx="50">
                  <c:v>110.136608055</c:v>
                </c:pt>
                <c:pt idx="51">
                  <c:v>111.315437639</c:v>
                </c:pt>
                <c:pt idx="52">
                  <c:v>112.177873373</c:v>
                </c:pt>
                <c:pt idx="53">
                  <c:v>112.09305833</c:v>
                </c:pt>
                <c:pt idx="54">
                  <c:v>113.330179376</c:v>
                </c:pt>
                <c:pt idx="55">
                  <c:v>113.186563849</c:v>
                </c:pt>
                <c:pt idx="56">
                  <c:v>113.836754161</c:v>
                </c:pt>
                <c:pt idx="57">
                  <c:v>114.329856366</c:v>
                </c:pt>
                <c:pt idx="58">
                  <c:v>114.952350067</c:v>
                </c:pt>
                <c:pt idx="59">
                  <c:v>116.515887791</c:v>
                </c:pt>
                <c:pt idx="60">
                  <c:v>115.296797274</c:v>
                </c:pt>
                <c:pt idx="61">
                  <c:v>113.960217192</c:v>
                </c:pt>
                <c:pt idx="62">
                  <c:v>116.513806206</c:v>
                </c:pt>
                <c:pt idx="63">
                  <c:v>115.397215218</c:v>
                </c:pt>
                <c:pt idx="64">
                  <c:v>114.807201361</c:v>
                </c:pt>
                <c:pt idx="65">
                  <c:v>113.184948144</c:v>
                </c:pt>
                <c:pt idx="66">
                  <c:v>109.906974911</c:v>
                </c:pt>
                <c:pt idx="67">
                  <c:v>107.072675608</c:v>
                </c:pt>
                <c:pt idx="68">
                  <c:v>109.555829433</c:v>
                </c:pt>
                <c:pt idx="69">
                  <c:v>111.356129856</c:v>
                </c:pt>
                <c:pt idx="70">
                  <c:v>108.170532834</c:v>
                </c:pt>
                <c:pt idx="71">
                  <c:v>107.80502522</c:v>
                </c:pt>
                <c:pt idx="72">
                  <c:v>109.714022085</c:v>
                </c:pt>
                <c:pt idx="73">
                  <c:v>111.394744179</c:v>
                </c:pt>
                <c:pt idx="74">
                  <c:v>113.477278502</c:v>
                </c:pt>
                <c:pt idx="75">
                  <c:v>113.650208773</c:v>
                </c:pt>
                <c:pt idx="76">
                  <c:v>117.844724987</c:v>
                </c:pt>
                <c:pt idx="77">
                  <c:v>117.662479852</c:v>
                </c:pt>
                <c:pt idx="78">
                  <c:v>118.382005271</c:v>
                </c:pt>
                <c:pt idx="79">
                  <c:v>118.706657089</c:v>
                </c:pt>
                <c:pt idx="80">
                  <c:v>121.008298426</c:v>
                </c:pt>
                <c:pt idx="81">
                  <c:v>120.879848952</c:v>
                </c:pt>
                <c:pt idx="82">
                  <c:v>122.318770411</c:v>
                </c:pt>
                <c:pt idx="83">
                  <c:v>123.4084393</c:v>
                </c:pt>
                <c:pt idx="84">
                  <c:v>124.998972951</c:v>
                </c:pt>
                <c:pt idx="85">
                  <c:v>123.708271219</c:v>
                </c:pt>
                <c:pt idx="86">
                  <c:v>122.220622488</c:v>
                </c:pt>
                <c:pt idx="87">
                  <c:v>121.061734587</c:v>
                </c:pt>
                <c:pt idx="88">
                  <c:v>120.815324262</c:v>
                </c:pt>
                <c:pt idx="89">
                  <c:v>121.925170558</c:v>
                </c:pt>
                <c:pt idx="90">
                  <c:v>120.841306708</c:v>
                </c:pt>
                <c:pt idx="91">
                  <c:v>122.115502616</c:v>
                </c:pt>
                <c:pt idx="92">
                  <c:v>121.762542324</c:v>
                </c:pt>
                <c:pt idx="93">
                  <c:v>121.620427624</c:v>
                </c:pt>
                <c:pt idx="94">
                  <c:v>121.34189837</c:v>
                </c:pt>
                <c:pt idx="95">
                  <c:v>121.198072534</c:v>
                </c:pt>
                <c:pt idx="96">
                  <c:v>121.702661826</c:v>
                </c:pt>
                <c:pt idx="97">
                  <c:v>121.057314805</c:v>
                </c:pt>
                <c:pt idx="98">
                  <c:v>121.979036278</c:v>
                </c:pt>
                <c:pt idx="99">
                  <c:v>121.498161348</c:v>
                </c:pt>
                <c:pt idx="100">
                  <c:v>120.742085969</c:v>
                </c:pt>
                <c:pt idx="101">
                  <c:v>121.560355677</c:v>
                </c:pt>
                <c:pt idx="102">
                  <c:v>120.205534163</c:v>
                </c:pt>
                <c:pt idx="103">
                  <c:v>121.258354634</c:v>
                </c:pt>
                <c:pt idx="104">
                  <c:v>125.601139822</c:v>
                </c:pt>
                <c:pt idx="105">
                  <c:v>123.861224875</c:v>
                </c:pt>
                <c:pt idx="106">
                  <c:v>122.686300966</c:v>
                </c:pt>
                <c:pt idx="107">
                  <c:v>126.257419806</c:v>
                </c:pt>
                <c:pt idx="108">
                  <c:v>126.699579628</c:v>
                </c:pt>
                <c:pt idx="109">
                  <c:v>126.134298418</c:v>
                </c:pt>
                <c:pt idx="110">
                  <c:v>126.994110206</c:v>
                </c:pt>
                <c:pt idx="111">
                  <c:v>127.078912746</c:v>
                </c:pt>
                <c:pt idx="112">
                  <c:v>128.499276232</c:v>
                </c:pt>
                <c:pt idx="113">
                  <c:v>130.745277623</c:v>
                </c:pt>
                <c:pt idx="114">
                  <c:v>129.117301975</c:v>
                </c:pt>
                <c:pt idx="115">
                  <c:v>130.035673641</c:v>
                </c:pt>
                <c:pt idx="116">
                  <c:v>130.614535062</c:v>
                </c:pt>
                <c:pt idx="117">
                  <c:v>128.971229553</c:v>
                </c:pt>
                <c:pt idx="118">
                  <c:v>130.142943491</c:v>
                </c:pt>
                <c:pt idx="119">
                  <c:v>129.736875566</c:v>
                </c:pt>
                <c:pt idx="120">
                  <c:v>128.404700586</c:v>
                </c:pt>
                <c:pt idx="121">
                  <c:v>122.432058174</c:v>
                </c:pt>
                <c:pt idx="122">
                  <c:v>122.009869562</c:v>
                </c:pt>
                <c:pt idx="123">
                  <c:v>122.021248568</c:v>
                </c:pt>
                <c:pt idx="124">
                  <c:v>121.628316915</c:v>
                </c:pt>
                <c:pt idx="125">
                  <c:v>121.425296449</c:v>
                </c:pt>
                <c:pt idx="126">
                  <c:v>120.925197817</c:v>
                </c:pt>
                <c:pt idx="127">
                  <c:v>119.486626837</c:v>
                </c:pt>
                <c:pt idx="128">
                  <c:v>118.856857204</c:v>
                </c:pt>
                <c:pt idx="129">
                  <c:v>121.546296041</c:v>
                </c:pt>
                <c:pt idx="130">
                  <c:v>121.682369004</c:v>
                </c:pt>
                <c:pt idx="131">
                  <c:v>120.807597118</c:v>
                </c:pt>
                <c:pt idx="132">
                  <c:v>121.616987638</c:v>
                </c:pt>
                <c:pt idx="133">
                  <c:v>122.675050286</c:v>
                </c:pt>
                <c:pt idx="134">
                  <c:v>124.430595912</c:v>
                </c:pt>
                <c:pt idx="135">
                  <c:v>125.603817396</c:v>
                </c:pt>
                <c:pt idx="136">
                  <c:v>127.66228793</c:v>
                </c:pt>
                <c:pt idx="137">
                  <c:v>126.496138454</c:v>
                </c:pt>
                <c:pt idx="138">
                  <c:v>125.939433667</c:v>
                </c:pt>
                <c:pt idx="139">
                  <c:v>125.701821042</c:v>
                </c:pt>
                <c:pt idx="140">
                  <c:v>125.895345469</c:v>
                </c:pt>
                <c:pt idx="141">
                  <c:v>125.686234811</c:v>
                </c:pt>
                <c:pt idx="142">
                  <c:v>127.014717663</c:v>
                </c:pt>
                <c:pt idx="143">
                  <c:v>128.830255508</c:v>
                </c:pt>
                <c:pt idx="144">
                  <c:v>130.375479887</c:v>
                </c:pt>
                <c:pt idx="145">
                  <c:v>135.876613666</c:v>
                </c:pt>
                <c:pt idx="146">
                  <c:v>137.791477617</c:v>
                </c:pt>
                <c:pt idx="147">
                  <c:v>138.194524579</c:v>
                </c:pt>
                <c:pt idx="148">
                  <c:v>137.953719459</c:v>
                </c:pt>
                <c:pt idx="149">
                  <c:v>139.054136203</c:v>
                </c:pt>
                <c:pt idx="150">
                  <c:v>141.100898508</c:v>
                </c:pt>
                <c:pt idx="151">
                  <c:v>140.875403821</c:v>
                </c:pt>
                <c:pt idx="152">
                  <c:v>142.742423689</c:v>
                </c:pt>
                <c:pt idx="153">
                  <c:v>139.890970872</c:v>
                </c:pt>
                <c:pt idx="154">
                  <c:v>137.934104011</c:v>
                </c:pt>
                <c:pt idx="155">
                  <c:v>139.323973396</c:v>
                </c:pt>
                <c:pt idx="156">
                  <c:v>141.597791899</c:v>
                </c:pt>
                <c:pt idx="157">
                  <c:v>141.726616027</c:v>
                </c:pt>
                <c:pt idx="158">
                  <c:v>143.375530854</c:v>
                </c:pt>
                <c:pt idx="159">
                  <c:v>145.621538095</c:v>
                </c:pt>
                <c:pt idx="160">
                  <c:v>150.022891301</c:v>
                </c:pt>
                <c:pt idx="161">
                  <c:v>151.1262335</c:v>
                </c:pt>
                <c:pt idx="162">
                  <c:v>151.877083457</c:v>
                </c:pt>
                <c:pt idx="163">
                  <c:v>154.129473685</c:v>
                </c:pt>
                <c:pt idx="164">
                  <c:v>154.817830295</c:v>
                </c:pt>
                <c:pt idx="165">
                  <c:v>156.404848583</c:v>
                </c:pt>
                <c:pt idx="166">
                  <c:v>156.27479534</c:v>
                </c:pt>
                <c:pt idx="167">
                  <c:v>158.811929144</c:v>
                </c:pt>
                <c:pt idx="168">
                  <c:v>160.12329019</c:v>
                </c:pt>
                <c:pt idx="169">
                  <c:v>161.496027829</c:v>
                </c:pt>
                <c:pt idx="170">
                  <c:v>163.051796066</c:v>
                </c:pt>
                <c:pt idx="171">
                  <c:v>163.62037599</c:v>
                </c:pt>
                <c:pt idx="172">
                  <c:v>163.633404917</c:v>
                </c:pt>
                <c:pt idx="173">
                  <c:v>162.038721182</c:v>
                </c:pt>
                <c:pt idx="174">
                  <c:v>161.947548362</c:v>
                </c:pt>
                <c:pt idx="175">
                  <c:v>164.052971319</c:v>
                </c:pt>
                <c:pt idx="176">
                  <c:v>166.254491323</c:v>
                </c:pt>
                <c:pt idx="177">
                  <c:v>164.478322804</c:v>
                </c:pt>
                <c:pt idx="178">
                  <c:v>166.771752598</c:v>
                </c:pt>
                <c:pt idx="179">
                  <c:v>169.428387142</c:v>
                </c:pt>
                <c:pt idx="180">
                  <c:v>168.811820027</c:v>
                </c:pt>
                <c:pt idx="181">
                  <c:v>168.02239142</c:v>
                </c:pt>
                <c:pt idx="182">
                  <c:v>168.139953427</c:v>
                </c:pt>
                <c:pt idx="183">
                  <c:v>169.081839079</c:v>
                </c:pt>
                <c:pt idx="184">
                  <c:v>171.072164119</c:v>
                </c:pt>
                <c:pt idx="185">
                  <c:v>172.63392712</c:v>
                </c:pt>
                <c:pt idx="186">
                  <c:v>174.199164548</c:v>
                </c:pt>
                <c:pt idx="187">
                  <c:v>176.117608799</c:v>
                </c:pt>
                <c:pt idx="188">
                  <c:v>178.081175949</c:v>
                </c:pt>
                <c:pt idx="189">
                  <c:v>180.417499507</c:v>
                </c:pt>
                <c:pt idx="190">
                  <c:v>180.035896938</c:v>
                </c:pt>
                <c:pt idx="191">
                  <c:v>181.600047839</c:v>
                </c:pt>
                <c:pt idx="192">
                  <c:v>183.916264922</c:v>
                </c:pt>
                <c:pt idx="193">
                  <c:v>186.969701716</c:v>
                </c:pt>
                <c:pt idx="194">
                  <c:v>189.227760942</c:v>
                </c:pt>
                <c:pt idx="195">
                  <c:v>190.11198887</c:v>
                </c:pt>
                <c:pt idx="196">
                  <c:v>192.56116535</c:v>
                </c:pt>
                <c:pt idx="197">
                  <c:v>194.027383119</c:v>
                </c:pt>
                <c:pt idx="198">
                  <c:v>194.337996395</c:v>
                </c:pt>
              </c:numCache>
            </c:numRef>
          </c:yVal>
        </c:ser>
        <c:ser>
          <c:idx val="1"/>
          <c:order val="1"/>
          <c:tx>
            <c:v>Carry + previsão</c:v>
          </c:tx>
          <c:spPr>
            <a:ln xmlns:a="http://schemas.openxmlformats.org/drawingml/2006/main" w="28575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Data'!$C$2:$C$200</c:f>
              <c:numCache>
                <c:formatCode>General</c:formatCode>
                <c:ptCount val="199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  <c:pt idx="181">
                  <c:v>2025.16666667</c:v>
                </c:pt>
                <c:pt idx="182">
                  <c:v>2025.25</c:v>
                </c:pt>
                <c:pt idx="183">
                  <c:v>2025.33333333</c:v>
                </c:pt>
                <c:pt idx="184">
                  <c:v>2025.41666667</c:v>
                </c:pt>
                <c:pt idx="185">
                  <c:v>2025.5</c:v>
                </c:pt>
                <c:pt idx="186">
                  <c:v>2025.58333333</c:v>
                </c:pt>
                <c:pt idx="187">
                  <c:v>2025.66666667</c:v>
                </c:pt>
                <c:pt idx="188">
                  <c:v>2025.75</c:v>
                </c:pt>
                <c:pt idx="189">
                  <c:v>2025.83333333</c:v>
                </c:pt>
                <c:pt idx="190">
                  <c:v>2025.91666667</c:v>
                </c:pt>
                <c:pt idx="191">
                  <c:v>2026</c:v>
                </c:pt>
                <c:pt idx="192">
                  <c:v>2026.08333333</c:v>
                </c:pt>
                <c:pt idx="193">
                  <c:v>2026.16666667</c:v>
                </c:pt>
                <c:pt idx="194">
                  <c:v>2026.25</c:v>
                </c:pt>
                <c:pt idx="195">
                  <c:v>2026.33333333</c:v>
                </c:pt>
                <c:pt idx="196">
                  <c:v>2026.41666667</c:v>
                </c:pt>
                <c:pt idx="197">
                  <c:v>2026.5</c:v>
                </c:pt>
                <c:pt idx="198">
                  <c:v>2026.58333333</c:v>
                </c:pt>
              </c:numCache>
            </c:numRef>
          </c:xVal>
          <c:yVal>
            <c:numRef>
              <c:f>'Chart Data'!$D$2:$D$200</c:f>
              <c:numCache>
                <c:formatCode>0.00</c:formatCode>
                <c:ptCount val="199"/>
                <c:pt idx="0">
                  <c:v>100</c:v>
                </c:pt>
                <c:pt idx="1">
                  <c:v>98.87437276</c:v>
                </c:pt>
                <c:pt idx="2">
                  <c:v>99.086900169</c:v>
                </c:pt>
                <c:pt idx="3">
                  <c:v>97.9677705471</c:v>
                </c:pt>
                <c:pt idx="4">
                  <c:v>99.2593470681</c:v>
                </c:pt>
                <c:pt idx="5">
                  <c:v>100.814480997</c:v>
                </c:pt>
                <c:pt idx="6">
                  <c:v>99.984290209</c:v>
                </c:pt>
                <c:pt idx="7">
                  <c:v>102.284896292</c:v>
                </c:pt>
                <c:pt idx="8">
                  <c:v>101.131161796</c:v>
                </c:pt>
                <c:pt idx="9">
                  <c:v>101.377697067</c:v>
                </c:pt>
                <c:pt idx="10">
                  <c:v>101.056037769</c:v>
                </c:pt>
                <c:pt idx="11">
                  <c:v>102.868985552</c:v>
                </c:pt>
                <c:pt idx="12">
                  <c:v>103.383121995</c:v>
                </c:pt>
                <c:pt idx="13">
                  <c:v>103.951027908</c:v>
                </c:pt>
                <c:pt idx="14">
                  <c:v>104.761293863</c:v>
                </c:pt>
                <c:pt idx="15">
                  <c:v>106.112149607</c:v>
                </c:pt>
                <c:pt idx="16">
                  <c:v>105.551926959</c:v>
                </c:pt>
                <c:pt idx="17">
                  <c:v>106.034908405</c:v>
                </c:pt>
                <c:pt idx="18">
                  <c:v>106.221403196</c:v>
                </c:pt>
                <c:pt idx="19">
                  <c:v>103.364603827</c:v>
                </c:pt>
                <c:pt idx="20">
                  <c:v>106.0133427</c:v>
                </c:pt>
                <c:pt idx="21">
                  <c:v>104.258752779</c:v>
                </c:pt>
                <c:pt idx="22">
                  <c:v>103.437060502</c:v>
                </c:pt>
                <c:pt idx="23">
                  <c:v>105.068171921</c:v>
                </c:pt>
                <c:pt idx="24">
                  <c:v>107.121493474</c:v>
                </c:pt>
                <c:pt idx="25">
                  <c:v>106.494431535</c:v>
                </c:pt>
                <c:pt idx="26">
                  <c:v>105.131808032</c:v>
                </c:pt>
                <c:pt idx="27">
                  <c:v>103.17151544</c:v>
                </c:pt>
                <c:pt idx="28">
                  <c:v>103.098982006</c:v>
                </c:pt>
                <c:pt idx="29">
                  <c:v>102.440164706</c:v>
                </c:pt>
                <c:pt idx="30">
                  <c:v>102.654062024</c:v>
                </c:pt>
                <c:pt idx="31">
                  <c:v>103.043442965</c:v>
                </c:pt>
                <c:pt idx="32">
                  <c:v>104.242321213</c:v>
                </c:pt>
                <c:pt idx="33">
                  <c:v>103.939477286</c:v>
                </c:pt>
                <c:pt idx="34">
                  <c:v>106.16561237</c:v>
                </c:pt>
                <c:pt idx="35">
                  <c:v>106.021178195</c:v>
                </c:pt>
                <c:pt idx="36">
                  <c:v>106.768359491</c:v>
                </c:pt>
                <c:pt idx="37">
                  <c:v>106.414163508</c:v>
                </c:pt>
                <c:pt idx="38">
                  <c:v>105.447402953</c:v>
                </c:pt>
                <c:pt idx="39">
                  <c:v>105.033945342</c:v>
                </c:pt>
                <c:pt idx="40">
                  <c:v>105.651037332</c:v>
                </c:pt>
                <c:pt idx="41">
                  <c:v>104.272639627</c:v>
                </c:pt>
                <c:pt idx="42">
                  <c:v>104.248981155</c:v>
                </c:pt>
                <c:pt idx="43">
                  <c:v>104.635757521</c:v>
                </c:pt>
                <c:pt idx="44">
                  <c:v>105.380918818</c:v>
                </c:pt>
                <c:pt idx="45">
                  <c:v>103.461569091</c:v>
                </c:pt>
                <c:pt idx="46">
                  <c:v>102.333903428</c:v>
                </c:pt>
                <c:pt idx="47">
                  <c:v>104.268665558</c:v>
                </c:pt>
                <c:pt idx="48">
                  <c:v>104.575136691</c:v>
                </c:pt>
                <c:pt idx="49">
                  <c:v>105.432902684</c:v>
                </c:pt>
                <c:pt idx="50">
                  <c:v>106.082981929</c:v>
                </c:pt>
                <c:pt idx="51">
                  <c:v>107.821052284</c:v>
                </c:pt>
                <c:pt idx="52">
                  <c:v>108.576390143</c:v>
                </c:pt>
                <c:pt idx="53">
                  <c:v>108.817245095</c:v>
                </c:pt>
                <c:pt idx="54">
                  <c:v>109.081497785</c:v>
                </c:pt>
                <c:pt idx="55">
                  <c:v>107.448708473</c:v>
                </c:pt>
                <c:pt idx="56">
                  <c:v>107.458013037</c:v>
                </c:pt>
                <c:pt idx="57">
                  <c:v>105.561009687</c:v>
                </c:pt>
                <c:pt idx="58">
                  <c:v>105.596225579</c:v>
                </c:pt>
                <c:pt idx="59">
                  <c:v>110.214809144</c:v>
                </c:pt>
                <c:pt idx="60">
                  <c:v>107.52142163</c:v>
                </c:pt>
                <c:pt idx="61">
                  <c:v>106.974868223</c:v>
                </c:pt>
                <c:pt idx="62">
                  <c:v>107.771189399</c:v>
                </c:pt>
                <c:pt idx="63">
                  <c:v>106.524877616</c:v>
                </c:pt>
                <c:pt idx="64">
                  <c:v>106.499361818</c:v>
                </c:pt>
                <c:pt idx="65">
                  <c:v>105.836819959</c:v>
                </c:pt>
                <c:pt idx="66">
                  <c:v>105.550662673</c:v>
                </c:pt>
                <c:pt idx="67">
                  <c:v>104.017824886</c:v>
                </c:pt>
                <c:pt idx="68">
                  <c:v>105.170925135</c:v>
                </c:pt>
                <c:pt idx="69">
                  <c:v>106.735896382</c:v>
                </c:pt>
                <c:pt idx="70">
                  <c:v>106.387524495</c:v>
                </c:pt>
                <c:pt idx="71">
                  <c:v>107.191511646</c:v>
                </c:pt>
                <c:pt idx="72">
                  <c:v>110.762212564</c:v>
                </c:pt>
                <c:pt idx="73">
                  <c:v>111.801734504</c:v>
                </c:pt>
                <c:pt idx="74">
                  <c:v>113.517718797</c:v>
                </c:pt>
                <c:pt idx="75">
                  <c:v>113.888678912</c:v>
                </c:pt>
                <c:pt idx="76">
                  <c:v>119.509171555</c:v>
                </c:pt>
                <c:pt idx="77">
                  <c:v>119.694139234</c:v>
                </c:pt>
                <c:pt idx="78">
                  <c:v>120.160722585</c:v>
                </c:pt>
                <c:pt idx="79">
                  <c:v>119.385663695</c:v>
                </c:pt>
                <c:pt idx="80">
                  <c:v>119.550569667</c:v>
                </c:pt>
                <c:pt idx="81">
                  <c:v>121.807984327</c:v>
                </c:pt>
                <c:pt idx="82">
                  <c:v>124.364295044</c:v>
                </c:pt>
                <c:pt idx="83">
                  <c:v>124.993967177</c:v>
                </c:pt>
                <c:pt idx="84">
                  <c:v>126.167886618</c:v>
                </c:pt>
                <c:pt idx="85">
                  <c:v>126.112242278</c:v>
                </c:pt>
                <c:pt idx="86">
                  <c:v>127.447888574</c:v>
                </c:pt>
                <c:pt idx="87">
                  <c:v>125.547661469</c:v>
                </c:pt>
                <c:pt idx="88">
                  <c:v>124.041418793</c:v>
                </c:pt>
                <c:pt idx="89">
                  <c:v>124.24546225</c:v>
                </c:pt>
                <c:pt idx="90">
                  <c:v>123.870384296</c:v>
                </c:pt>
                <c:pt idx="91">
                  <c:v>124.734486148</c:v>
                </c:pt>
                <c:pt idx="92">
                  <c:v>125.438804588</c:v>
                </c:pt>
                <c:pt idx="93">
                  <c:v>125.477279605</c:v>
                </c:pt>
                <c:pt idx="94">
                  <c:v>123.953302922</c:v>
                </c:pt>
                <c:pt idx="95">
                  <c:v>124.917229972</c:v>
                </c:pt>
                <c:pt idx="96">
                  <c:v>126.758306027</c:v>
                </c:pt>
                <c:pt idx="97">
                  <c:v>126.509504722</c:v>
                </c:pt>
                <c:pt idx="98">
                  <c:v>126.506133282</c:v>
                </c:pt>
                <c:pt idx="99">
                  <c:v>126.649376683</c:v>
                </c:pt>
                <c:pt idx="100">
                  <c:v>126.279323681</c:v>
                </c:pt>
                <c:pt idx="101">
                  <c:v>127.657909792</c:v>
                </c:pt>
                <c:pt idx="102">
                  <c:v>123.519004355</c:v>
                </c:pt>
                <c:pt idx="103">
                  <c:v>124.391003899</c:v>
                </c:pt>
                <c:pt idx="104">
                  <c:v>127.5925989</c:v>
                </c:pt>
                <c:pt idx="105">
                  <c:v>126.854289557</c:v>
                </c:pt>
                <c:pt idx="106">
                  <c:v>127.623139973</c:v>
                </c:pt>
                <c:pt idx="107">
                  <c:v>129.467976733</c:v>
                </c:pt>
                <c:pt idx="108">
                  <c:v>130.459677406</c:v>
                </c:pt>
                <c:pt idx="109">
                  <c:v>129.732741641</c:v>
                </c:pt>
                <c:pt idx="110">
                  <c:v>129.376372507</c:v>
                </c:pt>
                <c:pt idx="111">
                  <c:v>129.502994133</c:v>
                </c:pt>
                <c:pt idx="112">
                  <c:v>130.327914971</c:v>
                </c:pt>
                <c:pt idx="113">
                  <c:v>131.013833498</c:v>
                </c:pt>
                <c:pt idx="114">
                  <c:v>128.197793928</c:v>
                </c:pt>
                <c:pt idx="115">
                  <c:v>129.133281523</c:v>
                </c:pt>
                <c:pt idx="116">
                  <c:v>130.704914113</c:v>
                </c:pt>
                <c:pt idx="117">
                  <c:v>130.215128346</c:v>
                </c:pt>
                <c:pt idx="118">
                  <c:v>131.550482221</c:v>
                </c:pt>
                <c:pt idx="119">
                  <c:v>129.76751522</c:v>
                </c:pt>
                <c:pt idx="120">
                  <c:v>128.929090432</c:v>
                </c:pt>
                <c:pt idx="121">
                  <c:v>125.400867509</c:v>
                </c:pt>
                <c:pt idx="122">
                  <c:v>124.994342738</c:v>
                </c:pt>
                <c:pt idx="123">
                  <c:v>125.964102784</c:v>
                </c:pt>
                <c:pt idx="124">
                  <c:v>125.329680285</c:v>
                </c:pt>
                <c:pt idx="125">
                  <c:v>127.207042219</c:v>
                </c:pt>
                <c:pt idx="126">
                  <c:v>124.884710361</c:v>
                </c:pt>
                <c:pt idx="127">
                  <c:v>123.530480668</c:v>
                </c:pt>
                <c:pt idx="128">
                  <c:v>123.355753276</c:v>
                </c:pt>
                <c:pt idx="129">
                  <c:v>125.93569488</c:v>
                </c:pt>
                <c:pt idx="130">
                  <c:v>126.572708403</c:v>
                </c:pt>
                <c:pt idx="131">
                  <c:v>124.817538262</c:v>
                </c:pt>
                <c:pt idx="132">
                  <c:v>123.994745793</c:v>
                </c:pt>
                <c:pt idx="133">
                  <c:v>122.333027356</c:v>
                </c:pt>
                <c:pt idx="134">
                  <c:v>123.471123707</c:v>
                </c:pt>
                <c:pt idx="135">
                  <c:v>123.15664236</c:v>
                </c:pt>
                <c:pt idx="136">
                  <c:v>126.217169901</c:v>
                </c:pt>
                <c:pt idx="137">
                  <c:v>125.847034125</c:v>
                </c:pt>
                <c:pt idx="138">
                  <c:v>125.931435313</c:v>
                </c:pt>
                <c:pt idx="139">
                  <c:v>125.201938712</c:v>
                </c:pt>
                <c:pt idx="140">
                  <c:v>122.371402078</c:v>
                </c:pt>
                <c:pt idx="141">
                  <c:v>124.769137051</c:v>
                </c:pt>
                <c:pt idx="142">
                  <c:v>124.492284655</c:v>
                </c:pt>
                <c:pt idx="143">
                  <c:v>126.325393709</c:v>
                </c:pt>
                <c:pt idx="144">
                  <c:v>127.709085127</c:v>
                </c:pt>
                <c:pt idx="145">
                  <c:v>128.662376004</c:v>
                </c:pt>
                <c:pt idx="146">
                  <c:v>128.3141106</c:v>
                </c:pt>
                <c:pt idx="147">
                  <c:v>129.30065201</c:v>
                </c:pt>
                <c:pt idx="148">
                  <c:v>126.491879315</c:v>
                </c:pt>
                <c:pt idx="149">
                  <c:v>128.210808302</c:v>
                </c:pt>
                <c:pt idx="150">
                  <c:v>128.978494222</c:v>
                </c:pt>
                <c:pt idx="151">
                  <c:v>128.983022799</c:v>
                </c:pt>
                <c:pt idx="152">
                  <c:v>128.40719917</c:v>
                </c:pt>
                <c:pt idx="153">
                  <c:v>129.335055582</c:v>
                </c:pt>
                <c:pt idx="154">
                  <c:v>130.964961923</c:v>
                </c:pt>
                <c:pt idx="155">
                  <c:v>132.361905216</c:v>
                </c:pt>
                <c:pt idx="156">
                  <c:v>133.522488166</c:v>
                </c:pt>
                <c:pt idx="157">
                  <c:v>134.474988901</c:v>
                </c:pt>
                <c:pt idx="158">
                  <c:v>134.826981179</c:v>
                </c:pt>
                <c:pt idx="159">
                  <c:v>134.22586835</c:v>
                </c:pt>
                <c:pt idx="160">
                  <c:v>133.730411905</c:v>
                </c:pt>
                <c:pt idx="161">
                  <c:v>135.961798001</c:v>
                </c:pt>
                <c:pt idx="162">
                  <c:v>135.949192017</c:v>
                </c:pt>
                <c:pt idx="163">
                  <c:v>135.558785254</c:v>
                </c:pt>
                <c:pt idx="164">
                  <c:v>136.438286966</c:v>
                </c:pt>
                <c:pt idx="165">
                  <c:v>137.121877411</c:v>
                </c:pt>
                <c:pt idx="166">
                  <c:v>138.545260707</c:v>
                </c:pt>
                <c:pt idx="167">
                  <c:v>138.088093808</c:v>
                </c:pt>
                <c:pt idx="168">
                  <c:v>138.415413766</c:v>
                </c:pt>
                <c:pt idx="169">
                  <c:v>138.754459221</c:v>
                </c:pt>
                <c:pt idx="170">
                  <c:v>137.824584946</c:v>
                </c:pt>
                <c:pt idx="171">
                  <c:v>137.364425718</c:v>
                </c:pt>
                <c:pt idx="172">
                  <c:v>135.934432952</c:v>
                </c:pt>
                <c:pt idx="173">
                  <c:v>138.080385286</c:v>
                </c:pt>
                <c:pt idx="174">
                  <c:v>138.236548941</c:v>
                </c:pt>
                <c:pt idx="175">
                  <c:v>140.577719664</c:v>
                </c:pt>
                <c:pt idx="176">
                  <c:v>138.687276037</c:v>
                </c:pt>
                <c:pt idx="177">
                  <c:v>139.252807342</c:v>
                </c:pt>
                <c:pt idx="178">
                  <c:v>139.342364109</c:v>
                </c:pt>
                <c:pt idx="179">
                  <c:v>142.69959881</c:v>
                </c:pt>
                <c:pt idx="180">
                  <c:v>144.247254244</c:v>
                </c:pt>
                <c:pt idx="181">
                  <c:v>144.039743967</c:v>
                </c:pt>
                <c:pt idx="182">
                  <c:v>144.216180914</c:v>
                </c:pt>
                <c:pt idx="183">
                  <c:v>144.419831107</c:v>
                </c:pt>
                <c:pt idx="184">
                  <c:v>144.704246136</c:v>
                </c:pt>
                <c:pt idx="185">
                  <c:v>144.844083804</c:v>
                </c:pt>
                <c:pt idx="186">
                  <c:v>145.993023578</c:v>
                </c:pt>
                <c:pt idx="187">
                  <c:v>147.537093681</c:v>
                </c:pt>
                <c:pt idx="188">
                  <c:v>147.850207937</c:v>
                </c:pt>
                <c:pt idx="189">
                  <c:v>148.354492927</c:v>
                </c:pt>
                <c:pt idx="190">
                  <c:v>146.563211719</c:v>
                </c:pt>
                <c:pt idx="191">
                  <c:v>148.757521624</c:v>
                </c:pt>
                <c:pt idx="192">
                  <c:v>150.266557136</c:v>
                </c:pt>
                <c:pt idx="193">
                  <c:v>152.573023255</c:v>
                </c:pt>
                <c:pt idx="194">
                  <c:v>154.262023985</c:v>
                </c:pt>
                <c:pt idx="195">
                  <c:v>154.418015456</c:v>
                </c:pt>
                <c:pt idx="196">
                  <c:v>155.414705904</c:v>
                </c:pt>
                <c:pt idx="197">
                  <c:v>156.779760558</c:v>
                </c:pt>
                <c:pt idx="198">
                  <c:v>155.940120577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Data'!$E$2:$E$200</c:f>
              <c:numCache>
                <c:formatCode>General</c:formatCode>
                <c:ptCount val="199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  <c:pt idx="181">
                  <c:v>2025.16666667</c:v>
                </c:pt>
                <c:pt idx="182">
                  <c:v>2025.25</c:v>
                </c:pt>
                <c:pt idx="183">
                  <c:v>2025.33333333</c:v>
                </c:pt>
                <c:pt idx="184">
                  <c:v>2025.41666667</c:v>
                </c:pt>
                <c:pt idx="185">
                  <c:v>2025.5</c:v>
                </c:pt>
                <c:pt idx="186">
                  <c:v>2025.58333333</c:v>
                </c:pt>
                <c:pt idx="187">
                  <c:v>2025.66666667</c:v>
                </c:pt>
                <c:pt idx="188">
                  <c:v>2025.75</c:v>
                </c:pt>
                <c:pt idx="189">
                  <c:v>2025.83333333</c:v>
                </c:pt>
                <c:pt idx="190">
                  <c:v>2025.91666667</c:v>
                </c:pt>
                <c:pt idx="191">
                  <c:v>2026</c:v>
                </c:pt>
                <c:pt idx="192">
                  <c:v>2026.08333333</c:v>
                </c:pt>
                <c:pt idx="193">
                  <c:v>2026.16666667</c:v>
                </c:pt>
                <c:pt idx="194">
                  <c:v>2026.25</c:v>
                </c:pt>
                <c:pt idx="195">
                  <c:v>2026.33333333</c:v>
                </c:pt>
                <c:pt idx="196">
                  <c:v>2026.41666667</c:v>
                </c:pt>
                <c:pt idx="197">
                  <c:v>2026.5</c:v>
                </c:pt>
                <c:pt idx="198">
                  <c:v>2026.58333333</c:v>
                </c:pt>
              </c:numCache>
            </c:numRef>
          </c:xVal>
          <c:yVal>
            <c:numRef>
              <c:f>'Chart Data'!$F$2:$F$200</c:f>
              <c:numCache>
                <c:formatCode>0.00</c:formatCode>
                <c:ptCount val="199"/>
                <c:pt idx="0">
                  <c:v>100</c:v>
                </c:pt>
                <c:pt idx="1">
                  <c:v>100.0104107</c:v>
                </c:pt>
                <c:pt idx="2">
                  <c:v>100.020822484</c:v>
                </c:pt>
                <c:pt idx="3">
                  <c:v>100.031235352</c:v>
                </c:pt>
                <c:pt idx="4">
                  <c:v>100.041649303</c:v>
                </c:pt>
                <c:pt idx="5">
                  <c:v>100.052064339</c:v>
                </c:pt>
                <c:pt idx="6">
                  <c:v>100.06248046</c:v>
                </c:pt>
                <c:pt idx="7">
                  <c:v>100.072897664</c:v>
                </c:pt>
                <c:pt idx="8">
                  <c:v>100.083315953</c:v>
                </c:pt>
                <c:pt idx="9">
                  <c:v>100.093735327</c:v>
                </c:pt>
                <c:pt idx="10">
                  <c:v>100.104155786</c:v>
                </c:pt>
                <c:pt idx="11">
                  <c:v>100.114577329</c:v>
                </c:pt>
                <c:pt idx="12">
                  <c:v>100.124999957</c:v>
                </c:pt>
                <c:pt idx="13">
                  <c:v>100.135423671</c:v>
                </c:pt>
                <c:pt idx="14">
                  <c:v>100.145848469</c:v>
                </c:pt>
                <c:pt idx="15">
                  <c:v>100.156274353</c:v>
                </c:pt>
                <c:pt idx="16">
                  <c:v>100.166701322</c:v>
                </c:pt>
                <c:pt idx="17">
                  <c:v>100.177129377</c:v>
                </c:pt>
                <c:pt idx="18">
                  <c:v>100.187558518</c:v>
                </c:pt>
                <c:pt idx="19">
                  <c:v>100.197988744</c:v>
                </c:pt>
                <c:pt idx="20">
                  <c:v>100.208420056</c:v>
                </c:pt>
                <c:pt idx="21">
                  <c:v>100.218852454</c:v>
                </c:pt>
                <c:pt idx="22">
                  <c:v>100.229285938</c:v>
                </c:pt>
                <c:pt idx="23">
                  <c:v>100.239720508</c:v>
                </c:pt>
                <c:pt idx="24">
                  <c:v>100.250156165</c:v>
                </c:pt>
                <c:pt idx="25">
                  <c:v>100.260592908</c:v>
                </c:pt>
                <c:pt idx="26">
                  <c:v>100.271030737</c:v>
                </c:pt>
                <c:pt idx="27">
                  <c:v>100.281469653</c:v>
                </c:pt>
                <c:pt idx="28">
                  <c:v>100.291909656</c:v>
                </c:pt>
                <c:pt idx="29">
                  <c:v>100.302350746</c:v>
                </c:pt>
                <c:pt idx="30">
                  <c:v>100.312792923</c:v>
                </c:pt>
                <c:pt idx="31">
                  <c:v>100.323236187</c:v>
                </c:pt>
                <c:pt idx="32">
                  <c:v>100.333680538</c:v>
                </c:pt>
                <c:pt idx="33">
                  <c:v>100.344125977</c:v>
                </c:pt>
                <c:pt idx="34">
                  <c:v>100.354572503</c:v>
                </c:pt>
                <c:pt idx="35">
                  <c:v>100.365020116</c:v>
                </c:pt>
                <c:pt idx="36">
                  <c:v>100.375468817</c:v>
                </c:pt>
                <c:pt idx="37">
                  <c:v>100.385918606</c:v>
                </c:pt>
                <c:pt idx="38">
                  <c:v>100.396369483</c:v>
                </c:pt>
                <c:pt idx="39">
                  <c:v>100.406821448</c:v>
                </c:pt>
                <c:pt idx="40">
                  <c:v>100.417274501</c:v>
                </c:pt>
                <c:pt idx="41">
                  <c:v>100.427728642</c:v>
                </c:pt>
                <c:pt idx="42">
                  <c:v>100.438183871</c:v>
                </c:pt>
                <c:pt idx="43">
                  <c:v>100.448640189</c:v>
                </c:pt>
                <c:pt idx="44">
                  <c:v>100.459097596</c:v>
                </c:pt>
                <c:pt idx="45">
                  <c:v>100.469556091</c:v>
                </c:pt>
                <c:pt idx="46">
                  <c:v>100.480015675</c:v>
                </c:pt>
                <c:pt idx="47">
                  <c:v>100.490476348</c:v>
                </c:pt>
                <c:pt idx="48">
                  <c:v>100.50093811</c:v>
                </c:pt>
                <c:pt idx="49">
                  <c:v>100.511400962</c:v>
                </c:pt>
                <c:pt idx="50">
                  <c:v>100.521864902</c:v>
                </c:pt>
                <c:pt idx="51">
                  <c:v>100.532329932</c:v>
                </c:pt>
                <c:pt idx="52">
                  <c:v>100.542796051</c:v>
                </c:pt>
                <c:pt idx="53">
                  <c:v>100.55326326</c:v>
                </c:pt>
                <c:pt idx="54">
                  <c:v>100.563731559</c:v>
                </c:pt>
                <c:pt idx="55">
                  <c:v>100.574200947</c:v>
                </c:pt>
                <c:pt idx="56">
                  <c:v>100.584671425</c:v>
                </c:pt>
                <c:pt idx="57">
                  <c:v>100.595142994</c:v>
                </c:pt>
                <c:pt idx="58">
                  <c:v>100.605615652</c:v>
                </c:pt>
                <c:pt idx="59">
                  <c:v>100.616089401</c:v>
                </c:pt>
                <c:pt idx="60">
                  <c:v>100.62656424</c:v>
                </c:pt>
                <c:pt idx="61">
                  <c:v>100.63704017</c:v>
                </c:pt>
                <c:pt idx="62">
                  <c:v>100.64751719</c:v>
                </c:pt>
                <c:pt idx="63">
                  <c:v>100.657995301</c:v>
                </c:pt>
                <c:pt idx="64">
                  <c:v>100.668474503</c:v>
                </c:pt>
                <c:pt idx="65">
                  <c:v>100.678954796</c:v>
                </c:pt>
                <c:pt idx="66">
                  <c:v>100.68943618</c:v>
                </c:pt>
                <c:pt idx="67">
                  <c:v>100.699918655</c:v>
                </c:pt>
                <c:pt idx="68">
                  <c:v>100.710402222</c:v>
                </c:pt>
                <c:pt idx="69">
                  <c:v>100.72088688</c:v>
                </c:pt>
                <c:pt idx="70">
                  <c:v>100.731372629</c:v>
                </c:pt>
                <c:pt idx="71">
                  <c:v>100.762797211</c:v>
                </c:pt>
                <c:pt idx="72">
                  <c:v>100.794231596</c:v>
                </c:pt>
                <c:pt idx="73">
                  <c:v>100.825675788</c:v>
                </c:pt>
                <c:pt idx="74">
                  <c:v>100.85712979</c:v>
                </c:pt>
                <c:pt idx="75">
                  <c:v>100.888593603</c:v>
                </c:pt>
                <c:pt idx="76">
                  <c:v>100.920067233</c:v>
                </c:pt>
                <c:pt idx="77">
                  <c:v>100.951550681</c:v>
                </c:pt>
                <c:pt idx="78">
                  <c:v>100.983043951</c:v>
                </c:pt>
                <c:pt idx="79">
                  <c:v>101.014547045</c:v>
                </c:pt>
                <c:pt idx="80">
                  <c:v>101.046059967</c:v>
                </c:pt>
                <c:pt idx="81">
                  <c:v>101.077582721</c:v>
                </c:pt>
                <c:pt idx="82">
                  <c:v>101.109115308</c:v>
                </c:pt>
                <c:pt idx="83">
                  <c:v>101.161626054</c:v>
                </c:pt>
                <c:pt idx="84">
                  <c:v>101.214164071</c:v>
                </c:pt>
                <c:pt idx="85">
                  <c:v>101.266729374</c:v>
                </c:pt>
                <c:pt idx="86">
                  <c:v>101.340275207</c:v>
                </c:pt>
                <c:pt idx="87">
                  <c:v>101.413874454</c:v>
                </c:pt>
                <c:pt idx="88">
                  <c:v>101.487527152</c:v>
                </c:pt>
                <c:pt idx="89">
                  <c:v>101.582184619</c:v>
                </c:pt>
                <c:pt idx="90">
                  <c:v>101.676930374</c:v>
                </c:pt>
                <c:pt idx="91">
                  <c:v>101.771764498</c:v>
                </c:pt>
                <c:pt idx="92">
                  <c:v>101.866687073</c:v>
                </c:pt>
                <c:pt idx="93">
                  <c:v>101.961698183</c:v>
                </c:pt>
                <c:pt idx="94">
                  <c:v>102.05679791</c:v>
                </c:pt>
                <c:pt idx="95">
                  <c:v>102.173007434</c:v>
                </c:pt>
                <c:pt idx="96">
                  <c:v>102.289349284</c:v>
                </c:pt>
                <c:pt idx="97">
                  <c:v>102.405823608</c:v>
                </c:pt>
                <c:pt idx="98">
                  <c:v>102.543475919</c:v>
                </c:pt>
                <c:pt idx="99">
                  <c:v>102.68131326</c:v>
                </c:pt>
                <c:pt idx="100">
                  <c:v>102.819335879</c:v>
                </c:pt>
                <c:pt idx="101">
                  <c:v>102.978626782</c:v>
                </c:pt>
                <c:pt idx="102">
                  <c:v>103.138164463</c:v>
                </c:pt>
                <c:pt idx="103">
                  <c:v>103.297949304</c:v>
                </c:pt>
                <c:pt idx="104">
                  <c:v>103.479114973</c:v>
                </c:pt>
                <c:pt idx="105">
                  <c:v>103.660598373</c:v>
                </c:pt>
                <c:pt idx="106">
                  <c:v>103.842400061</c:v>
                </c:pt>
                <c:pt idx="107">
                  <c:v>104.045717665</c:v>
                </c:pt>
                <c:pt idx="108">
                  <c:v>104.249433354</c:v>
                </c:pt>
                <c:pt idx="109">
                  <c:v>104.453547907</c:v>
                </c:pt>
                <c:pt idx="110">
                  <c:v>104.658062104</c:v>
                </c:pt>
                <c:pt idx="111">
                  <c:v>104.862976729</c:v>
                </c:pt>
                <c:pt idx="112">
                  <c:v>105.068292565</c:v>
                </c:pt>
                <c:pt idx="113">
                  <c:v>105.274010398</c:v>
                </c:pt>
                <c:pt idx="114">
                  <c:v>105.480131015</c:v>
                </c:pt>
                <c:pt idx="115">
                  <c:v>105.66512383</c:v>
                </c:pt>
                <c:pt idx="116">
                  <c:v>105.828823516</c:v>
                </c:pt>
                <c:pt idx="117">
                  <c:v>105.971076969</c:v>
                </c:pt>
                <c:pt idx="118">
                  <c:v>106.113521638</c:v>
                </c:pt>
                <c:pt idx="119">
                  <c:v>106.256157778</c:v>
                </c:pt>
                <c:pt idx="120">
                  <c:v>106.398985648</c:v>
                </c:pt>
                <c:pt idx="121">
                  <c:v>106.542005505</c:v>
                </c:pt>
                <c:pt idx="122">
                  <c:v>106.553097273</c:v>
                </c:pt>
                <c:pt idx="123">
                  <c:v>106.564190197</c:v>
                </c:pt>
                <c:pt idx="124">
                  <c:v>106.575284275</c:v>
                </c:pt>
                <c:pt idx="125">
                  <c:v>106.586379508</c:v>
                </c:pt>
                <c:pt idx="126">
                  <c:v>106.597475896</c:v>
                </c:pt>
                <c:pt idx="127">
                  <c:v>106.608573439</c:v>
                </c:pt>
                <c:pt idx="128">
                  <c:v>106.619672138</c:v>
                </c:pt>
                <c:pt idx="129">
                  <c:v>106.630771992</c:v>
                </c:pt>
                <c:pt idx="130">
                  <c:v>106.641873002</c:v>
                </c:pt>
                <c:pt idx="131">
                  <c:v>106.652975168</c:v>
                </c:pt>
                <c:pt idx="132">
                  <c:v>106.664078489</c:v>
                </c:pt>
                <c:pt idx="133">
                  <c:v>106.675182966</c:v>
                </c:pt>
                <c:pt idx="134">
                  <c:v>106.686288599</c:v>
                </c:pt>
                <c:pt idx="135">
                  <c:v>106.697395389</c:v>
                </c:pt>
                <c:pt idx="136">
                  <c:v>106.708503335</c:v>
                </c:pt>
                <c:pt idx="137">
                  <c:v>106.719612437</c:v>
                </c:pt>
                <c:pt idx="138">
                  <c:v>106.730722695</c:v>
                </c:pt>
                <c:pt idx="139">
                  <c:v>106.741834111</c:v>
                </c:pt>
                <c:pt idx="140">
                  <c:v>106.752946683</c:v>
                </c:pt>
                <c:pt idx="141">
                  <c:v>106.764060412</c:v>
                </c:pt>
                <c:pt idx="142">
                  <c:v>106.775175298</c:v>
                </c:pt>
                <c:pt idx="143">
                  <c:v>106.786291341</c:v>
                </c:pt>
                <c:pt idx="144">
                  <c:v>106.797408542</c:v>
                </c:pt>
                <c:pt idx="145">
                  <c:v>106.808526899</c:v>
                </c:pt>
                <c:pt idx="146">
                  <c:v>106.841847336</c:v>
                </c:pt>
                <c:pt idx="147">
                  <c:v>106.875178167</c:v>
                </c:pt>
                <c:pt idx="148">
                  <c:v>106.952797185</c:v>
                </c:pt>
                <c:pt idx="149">
                  <c:v>107.096561466</c:v>
                </c:pt>
                <c:pt idx="150">
                  <c:v>107.306250536</c:v>
                </c:pt>
                <c:pt idx="151">
                  <c:v>107.516350166</c:v>
                </c:pt>
                <c:pt idx="152">
                  <c:v>107.792408662</c:v>
                </c:pt>
                <c:pt idx="153">
                  <c:v>108.069175966</c:v>
                </c:pt>
                <c:pt idx="154">
                  <c:v>108.412100664</c:v>
                </c:pt>
                <c:pt idx="155">
                  <c:v>108.799642181</c:v>
                </c:pt>
                <c:pt idx="156">
                  <c:v>109.188569045</c:v>
                </c:pt>
                <c:pt idx="157">
                  <c:v>109.600734263</c:v>
                </c:pt>
                <c:pt idx="158">
                  <c:v>110.036337877</c:v>
                </c:pt>
                <c:pt idx="159">
                  <c:v>110.473672779</c:v>
                </c:pt>
                <c:pt idx="160">
                  <c:v>110.934754538</c:v>
                </c:pt>
                <c:pt idx="161">
                  <c:v>111.397760704</c:v>
                </c:pt>
                <c:pt idx="162">
                  <c:v>111.88484377</c:v>
                </c:pt>
                <c:pt idx="163">
                  <c:v>112.374056591</c:v>
                </c:pt>
                <c:pt idx="164">
                  <c:v>112.865408479</c:v>
                </c:pt>
                <c:pt idx="165">
                  <c:v>113.358908787</c:v>
                </c:pt>
                <c:pt idx="166">
                  <c:v>113.854566909</c:v>
                </c:pt>
                <c:pt idx="167">
                  <c:v>114.352392279</c:v>
                </c:pt>
                <c:pt idx="168">
                  <c:v>114.852394375</c:v>
                </c:pt>
                <c:pt idx="169">
                  <c:v>115.354582714</c:v>
                </c:pt>
                <c:pt idx="170">
                  <c:v>115.858966855</c:v>
                </c:pt>
                <c:pt idx="171">
                  <c:v>116.365556399</c:v>
                </c:pt>
                <c:pt idx="172">
                  <c:v>116.874360989</c:v>
                </c:pt>
                <c:pt idx="173">
                  <c:v>117.385390311</c:v>
                </c:pt>
                <c:pt idx="174">
                  <c:v>117.898654091</c:v>
                </c:pt>
                <c:pt idx="175">
                  <c:v>118.414162101</c:v>
                </c:pt>
                <c:pt idx="176">
                  <c:v>118.884794322</c:v>
                </c:pt>
                <c:pt idx="177">
                  <c:v>119.35729705</c:v>
                </c:pt>
                <c:pt idx="178">
                  <c:v>119.807847202</c:v>
                </c:pt>
                <c:pt idx="179">
                  <c:v>120.236125176</c:v>
                </c:pt>
                <c:pt idx="180">
                  <c:v>120.665934118</c:v>
                </c:pt>
                <c:pt idx="181">
                  <c:v>121.097279502</c:v>
                </c:pt>
                <c:pt idx="182">
                  <c:v>121.530166819</c:v>
                </c:pt>
                <c:pt idx="183">
                  <c:v>121.964601581</c:v>
                </c:pt>
                <c:pt idx="184">
                  <c:v>122.400589321</c:v>
                </c:pt>
                <c:pt idx="185">
                  <c:v>122.838135589</c:v>
                </c:pt>
                <c:pt idx="186">
                  <c:v>123.277245956</c:v>
                </c:pt>
                <c:pt idx="187">
                  <c:v>123.717926015</c:v>
                </c:pt>
                <c:pt idx="188">
                  <c:v>124.135371651</c:v>
                </c:pt>
                <c:pt idx="189">
                  <c:v>124.529277541</c:v>
                </c:pt>
                <c:pt idx="190">
                  <c:v>124.924433371</c:v>
                </c:pt>
                <c:pt idx="191">
                  <c:v>125.295680804</c:v>
                </c:pt>
                <c:pt idx="192">
                  <c:v>125.668031501</c:v>
                </c:pt>
                <c:pt idx="193">
                  <c:v>126.041488741</c:v>
                </c:pt>
                <c:pt idx="194">
                  <c:v>126.416055812</c:v>
                </c:pt>
                <c:pt idx="195">
                  <c:v>126.791736013</c:v>
                </c:pt>
                <c:pt idx="196">
                  <c:v>127.168532651</c:v>
                </c:pt>
                <c:pt idx="197">
                  <c:v>127.546449044</c:v>
                </c:pt>
                <c:pt idx="198">
                  <c:v>127.92548852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2027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7F7B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Carry por juros</c:v>
          </c:tx>
          <c:spPr>
            <a:solidFill xmlns:a="http://schemas.openxmlformats.org/drawingml/2006/main">
              <a:srgbClr val="15354D"/>
            </a:solidFill>
          </c:spPr>
          <c:cat>
            <c:strRef>
              <c:f>'Chart Data'!$A$2:$A$3</c:f>
              <c:strCache>
                <c:ptCount val="2"/>
                <c:pt idx="0">
                  <c:v>Câmbio</c:v>
                </c:pt>
                <c:pt idx="1">
                  <c:v>Juros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0.74073898</c:v>
                </c:pt>
                <c:pt idx="1">
                  <c:v>2.61915404</c:v>
                </c:pt>
              </c:numCache>
            </c:numRef>
          </c:val>
        </c:ser>
        <c:ser>
          <c:idx val="1"/>
          <c:order val="1"/>
          <c:tx>
            <c:v>Combinação</c:v>
          </c:tx>
          <c:spPr>
            <a:solidFill xmlns:a="http://schemas.openxmlformats.org/drawingml/2006/main">
              <a:srgbClr val="007F7B"/>
            </a:solidFill>
          </c:spPr>
          <c:cat>
            <c:strRef>
              <c:f>'Chart Data'!$C$2:$C$3</c:f>
              <c:strCache>
                <c:ptCount val="2"/>
                <c:pt idx="0">
                  <c:v>Câmbio</c:v>
                </c:pt>
                <c:pt idx="1">
                  <c:v>Juros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1.81617676</c:v>
                </c:pt>
                <c:pt idx="1">
                  <c:v>1.5005359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535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Pontos percentuais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4080F-3A1C-4B71-A346-D678748B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</a:t>
            </a:r>
          </a:p>
          <a:p xmlns:a="http://schemas.openxmlformats.org/drawingml/2006/main">
            <a:pPr>
              <a:defRPr sz="480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80CC5-B7B4-464C-BB9A-FEB5BE76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Eichenbaum, Johannsen e Rebelo (2021) e extensões empíricas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DD7E5-47F1-414E-8EAF-BD43BDB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817B-4473-4F32-ADBC-3AFD0BE0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3859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5F60A-CF1B-4B9E-8062-054C0ED9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3E78F-105F-47B0-A539-C512DD0E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211D4-BA78-41FE-8846-51D71114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4F542-26C4-45B5-831D-B2A8B96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8E750-AF6E-4AB8-96C2-F01A7101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12FB2-01FE-408C-B9DF-64E2D26B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FA0B1-4875-4782-A0A1-88F043CE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927845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CF7C0-F6DE-428F-8A59-24C736A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143BD-8A2A-4712-BC2E-76325BF5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83A97-6817-4695-BE40-3AD18FBB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3b050e017c420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97257-86A5-4433-82B6-A116EE39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3B86F-1180-4837-AD54-19906E0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A5CEB-FCA0-4E18-86B9-A1B49E60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CEC57-FA7A-4279-B5FF-7E55813D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33A72-01B0-407F-B6C4-7F6961A6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A2F1D-E5A6-48E1-8E59-708CC33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1311083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75DA2-8E0C-47CD-9001-FFFB5AC3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E250-779C-4618-BD3B-6249825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0D9E5-B0E6-4E4D-9BF0-87805B42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67A13-E6DF-4571-8D52-B4317664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0F350-B6B7-4934-8EC7-3AAF3959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1271353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13235-0A33-4E61-AD68-8C565A6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B3D4C-1360-41DC-A48B-3CF09EE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7E512-C93D-4AF2-80A9-0001EC6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B5E3C-5872-4065-BFB3-80EE0C9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998DC-3AEA-4366-946E-C51FC99D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3A4E4-F14B-4EA7-B97E-7A821370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12672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2D9CA-A5E2-4692-84E6-9BD851DB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340A0-C10A-4A57-A267-484528A2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1F88E-1ABD-464E-88E3-99DD5416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EE4AE-60BD-40C9-9951-AA88317A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22D46-5765-433B-A2A9-6F8F6841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1304735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8CFD6-8B8C-4A03-AAB9-86EE08B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 aplicação mensal do sinal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A06E9-B84B-47CF-A749-80661D5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líquido em USD, base 100. Sem permanência obrigatória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7E3B7-F8FA-4288-86BE-A680F65C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afb90420c045e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E315F-3A0E-4280-BE75-401DA012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mar/2010–ago/2026. Treino EJR expansivo desde out/1999, só com alvos maduros.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da previsão: 60 meses. Revisão das posições: mensal. Custos iguais aos do slide 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D9023-C48A-4FEF-B180-DA869BDA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portfolio_returns.csv. 198 retornos líquidos mensais. A previsão de cinco anos não fixa cinco anos de permanência.</a:t>
            </a:r>
          </a:p>
        </p:txBody>
      </p:sp>
    </p:spTree>
    <p:extLst>
      <p:ext uri="{BB962C8B-B14F-4D97-AF65-F5344CB8AC3E}">
        <p14:creationId xmlns:p14="http://schemas.microsoft.com/office/powerpoint/2010/main" val="1949000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37740-4712-4B95-B658-FC298C9C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4A158-610C-41AF-9C33-304ACB2C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C16F4-3728-4F42-AD61-B2BC54A6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B0993-4184-4F91-A985-960ECB5C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83ADE-A5F6-4CB0-AD52-F27CE8A7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296171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DCC87-2CDA-43CC-B0C0-6449F09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CDA20-55FC-4501-A2B7-BCC3C200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6E2FB-0384-4300-9B70-62B70384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BDCC-D12E-422A-BF21-CEAF1D6F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C71DD-B12E-4AF0-BA96-FA8E5DA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924811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C3C63-E3CA-4814-92C7-784889F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14D5A-2491-4292-9E0A-645D0BC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25248-58E5-4309-AC7E-8B1A128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31EAA-9189-4AA7-B00D-73A9E11D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55919-A0E1-44D7-97C8-9A0C530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slide anterior.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1DA04-C919-40A9-B354-5F73D0C7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12913183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4F534-706B-48A3-997B-D7C4553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B3E9D-0870-4B22-A496-3DBF650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4BA9C-C3D8-45DB-8AA9-06F28FCC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49e8e130da4b1c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656fb166d049d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F734C-972D-4D54-93EB-9D9BC4AF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9493E-274F-4BCB-97AE-8CF51735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1838750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63EAB-3874-46A0-BAD1-2A32AEB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 exploratória: decomposição do 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A71B-DC7C-49DD-8BA8-632E6063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Contribuição ao excesso médio anual, em pontos percentuais. Abril/2018–agosto/2026.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16E2B-9A22-44DE-ADCC-EC745A9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0075" y="2028825"/>
          <a:ext xmlns:a="http://schemas.openxmlformats.org/drawingml/2006/main" cx="73342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a3583ec363461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5A06A-247C-4B29-A02C-A3DB0A94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Custo de ficar de fora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43A35-5054-47FB-B8F9-9727C3D3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Em 2019, excesso anual: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Carry: 3,83%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Combinação: 0,40%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46A0B-20D5-4142-A939-E7D1A99B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Atribuição do backtest abr/2018–ago/2026. Mesmos modelos e treino expansivo da combinação.</a:t>
            </a:r>
          </a:p>
          <a:p xmlns:a="http://schemas.openxmlformats.org/drawingml/2006/main">
            <a:pPr>
              <a:defRPr sz="15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filtro protegeu em alguns episódios e deixou ganhos para trás em outros.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91BB7-CE9E-4BAC-8682-5DF8039A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attribution.csv e episodes.csv. Média aritmética anualizada. Componentes não somam o CAGR. Custos e interação completam a conta.</a:t>
            </a:r>
          </a:p>
        </p:txBody>
      </p:sp>
    </p:spTree>
    <p:extLst>
      <p:ext uri="{BB962C8B-B14F-4D97-AF65-F5344CB8AC3E}">
        <p14:creationId xmlns:p14="http://schemas.microsoft.com/office/powerpoint/2010/main" val="3683805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FF79A-E554-43C7-9CC6-EF0F17CB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resultado ainda exige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6777D-2C40-4BE4-8529-C40392B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Melhora histórica de risco não basta para estabelecer uma vantagem de mercado.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70187-38E4-4CC3-9215-9207811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FF65A-A600-449A-ABA6-98BF3AD2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Decisões mensais não validam o ajuste previsto em cinco anos.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5D726-D713-4D63-B8AE-D3035B8D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Menor exposição explica parte da redução do risco.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DFFA6-06F4-4C55-B951-2528D18B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Resultados dependem bastante de BRL e JPY.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68DD0-6843-495C-80CF-8FED9070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Dados revisados e taxas aproximadas limitam a execução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F3C08-B2BA-4AE8-8BD7-E1C72AF7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teste corrigido para 14 alternativas principais não estabelece ganho de retorno médio. Calendário controlado não elimina seleção histórica.</a:t>
            </a:r>
          </a:p>
        </p:txBody>
      </p:sp>
    </p:spTree>
    <p:extLst>
      <p:ext uri="{BB962C8B-B14F-4D97-AF65-F5344CB8AC3E}">
        <p14:creationId xmlns:p14="http://schemas.microsoft.com/office/powerpoint/2010/main" val="19119621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5F532-4D1C-4F40-BE64-6BFA15DE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 trabalho permite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A0A99-9239-410C-AC0E-9227EE9E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80DD-184D-4883-AF7E-272E4CEA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histórica da aula foi parcialmente replicada.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479DA-19DA-4F8E-BF22-FD9FCAB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moeda, horizonte e período.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A19EC-C9A1-44AC-AE29-B2933571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As carteiras posteriores são referências exploratórias.</a:t>
            </a:r>
          </a:p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Falta validar o investimento no horizonte previsto.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F75D7-41AB-4AA8-B7B7-168F9487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Próxima validação: regras congeladas, dados futuros e custos executáveis. Resultados exploratórios, sem arbitragem demonstrada.</a:t>
            </a:r>
          </a:p>
        </p:txBody>
      </p:sp>
    </p:spTree>
    <p:extLst>
      <p:ext uri="{BB962C8B-B14F-4D97-AF65-F5344CB8AC3E}">
        <p14:creationId xmlns:p14="http://schemas.microsoft.com/office/powerpoint/2010/main" val="16259148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867B3-3373-46D7-A20C-FEB5346D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equações e informação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50FF2-C122-4989-96BC-1A7486F4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Regressões nominais. Índices de país omitidos para facilitar a leitura.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4F6EF-2146-49D8-AB9D-A05CF33C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 apoio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AFABB-222A-436E-BFA1-85470D9C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Base: Δs(t, t+h) = β × desvio real + erro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62A2C-41FD-4F17-9467-89BF799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Desvio real = q(t) − média histórica disponível de 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833AA-E6F7-4542-ABB8-971B742C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Em t, o treinamento só inclui alvos terminados até t−1.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 CPI entra com dois meses de atraso.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de 60 meses / 60 é um ritmo médio aproximado.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83E9F-3096-457B-B01F-D85B24F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src/models.py. Regressão preditiva agrupada. Sem identificação causal ou estimação completa do DSGE do artigo.</a:t>
            </a:r>
          </a:p>
        </p:txBody>
      </p:sp>
    </p:spTree>
    <p:extLst>
      <p:ext uri="{BB962C8B-B14F-4D97-AF65-F5344CB8AC3E}">
        <p14:creationId xmlns:p14="http://schemas.microsoft.com/office/powerpoint/2010/main" val="14900868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524EC-4029-4312-861B-B573D698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F7D0A-2888-42C2-9908-F6DA7390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8428C-3004-4A77-9089-BADBF198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CBC09-B26F-49B5-8D31-BA511ADC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36CA6-E257-4647-8CE5-6D95108B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399738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2026-09-15T20:13:26.4870000Z</dcterms:created>
  <dcterms:modified xsi:type="dcterms:W3CDTF">2026-09-15T20:13:26.4870000Z</dcterms:modified>
</coreProperties>
</file>