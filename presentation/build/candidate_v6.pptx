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5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e4bf950c61483d" /><Relationship Type="http://schemas.openxmlformats.org/officeDocument/2006/relationships/extended-properties" Target="/docProps/app.xml" Id="Re10cb241f01d48d0" /><Relationship Type="http://schemas.openxmlformats.org/officeDocument/2006/relationships/officeDocument" Target="/ppt/presentation.xml" Id="Rae766f95870444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b25044b3c84f01"/>
  </p:sldMasterIdLst>
  <p:notesMasterIdLst>
    <p:notesMasterId xmlns:r="http://schemas.openxmlformats.org/officeDocument/2006/relationships" r:id="R1fc9ffd7e3b64850"/>
  </p:notesMasterIdLst>
  <p:sldIdLst>
    <p:sldId xmlns:r="http://schemas.openxmlformats.org/officeDocument/2006/relationships" id="256" r:id="Rcabf78afca1b4988"/>
    <p:sldId xmlns:r="http://schemas.openxmlformats.org/officeDocument/2006/relationships" id="257" r:id="Rac9aa6e3610d40d6"/>
    <p:sldId xmlns:r="http://schemas.openxmlformats.org/officeDocument/2006/relationships" id="258" r:id="R76dc64ad900940fe"/>
    <p:sldId xmlns:r="http://schemas.openxmlformats.org/officeDocument/2006/relationships" id="259" r:id="R7fbbb04e08584d81"/>
    <p:sldId xmlns:r="http://schemas.openxmlformats.org/officeDocument/2006/relationships" id="260" r:id="R8adc153e396d4d73"/>
    <p:sldId xmlns:r="http://schemas.openxmlformats.org/officeDocument/2006/relationships" id="261" r:id="R943ba0259d424d60"/>
    <p:sldId xmlns:r="http://schemas.openxmlformats.org/officeDocument/2006/relationships" id="262" r:id="R2dbb3b1b4d5d4c44"/>
    <p:sldId xmlns:r="http://schemas.openxmlformats.org/officeDocument/2006/relationships" id="263" r:id="R89004632c338450f"/>
    <p:sldId xmlns:r="http://schemas.openxmlformats.org/officeDocument/2006/relationships" id="264" r:id="R976c98092bbc4ea6"/>
    <p:sldId xmlns:r="http://schemas.openxmlformats.org/officeDocument/2006/relationships" id="265" r:id="R0886e107663b4a6e"/>
    <p:sldId xmlns:r="http://schemas.openxmlformats.org/officeDocument/2006/relationships" id="266" r:id="Ra4fef088dc124467"/>
    <p:sldId xmlns:r="http://schemas.openxmlformats.org/officeDocument/2006/relationships" id="267" r:id="R35c9fec87c4f44e1"/>
    <p:sldId xmlns:r="http://schemas.openxmlformats.org/officeDocument/2006/relationships" id="268" r:id="R7be7f86ed97e450b"/>
    <p:sldId xmlns:r="http://schemas.openxmlformats.org/officeDocument/2006/relationships" id="269" r:id="Rde5290cf14a046f9"/>
    <p:sldId xmlns:r="http://schemas.openxmlformats.org/officeDocument/2006/relationships" id="270" r:id="R0e75a282b1bb484d"/>
    <p:sldId xmlns:r="http://schemas.openxmlformats.org/officeDocument/2006/relationships" id="271" r:id="R07d7c45ff68741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c38170dc944d79" /><Relationship Type="http://schemas.openxmlformats.org/officeDocument/2006/relationships/slideMaster" Target="/ppt/slideMasters/slideMaster1.xml" Id="R7eb25044b3c84f01" /><Relationship Type="http://schemas.openxmlformats.org/officeDocument/2006/relationships/notesMaster" Target="/ppt/notesMasters/notesMaster1.xml" Id="R1fc9ffd7e3b64850" /><Relationship Type="http://schemas.openxmlformats.org/officeDocument/2006/relationships/presProps" Target="/ppt/presProps.xml" Id="Rbda72142d6bc4461" /><Relationship Type="http://schemas.openxmlformats.org/officeDocument/2006/relationships/tableStyles" Target="/ppt/tableStyles.xml" Id="R6f86524eaa4a427f" /><Relationship Type="http://schemas.openxmlformats.org/officeDocument/2006/relationships/slide" Target="/ppt/slides/slide1.xml" Id="Rcabf78afca1b4988" /><Relationship Type="http://schemas.openxmlformats.org/officeDocument/2006/relationships/slide" Target="/ppt/slides/slide2.xml" Id="Rac9aa6e3610d40d6" /><Relationship Type="http://schemas.openxmlformats.org/officeDocument/2006/relationships/slide" Target="/ppt/slides/slide3.xml" Id="R76dc64ad900940fe" /><Relationship Type="http://schemas.openxmlformats.org/officeDocument/2006/relationships/slide" Target="/ppt/slides/slide4.xml" Id="R7fbbb04e08584d81" /><Relationship Type="http://schemas.openxmlformats.org/officeDocument/2006/relationships/slide" Target="/ppt/slides/slide5.xml" Id="R8adc153e396d4d73" /><Relationship Type="http://schemas.openxmlformats.org/officeDocument/2006/relationships/slide" Target="/ppt/slides/slide6.xml" Id="R943ba0259d424d60" /><Relationship Type="http://schemas.openxmlformats.org/officeDocument/2006/relationships/slide" Target="/ppt/slides/slide7.xml" Id="R2dbb3b1b4d5d4c44" /><Relationship Type="http://schemas.openxmlformats.org/officeDocument/2006/relationships/slide" Target="/ppt/slides/slide8.xml" Id="R89004632c338450f" /><Relationship Type="http://schemas.openxmlformats.org/officeDocument/2006/relationships/slide" Target="/ppt/slides/slide9.xml" Id="R976c98092bbc4ea6" /><Relationship Type="http://schemas.openxmlformats.org/officeDocument/2006/relationships/slide" Target="/ppt/slides/slide10.xml" Id="R0886e107663b4a6e" /><Relationship Type="http://schemas.openxmlformats.org/officeDocument/2006/relationships/slide" Target="/ppt/slides/slide11.xml" Id="Ra4fef088dc124467" /><Relationship Type="http://schemas.openxmlformats.org/officeDocument/2006/relationships/slide" Target="/ppt/slides/slide12.xml" Id="R35c9fec87c4f44e1" /><Relationship Type="http://schemas.openxmlformats.org/officeDocument/2006/relationships/slide" Target="/ppt/slides/slide13.xml" Id="R7be7f86ed97e450b" /><Relationship Type="http://schemas.openxmlformats.org/officeDocument/2006/relationships/slide" Target="/ppt/slides/slide14.xml" Id="Rde5290cf14a046f9" /><Relationship Type="http://schemas.openxmlformats.org/officeDocument/2006/relationships/slide" Target="/ppt/slides/slide15.xml" Id="R0e75a282b1bb484d" /><Relationship Type="http://schemas.openxmlformats.org/officeDocument/2006/relationships/slide" Target="/ppt/slides/slide16.xml" Id="R07d7c45ff68741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fe9cab51714f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24f84c84844d87" /><Relationship Type="http://schemas.openxmlformats.org/officeDocument/2006/relationships/notesMaster" Target="/ppt/notesMasters/notesMaster1.xml" Id="R79070baada0a43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7760e54d1847f1" /><Relationship Type="http://schemas.openxmlformats.org/officeDocument/2006/relationships/notesMaster" Target="/ppt/notesMasters/notesMaster1.xml" Id="Rc5775bf2048e4d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843db03e694706" /><Relationship Type="http://schemas.openxmlformats.org/officeDocument/2006/relationships/notesMaster" Target="/ppt/notesMasters/notesMaster1.xml" Id="Rc86012331c7443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c0d3b67eac463c" /><Relationship Type="http://schemas.openxmlformats.org/officeDocument/2006/relationships/notesMaster" Target="/ppt/notesMasters/notesMaster1.xml" Id="R67d21286985a4d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46e282f7774f57" /><Relationship Type="http://schemas.openxmlformats.org/officeDocument/2006/relationships/notesMaster" Target="/ppt/notesMasters/notesMaster1.xml" Id="R1fb4329e76a042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3f073333764021" /><Relationship Type="http://schemas.openxmlformats.org/officeDocument/2006/relationships/notesMaster" Target="/ppt/notesMasters/notesMaster1.xml" Id="R85b8ae3bff5f46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98300873b641db" /><Relationship Type="http://schemas.openxmlformats.org/officeDocument/2006/relationships/notesMaster" Target="/ppt/notesMasters/notesMaster1.xml" Id="R677d1a34c4e443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ab121522764288" /><Relationship Type="http://schemas.openxmlformats.org/officeDocument/2006/relationships/notesMaster" Target="/ppt/notesMasters/notesMaster1.xml" Id="Rf7edbdcce5fd46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8931fc0ad84aec" /><Relationship Type="http://schemas.openxmlformats.org/officeDocument/2006/relationships/notesMaster" Target="/ppt/notesMasters/notesMaster1.xml" Id="Rdc031ba65d0d40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fa03f0802342d2" /><Relationship Type="http://schemas.openxmlformats.org/officeDocument/2006/relationships/notesMaster" Target="/ppt/notesMasters/notesMaster1.xml" Id="Rd85eaab049624b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21e4ef340c4985" /><Relationship Type="http://schemas.openxmlformats.org/officeDocument/2006/relationships/notesMaster" Target="/ppt/notesMasters/notesMaster1.xml" Id="Rc6de4be0e51c4b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9ea5914ae74b9b" /><Relationship Type="http://schemas.openxmlformats.org/officeDocument/2006/relationships/notesMaster" Target="/ppt/notesMasters/notesMaster1.xml" Id="Ra6976fce5818447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28ab1f71f144e7" /><Relationship Type="http://schemas.openxmlformats.org/officeDocument/2006/relationships/notesMaster" Target="/ppt/notesMasters/notesMaster1.xml" Id="Rd181e2c5aee24b4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152b5b954c47c8" /><Relationship Type="http://schemas.openxmlformats.org/officeDocument/2006/relationships/notesMaster" Target="/ppt/notesMasters/notesMaster1.xml" Id="R88a5d1051890413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54c8c3a98ca4829" /><Relationship Type="http://schemas.openxmlformats.org/officeDocument/2006/relationships/notesMaster" Target="/ppt/notesMasters/notesMaster1.xml" Id="Rf6c5b4d91cf2432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b95ab6cdcf84ee2" /><Relationship Type="http://schemas.openxmlformats.org/officeDocument/2006/relationships/notesMaster" Target="/ppt/notesMasters/notesMaster1.xml" Id="R7bc400e1f03349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30s</a:t>
            </a:r>
          </a:p>
          <a:p xmlns:a="http://schemas.openxmlformats.org/drawingml/2006/main">
            <a:r>
              <a:t>O trabalho parte da previsibilidade cambial de médio e longo prazo estudada por Eichenbaum, Johannsen e Rebelo. Apresento uma replicação parcial da relação da aula e testes de previsão nominal. Depois mostro, apenas como referência exploratória, aplicações mensais e filtros de exposição. Esses resultados de carteira não demonstram a exploração do ajuste de longo prazo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Há três objetos diferentes ao longo da apresentação. A replicação procura reproduzir uma relação econômica do artigo. A previsão avalia erros em observações futuras. O backtest calcula o resultado de uma regra de investimento, incluindo juros e câmbio. Um sucesso no primeiro objeto não implica sucesso nos seguintes. O projeto percorreu essas etapas e encontrou tanto fracassos quanto resultados históricos promissores.</a:t>
            </a:r>
          </a:p>
          <a:p xmlns:a="http://schemas.openxmlformats.org/drawingml/2006/main">
            <a:r>
              <a:t>Fontes: Artigo EJR, introdução; synthesis/README.md</a:t>
            </a:r>
          </a:p>
          <a:p xmlns:a="http://schemas.openxmlformats.org/drawingml/2006/main">
            <a:r>
              <a:t>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70 segundos.</a:t>
            </a:r>
          </a:p>
          <a:p xmlns:a="http://schemas.openxmlformats.org/drawingml/2006/main">
            <a:r>
              <a:t>Ideia central: Uma diferença persistente de preços relativos pode se ajustar pelo câmbio nominal ou pela inflação relativa.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Câmbio nominal é a cotação que vemos no mercado. Câmbio real também considera o que os preços fizeram nos dois países. Por exemplo, se os preços brasileiros sobem relativamente aos americanos e a cotação não muda, o real fica mais caro em termos reais. O artigo pergunta como esse tipo de diferença se ajusta. Nos países com metas de inflação estudados, o câmbio real ajuda a prever o nominal futuro, mas prevê pouco a inflação. A intuição é que, quando os preços estão mais ancorados, parte maior do ajuste pode aparecer na cotação. O artigo também estima um modelo estrutural. Meu exercício reproduz a parte preditiva e o exemplo da aula, sem reestimar esse modelo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Câmbio nominal S é o preço do dólar em moeda local. No Brasil, S = 5 significa R$ 5 por US$ 1. O câmbio real Q = S × P_US / P_local ajusta essa cotação pelos níveis de preços das duas economias. Trabalhamos com o logaritmo q. Quando q sobe, a moeda local sofre depreciação real, ficando relativamente barata. Essa classificação depende da referência histórica, não de um valor justo conhecido. A identidade implica que a mudança real soma a mudança nominal à inflação americana menos a inflação local. Se a inflação relativa responde pouco, o ajuste tende a aparecer mais no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Explique a relação entre câmbio real e nominal. A seção 3.3 do artigo encontra ganho agregado fora da amostra em horizontes acima de dois anos, destacando quatro e seis anos. Isso não demonstra previsão do caminho mensal. O artigo não propõe as regras de carteira posteriores deste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Conceito ou síntese dos testes apresentados.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identidade contábil não prova reversão à média nem identifica o efeito causal das metas de inflação. Não diga que toda moeda barata necessariamente valoriza.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Câmbio real é a cotação descontada do IPCA brasileiro? Não. Ele envolve preços relativos entre duas economias, com uma convenção definida para a cotação.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verificação foi reproduzir a relação mostrada na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Artigo EJR, resumo e introdução</a:t>
            </a:r>
          </a:p>
          <a:p xmlns:a="http://schemas.openxmlformats.org/drawingml/2006/main">
            <a:r>
              <a:t>src/models.py: features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A replicação brasileira recupera a inclinação de oito anos da aula, aproximadamente −1,808.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Neste gráfico, cada ponto é um mês brasileiro. À direita estão momentos de maior depreciação real. Para baixo estão apreciações nominais nos oito anos seguintes. A relação é claramente negativa, e a inclinação de menos 1,808 praticamente reproduz o número da aula. O R² é alto, cerca de 88%. Mas esse resultado descreve o ajuste da relação na amostra histórica. Não significa que o modelo acerta 88% das operações. Além disso, previsões feitas em dois meses vizinhos usam quase os mesmos oito anos seguintes, então os pontos não são evidências independentes. A próxima etapa é perguntar se essa relação ajuda quando eu realmente escondo o futuro do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Cada ponto relaciona o desvio do câmbio real em um mês à mudança do log da cotação nos oito anos seguintes. O eixo horizontal usa q menos sua média no exercício histórico. O eixo vertical usa log(S daqui a oito anos / S hoje). Um valor vertical negativo representa apreciação nominal da moeda local. A inclinação negativa indica que meses de real mais depreciado se associaram a apreciação posterior. O R² mede a fração da variação do alvo explicada pelo ajuste dentro da amostra. Não é a probabilidade de acertar uma previsão nem uma medida de rentabilidade.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Comece pelos eixos. Aponte a inclinação descendente. Só então diga que o coeficiente de −1,808 praticamente coincide com o valor da aula e que o R² é 0,883. Há 280 origens mensais, de janeiro de 1995 a abril de 2018, com resultados até abril de 2026. As observações compartilham muitos dos mesmos meses futuros.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Ajuste descritivo: jan/1995–abr/2026. Sem divisão entre treino e teste. Origens de oito anos até abr/2018.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Este gráfico usa ajuste dentro da amostra. Não o apresente como uma previsão produzida em tempo real ou como replicação integral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o coeficiente é menor que −1? A regressão permite esse valor no horizonte longo. Isso não significa retorno mensal de 180% ou convergência garantida. É uma relação entre mudanças e desvios em 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Reproduzir a relação histórica e prever dados futuros são testes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output/tables/classroom_replication.csv</a:t>
            </a:r>
          </a:p>
          <a:p xmlns:a="http://schemas.openxmlformats.org/drawingml/2006/main">
            <a:r>
              <a:t>data/processed/classroom.csv</a:t>
            </a:r>
          </a:p>
          <a:p xmlns:a="http://schemas.openxmlformats.org/drawingml/2006/main">
            <a:r>
              <a:t>Macro_Aplicada_2026_shared/Slides/Macro_Aplicada_aula_8.pdf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90 segundos.</a:t>
            </a:r>
          </a:p>
          <a:p xmlns:a="http://schemas.openxmlformats.org/drawingml/2006/main">
            <a:r>
              <a:t>Ideia central: O Brasil melhora em todos os seis horizontes. O painel agrupado perde para nenhuma mudança nas janelas completas de cada horizonte.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teste fora da amostra não diz que a regressão falha em todo lugar. O Brasil melhora em todos os horizontes mostrados. Em cinco anos, seu erro é cerca de 21% menor que o de prever nenhuma mudança. Mas o resultado agregado das seis moedas é pior que essa referência. Essa heterogeneidade é central. Também não estamos comparando exatamente a regressão brasileira do slide anterior: agora a inclinação é comum às moedas e muda conforme novas observações ficam disponíveis. As janelas indicadas no rodapé são diferentes. Quando uso as mesmas datas de origem, o painel melhora em um, dois e três anos. Portanto, a conclusão depende do país, horizonte e período.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Em cada origem t, estimamos a mudança futura do log da cotação a partir do desvio real. A inclinação é comum a seis moedas, e a média histórica de q é específica de cada moeda. A janela de treinamento se expande desde outubro de 1999. Exigimos pelo menos 60 origens de treinamento por moeda cujos alvos já tenham terminado até t−1. O CPI entra com dois meses de defasagem. Repetimos a estimação a cada mês, prevemos e avaliamos o erro quando o horizonte termina. O RMSE relativo compara esse erro com nenhuma mudança. O teste de Clark–West usa correção para dependência temporal. O resultado agregado de cinco anos não estabelece superioridade estatística. Dados revisados limitam o caráter estritamente em tempo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mostra cada moeda e o agregado das seis moedas, usando a mesma especificação EJR agrupada. BRL é real, EUR euro, JPY iene, GBP libra, CAD dólar canadense e SEK coroa sueca. Todas são avaliadas contra USD. Valores abaixo de 1 aparecem em verde e indicam menor RMSE que prever nenhuma mudança. O agregado reúne os erros do painel; não é uma soma nem uma média simples das razões individuais. Em cinco anos, o Brasil tem 0,792 e o agregado 1,037. Em oito anos, 0,816 e 1,115. Os períodos de origem de cada horizonte estão no rodapé e são diferentes entre as linhas.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Treino expansivo desde out/1999; mínimo de 60 origens maduras por moeda e alvos de treino até t−1. Origens avaliadas: 1 ano jan/2010–ago/2025; 2 anos jan/2010–ago/2024; 3 anos jan/2010–ago/2023; 5 anos jan/2010–ago/2021; 7 anos nov/2011–ago/2019; 8 anos nov/2012–ago/2018. Alvos realizados até 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conclua que câmbio é imprevisível em qualquer horizonte. As linhas têm períodos distintos. O ganho de erro não basta, sozinho, para demonstrar significância estatística ou valor de investimento.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E se estimarmos só para o Brasil? A regressão brasileira com intercepto e inclinação próprios tem erro relativo 0,596 em oito anos. É outro modelo e um resultado favorável, mas com forte sobreposição dos alvos. No painel com origens comuns de nov/2012 a ago/2018, os erros são 0,958, 0,950 e 0,964 em um, dois e três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heterogeneidade preditiva motivou testar se a previsão ajuda na escolha das posições de carry.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output/tables/forecast_accuracy.csv</a:t>
            </a:r>
          </a:p>
          <a:p xmlns:a="http://schemas.openxmlformats.org/drawingml/2006/main">
            <a:r>
              <a:t>output/tables/forecast_common_origins.csv</a:t>
            </a:r>
          </a:p>
          <a:p xmlns:a="http://schemas.openxmlformats.org/drawingml/2006/main">
            <a:r>
              <a:t>output/tables/timing_audit.csv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85 segundos.</a:t>
            </a:r>
          </a:p>
          <a:p xmlns:a="http://schemas.openxmlformats.org/drawingml/2006/main">
            <a:r>
              <a:t>Ideia central: Comparar escolher posições pelo diferencial de juros com escolher pelo diferencial de juros mais a valorização cambial prevista.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Eu comparei duas formas de escolher as posições. A primeira olha apenas para quais moedas pagam mais juros. A segunda acrescenta a valorização cambial prevista pelo modelo. Nas duas, o retorno realizado inclui tanto os juros quanto a mudança do câmbio. O que muda é a informação usada para escolher a carteira. O risco é que a desvalorização da moeda consuma o juro recebido. Neste exemplo, ganhar 10% no ativo e pagar 3% no financiamento parece oferecer uma folga de 7%, mas uma queda de 8% da moeda já produz perda. No backtest, calculo o retorno combinado de forma exata, incluindo a interação e os custos. A previsão de cinco anos apenas orienta a decisão, sem garantir o caminho mensal.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Carry ou carrego é a remuneração associada ao diferencial de juros de uma posição financiada em outra moeda. Comprar uma moeda envolve um ativo nessa moeda, como um depósito, enquanto a outra ponta financia a operação. O projeto usa proxies de aplicações de curto prazo, não retornos de bolsa ou títulos longos. Quem compra a moeda de juros altos ganha com apreciação dessa moeda e perde com sua depreciação. No painel, cada regra compra as duas moedas de maior sinal e vende as duas de menor sinal, com 25% de notional em cada ponta. A soma dos valores absolutos é 100% e a exposição líquida é zero. Há caixa em dólar como colateral.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a aproximação de retorno: diferencial de juros mais valorização da moeda comprada, menos custos. O exemplo é hipotético: ativo rende 10%, financiamento custa 3% e a moeda comprada cai 8% em dólar. O resultado exato antes de custos é 1,10 × 0,92 − 1,03 = −1,8% sobre o notional. A soma simples daria −1%, pois ignora a interação entre juros e câmbio.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Conceito ou síntese dos testes apresentados.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Aplicação própria: convertemos a previsão de 60 meses em ritmo mensal dividindo por 60. Isso não estima uma trajetória mensal nem replica uma estratégia de investimento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estratégia compra dólar ou bolsa americana? Aqui o dólar é o numerário e o caixa de colateral. As posições cambiais usam aplicações curtas e financiamento nas moedas. Ações americanas seriam outro risco e outro exercício.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tentativa foi simples, e o resultado foi pior que o carry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src/models.py: run_book e rank_weights</a:t>
            </a:r>
          </a:p>
          <a:p xmlns:a="http://schemas.openxmlformats.org/drawingml/2006/main">
            <a:r>
              <a:t>report/relatorio.tex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80 segundos.</a:t>
            </a:r>
          </a:p>
          <a:p xmlns:a="http://schemas.openxmlformats.org/drawingml/2006/main">
            <a:r>
              <a:t>Ideia central: O ranking mensal com sinal de cinco anos perdeu para o carry. Esse resultado avalia esta implementação, não rejeita a previsibilidade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Esta é uma aplicação própria, não uma carteira do artigo. Usamos previsão cambial de cinco anos, dividida por sessenta para formar um sinal mensal. Compramos duas moedas e vendemos duas, com pesos iguais, revistos mensalmente. Não houve Markowitz. O resultado foi pior que o carry por juros. Isso não prova que a previsão de longo prazo falhou: o backtest testa uma tradução específica da previsão em decisões mensais, sem manter obrigatoriamente as posições até o horizonte previsto.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Não usamos a otimização média-variância de Markowitz. Ordenamos seis moedas por um sinal e compramos as duas de maior sinal, vendendo as duas de menor sinal. Cada ponta recebe 25% do patrimônio em notional: 100% bruto e zero líquido. O carry usa diferencial de juros. O ranking alternativo soma apreciação prevista, aproximada como −previsão de Δs em 60 meses/60. Reavaliamos mensalmente, sem compromisso de manter cada moeda por cinco anos. O caixa em dólar serve de colateral. Retorno anual composto é crescimento do patrimônio, volatilidade é dispersão anualizada, Sharpe usa excesso sobre o caixa e queda máxima mede a perda desde o pico.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retorno anual de 4,11% e 2,73%, e Sharpe de 0,60 e 0,31. Depois leia o rodapé: backtest de março de 2010 a agosto de 2026, sinal de cinco anos, revisão mensal e treinamento expansivo. Os custos de negociação por notional transacionado são 10 pontos-base para BRL, 3 para SEK e 2 para as outras moedas. Há também spread de financiamento de 50 pontos-base ao ano na ponta vendida. Um ponto-base é 0,01 ponto percentual. Entrada, rebalanceamento e liquidação final pagam os custos assumidos.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sinal: jan/2010. Treino EJR: origens out/1999–dez/2004 (63 meses por moeda), alvos até dez/2009. A janela se expande mensalmente. Previsão: 60 meses. Sinal t, execução t+1 e retorno t+2. Backtest: mar/2010–ago/2026.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diga Markowitz, otimização de pesos ou posição fixa de cinco anos. Os custos são hipóteses agregadas de negociação e financiamento, não uma lista de tarifas executadas por corretora. Não incluem uma tributação específica do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Qual prazo foi usado? Previsão de 60 meses, revisão mensal e nenhum prazo máximo de permanência no ranking. A dispersão da aula usa oito anos. São objetos distintos. A rotina inicial também calculou coortes de 60 meses, ausentes deste gráfico, mas não uma otimização de Markowitz.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O gráfico seguinte mostra como essa diferença se acumulou no patrimônio.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output/tables/portfolio_metrics.csv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50 segundos.</a:t>
            </a:r>
          </a:p>
          <a:p xmlns:a="http://schemas.openxmlformats.org/drawingml/2006/main">
            <a:r>
              <a:t>Ideia central: As duas carteiras incluem juros, câmbio e custos. O ranking com previsão termina abaixo do carry por juros.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Este é o resultado acumulado das mesmas duas regras. A linha do carry por juros termina acima da linha que acrescenta a previsão cambial. A diferença não vem de excluir os juros de uma delas: ambas incluem juros, câmbio, financiamento e negociação. A linha de caixa permite visualizar quanto seria recebido apenas no colateral em dólar. O gráfico reforça o fracasso da alteração direta do ranking nesta implementação.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Patrimônio base 100 é o valor acumulado após reinvestir os retornos mensais líquidos. Um nível de 195 significa ganho total próximo de 95%, e não retorno anual de 95%. A linha de caixa usa a mesma remuneração USD do backtest. Comparar o patrimônio não muda a estratégia: é outra forma de mostrar os resultados da tabela anterior.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As linhas cobrem março de 2010 a agosto de 2026. Compare os pontos finais e depois o caminho, sem tentar explicar cada oscilação. O gráfico usa os mesmos 198 retornos da tabela do slide 6, com inicialização em 100 antes do primeiro retorno.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sinal: jan/2010. Treino EJR: origens out/1999–dez/2004 (63 meses por moeda), alvos até dez/2009. A janela se expande mensalmente. Previsão: 60 meses. Sinal t, execução t+1 e retorno t+2. Backtest: mar/2010–ago/2026.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Este gráfico não representa posições obrigatoriamente mantidas por cinco anos e não demonstra captura da convergência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São operações independentes de um mês? A carteira tem decisões mensais. Uma moeda pode permanecer na posição se o ranking continuar favorável. Calculamos o resultado dessa exposição sucessiva, com custos sobre as mudanças do notional.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seguir, mostro como referência exploratória os resultados das regras de exposição. Elas não validam uma estratégia de investimento de longo prazo baseada no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output/tables/portfolio_returns.csv</a:t>
            </a:r>
          </a:p>
          <a:p xmlns:a="http://schemas.openxmlformats.org/drawingml/2006/main">
            <a:r>
              <a:t>output/tables/portfolio_metrics.csv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105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Este bloco fica apenas como referência exploratória. Combinamos três regras próprias, com pesos iguais: ajuste de tamanho, permissão de entrada e saída de lotes. O sinal EJR olha cinco anos, mas as decisões são mensais e o modelo adicional de risco olha doze meses. Nenhuma dessas regras foi derivada como estratégia de longo prazo no artigo. O resultado serve para documentar o que testamos, sem substituir a avaliação econômica no horizonte previsto.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módulo A reduz o tamanho do carry quando o retorno previsto é baixo em relação à referência passada e elimina pares com mudança comercial observada muito alta. O módulo B só entra se o retorno previsto anualizado, suavizado por seis meses, superar 2%, e evita pares com movimento adverso forte dos preços comerciais. O módulo C distribui entradas mensais em parcelas, cada uma com duração máxima de 12 meses, e antecipa a saída quando o modelo com composição comercial indica aumento relevante do risco de o câmbio consumir os juros, relativamente ao modelo base. Os limites de eventos extremos usam o percentil 80 da história passada. A combinação usa um terço dos pesos de cada módulo e calcula custos após agregar as posições.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Explique cada linha como uma decisão concreta: quanto comprar, quando entrar, quando sair. Dê mais tempo ao terceiro módulo. Uma ‘coorte’ é simplesmente o lote de posições aberto em um mês. Cada lote tem orçamento limitado, em vez de multiplicar a exposição ao somar vários meses. Os pares retirados saem com as duas pontas, preservando a neutralidade líquida.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EJR: janela expansiva desde out/1999 e previsão nominal de 60 meses. Risco comercial: origens desde jan/2011, mínimo 36 datas maduras e alvo de 12 meses, mais atraso de execução. Limiares comerciais: mínimo 36 meses anteriores. Backtest comum: abr/2018–ago/2026.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pesos iguais? É uma combinação simples, que evita otimizar os pesos para o maior Sharpe. Ainda assim, a escolha dos componentes já usa aprendizados da história examinada.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Para comparar, eu coloco o carry e a combinação exatamente nas mesmas datas.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synthesis/model.py: make_policies</a:t>
            </a:r>
          </a:p>
          <a:p xmlns:a="http://schemas.openxmlformats.org/drawingml/2006/main">
            <a:r>
              <a:t>synthesis/PROTOCOL.md</a:t>
            </a:r>
          </a:p>
          <a:p xmlns:a="http://schemas.openxmlformats.org/drawingml/2006/main">
            <a:r>
              <a:t>synthesis/EXPLORATION.md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80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 janela comum, o retorno anual ficou próximo: 5,78% no carry e 5,94% na combinação. A diferença mais visível aparece no risco: a volatilidade caiu de 4,11% para 2,33% e a queda máxima observada caiu de 9,09% para 1,43%. O Sharpe aumentou. Mas existe uma explicação importante: a combinação carregou, em média, apenas 48% de exposição bruta. Parte do resultado vem simplesmente de assumir menos risco e permanecer mais em caixa. Eu fiz controles de exposição, mas eles não eliminam toda a incerteza sobre a vantagem. O que posso mostrar é uma trajetória histórica mais estável, sem afirmar uma rentabilidade superior garantida.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janela comum começa quando todos os módulos já podem funcionar. Tem 101 retornos mensais. O retorno total inclui remuneração do caixa em dólar, contribuições dos ativos e financiamento, além de custos assumidos. O Sharpe usa excesso sobre o caixa. Exposição bruta é a soma do valor absoluto das posições dividida pelo patrimônio. A combinação teve exposição bruta média de 48%, contra 100% do carry. Isso explica parte da queda de risco e deve aparecer ao lado das métricas, não como ressalva escondida.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retorno anual de 5,78% e 5,94%: são próximos. Depois destaque volatilidade de 4,11% e 2,33%, e queda máxima de 9,09% e 1,43% em magnitude. Termine obrigatoriamente na exposição de 100% e 48%. O Sharpe sobe de 0,75 para 1,37. Os sinais negativos na linha de queda máxima representam perdas em relação ao pico.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 da janela comum: fev/2018. EJR: origens out/1999–jan/2013. Risco comercial: jan/2011–dez/2016. Resultados disponíveis até jan/2018. Reestimação expansiva mensal. Backtest: abr/2018–ago/2026.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Bastava investir metade no carry? O controle retrospectivo com exposição média de 48% rendeu 4,18% ao ano e teve queda máxima de 4,02%, contra 5,94% e 1,43% da combinação. Isso é diagnóstico útil, mas usa a média conhecida depois e não prova superioridade futura.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Antes de ver o gráfico, verifico o que muda quando altero o prazo dos lotes.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synthesis/tables/metrics.csv: common, all</a:t>
            </a:r>
          </a:p>
          <a:p xmlns:a="http://schemas.openxmlformats.org/drawingml/2006/main">
            <a:r>
              <a:t>synthesis/tables/exposure_controls.csv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65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Mesmo com uma carteira contínua, o prazo importa. Aqui mantive os outros dois módulos e alterei apenas o prazo máximo dos lotes do módulo de permanência. O retorno muda pouco entre seis e doze meses e cai um pouco em vinte e quatro. A exposição também cai conforme aumenta o prazo máximo, porque as entradas são menores e podem sair antes por risco. Isso mostra que o prazo muda a política, mas não prova que doze meses seja ótimo. E não mudamos o horizonte do modelo de risco: ele continua olhando doze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combinação tem três módulos. Os dois primeiros revêm o carry mensalmente. O terceiro abre novos lotes mensais e permite carregá-los até um prazo máximo, com saída antecipada por risco. Aqui só variamos esse máximo entre 6, 12 e 24 meses. O orçamento de entrada mensal desse módulo é 1/H, onde H é o prazo máximo, preservando o teto de exposição. As previsões permanecem as mesmas: EJR de 60 meses e risco de consumo dos juros em 12 meses. Portanto, é uma sensibilidade de política de permanência, não uma comparação de novos modelos de previsão para cada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mostra a combinação inteira na mesma janela de abril de 2018 a agosto de 2026, com os mesmos custos. Para 6, 12 e 24 meses, os retornos anuais são 5,96%, 5,94% e 5,77%. A exposição média cai de 51% para 48% e 44%. Essa mudança de exposição participa da diferença de risco. A saída pode ocorrer antes do máximo e a entrada é gradual.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 da janela comum: fev/2018. EJR: origens out/1999–jan/2013. Risco comercial: jan/2011–dez/2016. Resultados disponíveis até jan/2018. Reestimação expansiva mensal. Backtest: abr/2018–ago/2026.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o prazo maior reduziu a exposição? Com orçamento 1/H por entrada e saída antecipada, muitos lotes podem sair antes de completar H meses. A formação gradual e o cancelamento entre pontas também influenciam a exposição líquida por moeda. Isso deve ser considerado ao comparar o risco.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trajetória do patrimônio da combinação-base, com lotes de até doze meses, aparece no próximo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synthesis/tables/robustness.csv: Base, Tenure6, Tenure24</a:t>
            </a:r>
          </a:p>
          <a:p xmlns:a="http://schemas.openxmlformats.org/drawingml/2006/main">
            <a:r>
              <a:t>synthesis/model.py: make_policies, cohorts</a:t>
            </a:r>
          </a:p>
          <a:p xmlns:a="http://schemas.openxmlformats.org/drawingml/2006/main">
            <a:r>
              <a:t>synthesis/robustness.py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Aqui todas as estratégias começam em 100. O ponto final do carry e da combinação é próximo, mas o caminho é diferente. O carry atravessa uma queda mais pronunciada em torno de 2020, enquanto a combinação mantém uma trajetória mais estável nessa janela. O painel de baixo mostra a perda em relação ao pico anterior. A linha do caixa lembra que parte do retorno total vem da remuneração em dólar, mesmo quando a exposição cai. Esta figura ajuda a entender por que duas carteiras com retorno final parecido podem ter riscos bastante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gráfico acumula retornos líquidos, com patrimônio inicial 100. O retorno final é semelhante, mas as trajetórias de perdas diferem. A carteira recebe novas decisões mensais e não tem uma única janela fixa de treinamento. Em fevereiro de 2018, primeiro sinal para retorno em abril, o EJR usa origens de outubro de 1999 a janeiro de 2013, com alvos terminados até janeiro de 2018. O modelo de risco comercial usa origens de janeiro de 2011 a dezembro de 2016, com resultados disponíveis até janeiro de 2018. Depois as duas janelas se expandem e os modelos são reestimados. A combinação contém também regras baseadas em preços e limiares calculados com a história passada.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Aponte a trajetória, sem tentar explicar cada oscilação. A queda do carry em torno de 2020 é mais visível que a da combinação. O painel de perdas mostra a profundidade em relação ao pico. Como o retorno final é semelhante, este slide reforça que o achado principal é a suavização histórica do caminho.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sinal: fev/2018. EJR: out/1999–jan/2013, alvos até jan/2018. Risco comercial: jan/2011–dez/2016, alvos disponíveis até jan/2018. Janelas expansivas. Backtest: abr/2018–ago/2026.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previsão foi treinada de 2018 a 2026? Não em uma única estimação que olha todo o período. A cada mês, usamos apenas a história admissível, mas a escolha dos módulos usou pesquisa sobre essa história já examinada. Para o primeiro retorno, o sinal vem de fevereiro de 2018 e a execução de março. Em junho de 2026, o EJR já usa origens até maio de 2021 e alvos até maio de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Também vale separar contabilmente o que veio dos juros e o que veio do câmbio.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synthesis/tables/returns.csv.gz: common</a:t>
            </a:r>
          </a:p>
          <a:p xmlns:a="http://schemas.openxmlformats.org/drawingml/2006/main">
            <a:r>
              <a:t>synthesis/tables/metrics.csv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decomposição contábil ajuda a entender o resultado. A combinação recebeu menos contribuição de juros, o que faz sentido porque operou com menor exposição. Em compensação, teve contribuição cambial maior na amostra. Isso manteve o excesso médio de retorno próximo ao do carry, com menos risco. Mas ficar de fora também tem custo: em 2019, a combinação ganhou pouco acima do caixa e ficou bastante atrás do carry. Em 2020 e 2021, ocorreu o contrário. Portanto, os filtros podem proteger em alguns episódios e deixar ganhos para trás em outros. Essa alternância é parte do resultado, não uma exceção a esconder.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atribuição divide a média mensal do retorno em excesso em parcelas contábeis e multiplica por 12. Os valores são pontos percentuais de contribuição anual, não CAGRs separáveis. Carry: câmbio 0,74 p.p. e juros 2,62 p.p. Combinação: câmbio 1,82 p.p. e juros 1,50 p.p. Interação, spread de financiamento e custos completam a conta. O excesso médio total é aproximadamente 3,07% e 3,17% ao ano, respectivamente. Isso é consistente com melhor seleção de exposição na história, mas não identifica um mecanismo causal.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as barras de cada componente. A remuneração de juros cai na combinação, enquanto a contribuição de câmbio sobe. Diga que os componentes mostrados não somam o retorno composto da tabela anterior. Para ilustrar custo de oportunidade, em 2019 o excesso médio anualizado da combinação foi 0,40%, contra 3,83% do carry. Em 2020–2021, foi 2,39% contra −1,43%.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Mesmas previsões, regras e treinamento expansivo da combinação. Atribuição realizada no backtest de abr/2018 a ago/2026. Não há um novo modelo de previsão para a atribuição.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O resultado vem só do carrego? Não. As duas estratégias recebem juros e carregam risco cambial. A combinação mudou a exposição a essas duas fontes de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Os resultados são interessantes, mas há limites claros para a interpretação.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synthesis/tables/attribution.csv</a:t>
            </a:r>
          </a:p>
          <a:p xmlns:a="http://schemas.openxmlformats.org/drawingml/2006/main">
            <a:r>
              <a:t>synthesis/tables/episodes.csv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60 segundos.</a:t>
            </a:r>
          </a:p>
          <a:p xmlns:a="http://schemas.openxmlformats.org/drawingml/2006/main">
            <a:r>
              <a:t>Ideia central: As carteiras são referências exploratórias: falta validar a ligação entre previsão de longo prazo e execução econômica.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principal limitação é que os módulos foram escolhidos após explorar essa mesma história. Eu cuidei para que as decisões mensais não usassem o futuro, mas isso não transforma o resultado em uma validação independente da escolha das regras. O desempenho também depende bastante do Brasil e do iene, e a menor exposição explica parte da queda de risco. Os testes corrigidos para as alternativas principais não sustentam ganho de retorno médio sobre o carry. Finalmente, taxas oficiais e séries revisadas são aproximações da informação e dos preços disponíveis para um investidor. Por isso, a próxima validação teria de congelar as regras e acompanhar dados futuros e custos executáveis.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Vazamento temporal ocorre quando a decisão usa informação que só seria conhecida depois. O projeto controla defasagens, maturação dos alvos e atraso de execução. Seleção de modelos é outro problema: depois de testar muitas ideias, as que parecem melhores podem ser apenas as que tiveram sorte nessa história. Um backtest pode respeitar o calendário e ainda sofrer com seleção retrospectiva. Além disso, os dados macroeconômicos disponíveis foram revisados e as taxas são proxies, não cotações executáveis. A dependência de países também limita a generalização.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Explique quatro limites em linguagem simples: mesma história explorada, exposição menor, concentração por país e dados sem todas as versões históricas. A atribuição de BRL e JPY representa cerca de 86% da contribuição por moeda antes de custos de negociação. Na sensibilidade sem BRL, o excesso da combinação cai de 3,17% para aproximadamente 0,65% ao ano. O teste corrigido para a grade principal não estabelece ganho de retorno médio sobre carry.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Conceito ou síntese dos testes apresentados.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Evite ‘não houve nenhum vazamento’ como certificação absoluta. Diga quais controles existem e quais limitações permanecem.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Então o trabalho não tem valor? Tem. Reproduz a relação da aula, mostra onde extensões preditivas falham e documenta uma hipótese de controle de risco com resultados e limites transparentes.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Com esses limites, a conclusão fica mais simples e mais defensável.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synthesis/tables/search_adjustment.csv</a:t>
            </a:r>
          </a:p>
          <a:p xmlns:a="http://schemas.openxmlformats.org/drawingml/2006/main">
            <a:r>
              <a:t>synthesis/tables/robustness.csv</a:t>
            </a:r>
          </a:p>
          <a:p xmlns:a="http://schemas.openxmlformats.org/drawingml/2006/main">
            <a:r>
              <a:t>synthesis/PROTOCOL.md</a:t>
            </a:r>
          </a:p>
          <a:p xmlns:a="http://schemas.openxmlformats.org/drawingml/2006/main">
            <a:r>
              <a:t>AUDITORIA.md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35 segundos.</a:t>
            </a:r>
          </a:p>
          <a:p xmlns:a="http://schemas.openxmlformats.org/drawingml/2006/main">
            <a:r>
              <a:t>Ideia central: A relação histórica foi parcialmente replicada. As aplicações mensais posteriores não validam uma estratégia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relação histórica da aula aparece na replicação parcial, e os testes preditivos variam por moeda e horizonte. As carteiras posteriores ficam como referências exploratórias. A conversão de uma previsão de cinco anos em sinal mensal e os filtros de doze meses não demonstram a captura do ajuste de longo prazo. Portanto, o trabalho ainda não estabelece uma estratégia econômica validada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conclusão deve separar o que foi reproduzido do que ficou como hipótese. A relação histórica brasileira apresentada na aula foi recuperada. Somar a previsão ao ranking mensal falhou, enquanto regras de exposição apresentaram risco histórico menor. Nenhuma dessas etapas prova arbitragem, ganho causal de uma variável ou alfa persistente.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Separe a evidência preditiva do resultado das carteiras. Encerre sem apresentar os filtros mensais como a conclusão econômica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Conceito ou síntese dos testes apresentados.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Encerre no slide 14. Os slides 15 e 16 são apoio para perguntas e ficam fora dos 15 minutos e 30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O que falta para a conclusão econômica? Um desenho de investimento explicitamente alinhado ao horizonte previsto, com regras de manutenção e saída justificadas, financiamento, custos e comparação adequada.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Obrigado. Posso detalhar a metodologia ou os resultados nas perguntas.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Relatórios original e síntese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A regressão usa o desvio do câmbio real para prever a mudança futura do câmbio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Esta é a forma simplificada da regressão. A variável prevista é a mudança futura do log da cotação nominal. O regressor é o desvio do câmbio real em relação à sua média histórica disponível. Um alvo só entra no treinamento depois de terminar. Não treino uma previsão de cinco anos com resultados que ainda não poderiam ser conhecidos.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EJR implementado, Δs(t,t+h) = β_h × [q_t − média histórica de q] + erro, com coeficiente agrupado e sem intercepto adicional. A média é calculada com dados disponíveis na origem. Cada regressão em t só usa alvos j+h que terminaram até t−1. A observação atual do CPI entra com dois meses de atraso. A previsão mensal usada no sinal de carry é a previsão de Δs em 60 meses dividida por 60, uma aproximação de ritmo médio, não uma trajetória estimada.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Use somente se houver pergunta técnica. Explique cada letra antes de interpretar o coeficiente. A variável prevista é nominal. O câmbio real é o regressor.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Janela de treinamento começa em out/1999 no EJR nominal. Para horizonte h, uma origem j só entra se j+h ≤ t−1. Mínimo 60 origens maduras por moeda. CPI defasado em dois meses. As janelas de avaliação variam por horizonte.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equação simplificada do slide omite índices de país para legibilidade. O exercício de dispersão da aula tem ajuste dentro da amostra e intercepto, diferentemente da previsão agrupada.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Há identificação causal? Não. Há uma avaliação preditiva condicional, sem uma fonte exógena de variação que identifique um efeito causal.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O segundo apoio detalha a comparação econômica e o calendário de negociação.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Comparações econômicas precisam manter datas, numerário e custos consistentes, além de distinguir controle retrospectivo de estratégia executável.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controle com o mesmo tamanho médio ajuda a separar exposição e seleção. Ele tem volatilidade até um pouco menor que a combinação, mas retorno menor e drawdown maior na história. Como usa a exposição média conhecida ao final, eu o trato como diagnóstico. Os retornos da simulação incluem juros, variação cambial e os custos definidos, sempre em dólar. Para execução real ainda faltariam cotações negociáveis, vintages históricas e outras fricções específicas do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controle retrospectivo, o carry é escalado pela exposição média realizada da combinação, conhecida ao final. Serve para investigar quanto da melhora decorre de menor tamanho, não como regra que poderia ser escolhida antecipadamente. O controle estimado apenas com história passada tem outra exposição média e não iguala ex post o risco. O backtest calcula o ativo local em dólar como (1+i_local) × S_anterior/S_atual − 1. Soma o caixa USD e o resultado das posições, descontando financiamento adicional e negociação. Custos por notional: 10 pontos-base para BRL, 3 para SEK e 2 para as demais moedas, além de 50 pontos-base anuais de spread na ponta vendida. Um ponto-base é 0,01 ponto percentual.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compara, em 2018–2026, carry a 100%, carry reduzido retrospectivamente a 48% e combinação. O calendário é sinal no fechamento de t, execução no fechamento de t+1 e primeiro retorno em t+2. As taxas curtas são proxies, não contratos a termo efetivamente negociados.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Treino mensal expansivo da combinação, com primeiro sinal em fev/2018. Backtest comum: abr/2018–ago/2026. A exposição média do controle retrospectivo só é conhecida ao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Drawdown é uma estatística da trajetória observada, não um limite de perda futura. Custos assumidos não são custos garantidos para qualquer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não é arbitragem? Porque há risco de perda, incerteza de convergência e custos de financiamento. Nenhum resultado positivo é garantido.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Esses detalhes sustentam a leitura cautelosa dos resultados principais.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synthesis/tables/exposure_controls.csv</a:t>
            </a:r>
          </a:p>
          <a:p xmlns:a="http://schemas.openxmlformats.org/drawingml/2006/main">
            <a:r>
              <a:t>src/models.py: run_book</a:t>
            </a:r>
          </a:p>
          <a:p xmlns:a="http://schemas.openxmlformats.org/drawingml/2006/main">
            <a:r>
              <a:t>synthesis/model.py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aec329ed544a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61882c52c549a4" /><Relationship Type="http://schemas.openxmlformats.org/officeDocument/2006/relationships/slideLayout" Target="/ppt/slideLayouts/slideLayout1.xml" Id="R3eb934d3fce64f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b934d3fce64f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6fcd4498a430c" /><Relationship Type="http://schemas.openxmlformats.org/officeDocument/2006/relationships/notesSlide" Target="/ppt/notesSlides/notesSlide1.xml" Id="R3893e5f5fb1246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a2a92469042bb" /><Relationship Type="http://schemas.openxmlformats.org/officeDocument/2006/relationships/notesSlide" Target="/ppt/notesSlides/notesSlide2.xml" Id="R07045c3636644b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b7bec508148f5" /><Relationship Type="http://schemas.openxmlformats.org/officeDocument/2006/relationships/chart" Target="/ppt/slides/charts/chart1.xml" Id="R5c3b050e017c4206" /><Relationship Type="http://schemas.openxmlformats.org/officeDocument/2006/relationships/notesSlide" Target="/ppt/notesSlides/notesSlide3.xml" Id="Rfa794ef363c644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5c803c644482b" /><Relationship Type="http://schemas.openxmlformats.org/officeDocument/2006/relationships/notesSlide" Target="/ppt/notesSlides/notesSlide4.xml" Id="R47197287c97142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1917f25344917" /><Relationship Type="http://schemas.openxmlformats.org/officeDocument/2006/relationships/notesSlide" Target="/ppt/notesSlides/notesSlide5.xml" Id="R07bc090a4eb74c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26a59009e4cc3" /><Relationship Type="http://schemas.openxmlformats.org/officeDocument/2006/relationships/notesSlide" Target="/ppt/notesSlides/notesSlide6.xml" Id="Rc139d09bc1f444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dac7a03d94f60" /><Relationship Type="http://schemas.openxmlformats.org/officeDocument/2006/relationships/chart" Target="/ppt/slides/charts/chart2.xml" Id="Rbcafb90420c045e2" /><Relationship Type="http://schemas.openxmlformats.org/officeDocument/2006/relationships/notesSlide" Target="/ppt/notesSlides/notesSlide7.xml" Id="R032dccadca0845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40be70af04817" /><Relationship Type="http://schemas.openxmlformats.org/officeDocument/2006/relationships/notesSlide" Target="/ppt/notesSlides/notesSlide8.xml" Id="R793acbc085ce4b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58f657ecf478e" /><Relationship Type="http://schemas.openxmlformats.org/officeDocument/2006/relationships/notesSlide" Target="/ppt/notesSlides/notesSlide9.xml" Id="R37d29bf021ab45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a64938e254879" /><Relationship Type="http://schemas.openxmlformats.org/officeDocument/2006/relationships/notesSlide" Target="/ppt/notesSlides/notesSlide10.xml" Id="R801d0a40ffdd4c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6f83ff6c64b9e" /><Relationship Type="http://schemas.openxmlformats.org/officeDocument/2006/relationships/chart" Target="/ppt/slides/charts/chart3.xml" Id="Ra049e8e130da4b1c" /><Relationship Type="http://schemas.openxmlformats.org/officeDocument/2006/relationships/chart" Target="/ppt/slides/charts/chart4.xml" Id="Rbb656fb166d049de" /><Relationship Type="http://schemas.openxmlformats.org/officeDocument/2006/relationships/notesSlide" Target="/ppt/notesSlides/notesSlide11.xml" Id="Rdd13d8cad61e4f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c9fb4349140b1" /><Relationship Type="http://schemas.openxmlformats.org/officeDocument/2006/relationships/chart" Target="/ppt/slides/charts/chart5.xml" Id="R87a3583ec363461d" /><Relationship Type="http://schemas.openxmlformats.org/officeDocument/2006/relationships/notesSlide" Target="/ppt/notesSlides/notesSlide12.xml" Id="R04679c29c608407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6df84d0de4e5a" /><Relationship Type="http://schemas.openxmlformats.org/officeDocument/2006/relationships/notesSlide" Target="/ppt/notesSlides/notesSlide13.xml" Id="R00065d51f5874f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01f0412694f81" /><Relationship Type="http://schemas.openxmlformats.org/officeDocument/2006/relationships/notesSlide" Target="/ppt/notesSlides/notesSlide14.xml" Id="R1b6c4010db0e4aa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c826501f4435f" /><Relationship Type="http://schemas.openxmlformats.org/officeDocument/2006/relationships/notesSlide" Target="/ppt/notesSlides/notesSlide15.xml" Id="Rb249c75cf204400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c862075a1418b" /><Relationship Type="http://schemas.openxmlformats.org/officeDocument/2006/relationships/notesSlide" Target="/ppt/notesSlides/notesSlide16.xml" Id="R4961e1e649f247a9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Origens mensais</c:v>
          </c:tx>
          <c:spPr>
            <a:solidFill xmlns:a="http://schemas.openxmlformats.org/drawingml/2006/main">
              <a:srgbClr val="007F7B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280"/>
              <c:pt idx="0">
                <c:v>-0.359307655444</c:v>
              </c:pt>
              <c:pt idx="1">
                <c:v>-0.374266636785</c:v>
              </c:pt>
              <c:pt idx="2">
                <c:v>-0.331468382338</c:v>
              </c:pt>
              <c:pt idx="3">
                <c:v>-0.33137094552</c:v>
              </c:pt>
              <c:pt idx="4">
                <c:v>-0.366938259136</c:v>
              </c:pt>
              <c:pt idx="5">
                <c:v>-0.3689873409</c:v>
              </c:pt>
              <c:pt idx="6">
                <c:v>-0.374938831676</c:v>
              </c:pt>
              <c:pt idx="7">
                <c:v>-0.36871430945</c:v>
              </c:pt>
              <c:pt idx="8">
                <c:v>-0.365858692307</c:v>
              </c:pt>
              <c:pt idx="9">
                <c:v>-0.370035229996</c:v>
              </c:pt>
              <c:pt idx="10">
                <c:v>-0.379478190209</c:v>
              </c:pt>
              <c:pt idx="11">
                <c:v>-0.388584108336</c:v>
              </c:pt>
              <c:pt idx="12">
                <c:v>-0.390327843331</c:v>
              </c:pt>
              <c:pt idx="13">
                <c:v>-0.391887928221</c:v>
              </c:pt>
              <c:pt idx="14">
                <c:v>-0.387077824606</c:v>
              </c:pt>
              <c:pt idx="15">
                <c:v>-0.391598835669</c:v>
              </c:pt>
              <c:pt idx="16">
                <c:v>-0.396667758552</c:v>
              </c:pt>
              <c:pt idx="17">
                <c:v>-0.400570953593</c:v>
              </c:pt>
              <c:pt idx="18">
                <c:v>-0.404119996514</c:v>
              </c:pt>
              <c:pt idx="19">
                <c:v>-0.400802560049</c:v>
              </c:pt>
              <c:pt idx="20">
                <c:v>-0.393320719066</c:v>
              </c:pt>
              <c:pt idx="21">
                <c:v>-0.387476615066</c:v>
              </c:pt>
              <c:pt idx="22">
                <c:v>-0.382359026203</c:v>
              </c:pt>
              <c:pt idx="23">
                <c:v>-0.37785660079</c:v>
              </c:pt>
              <c:pt idx="24">
                <c:v>-0.382319581964</c:v>
              </c:pt>
              <c:pt idx="25">
                <c:v>-0.379308853574</c:v>
              </c:pt>
              <c:pt idx="26">
                <c:v>-0.376742345228</c:v>
              </c:pt>
              <c:pt idx="27">
                <c:v>-0.38091150437</c:v>
              </c:pt>
              <c:pt idx="28">
                <c:v>-0.378052126787</c:v>
              </c:pt>
              <c:pt idx="29">
                <c:v>-0.375683284926</c:v>
              </c:pt>
              <c:pt idx="30">
                <c:v>-0.370972727657</c:v>
              </c:pt>
              <c:pt idx="31">
                <c:v>-0.361641793224</c:v>
              </c:pt>
              <c:pt idx="32">
                <c:v>-0.354531365986</c:v>
              </c:pt>
              <c:pt idx="33">
                <c:v>-0.349043334108</c:v>
              </c:pt>
              <c:pt idx="34">
                <c:v>-0.342980731865</c:v>
              </c:pt>
              <c:pt idx="35">
                <c:v>-0.340979884365</c:v>
              </c:pt>
              <c:pt idx="36">
                <c:v>-0.34117808242</c:v>
              </c:pt>
              <c:pt idx="37">
                <c:v>-0.339358968095</c:v>
              </c:pt>
              <c:pt idx="38">
                <c:v>-0.336914543387</c:v>
              </c:pt>
              <c:pt idx="39">
                <c:v>-0.331484141222</c:v>
              </c:pt>
              <c:pt idx="40">
                <c:v>-0.32798056554</c:v>
              </c:pt>
              <c:pt idx="41">
                <c:v>-0.321305727561</c:v>
              </c:pt>
              <c:pt idx="42">
                <c:v>-0.31169270844</c:v>
              </c:pt>
              <c:pt idx="43">
                <c:v>-0.296611506693</c:v>
              </c:pt>
              <c:pt idx="44">
                <c:v>-0.285976101293</c:v>
              </c:pt>
              <c:pt idx="45">
                <c:v>-0.277401580902</c:v>
              </c:pt>
              <c:pt idx="46">
                <c:v>-0.270531485467</c:v>
              </c:pt>
              <c:pt idx="47">
                <c:v>-0.262245832943</c:v>
              </c:pt>
              <c:pt idx="48">
                <c:v>-0.0474787809548</c:v>
              </c:pt>
              <c:pt idx="49">
                <c:v>0.184383528888</c:v>
              </c:pt>
              <c:pt idx="50">
                <c:v>0.165180283977</c:v>
              </c:pt>
              <c:pt idx="51">
                <c:v>0.0532318559996</c:v>
              </c:pt>
              <c:pt idx="52">
                <c:v>0.0445622714341</c:v>
              </c:pt>
              <c:pt idx="53">
                <c:v>0.0901664081361</c:v>
              </c:pt>
              <c:pt idx="54">
                <c:v>0.103109410436</c:v>
              </c:pt>
              <c:pt idx="55">
                <c:v>0.143612408271</c:v>
              </c:pt>
              <c:pt idx="56">
                <c:v>0.153906899668</c:v>
              </c:pt>
              <c:pt idx="57">
                <c:v>0.180789711886</c:v>
              </c:pt>
              <c:pt idx="58">
                <c:v>0.152806099183</c:v>
              </c:pt>
              <c:pt idx="59">
                <c:v>0.103014473836</c:v>
              </c:pt>
              <c:pt idx="60">
                <c:v>0.0783452783526</c:v>
              </c:pt>
              <c:pt idx="61">
                <c:v>0.0653015825687</c:v>
              </c:pt>
              <c:pt idx="62">
                <c:v>0.0500335741773</c:v>
              </c:pt>
              <c:pt idx="63">
                <c:v>0.060185604737</c:v>
              </c:pt>
              <c:pt idx="64">
                <c:v>0.0950451702736</c:v>
              </c:pt>
              <c:pt idx="65">
                <c:v>0.0877913499793</c:v>
              </c:pt>
              <c:pt idx="66">
                <c:v>0.068895491377</c:v>
              </c:pt>
              <c:pt idx="67">
                <c:v>0.0622016177639</c:v>
              </c:pt>
              <c:pt idx="68">
                <c:v>0.0815480116341</c:v>
              </c:pt>
              <c:pt idx="69">
                <c:v>0.103603903634</c:v>
              </c:pt>
              <c:pt idx="70">
                <c:v>0.13787687277</c:v>
              </c:pt>
              <c:pt idx="71">
                <c:v>0.142111314301</c:v>
              </c:pt>
              <c:pt idx="72">
                <c:v>0.137646210956</c:v>
              </c:pt>
              <c:pt idx="73">
                <c:v>0.159294395804</c:v>
              </c:pt>
              <c:pt idx="74">
                <c:v>0.198658371008</c:v>
              </c:pt>
              <c:pt idx="75">
                <c:v>0.242934217013</c:v>
              </c:pt>
              <c:pt idx="76">
                <c:v>0.290580213361</c:v>
              </c:pt>
              <c:pt idx="77">
                <c:v>0.321290441619</c:v>
              </c:pt>
              <c:pt idx="78">
                <c:v>0.343651626731</c:v>
              </c:pt>
              <c:pt idx="79">
                <c:v>0.354600376654</c:v>
              </c:pt>
              <c:pt idx="80">
                <c:v>0.417935615293</c:v>
              </c:pt>
              <c:pt idx="81">
                <c:v>0.432174447653</c:v>
              </c:pt>
              <c:pt idx="82">
                <c:v>0.349889211202</c:v>
              </c:pt>
              <c:pt idx="83">
                <c:v>0.269267929651</c:v>
              </c:pt>
              <c:pt idx="84">
                <c:v>0.272183780601</c:v>
              </c:pt>
              <c:pt idx="85">
                <c:v>0.287661552234</c:v>
              </c:pt>
              <c:pt idx="86">
                <c:v>0.25384976624</c:v>
              </c:pt>
              <c:pt idx="87">
                <c:v>0.239125488585</c:v>
              </c:pt>
              <c:pt idx="88">
                <c:v>0.304822770704</c:v>
              </c:pt>
              <c:pt idx="89">
                <c:v>0.391192237944</c:v>
              </c:pt>
              <c:pt idx="90">
                <c:v>0.459734777591</c:v>
              </c:pt>
              <c:pt idx="91">
                <c:v>0.5141134606</c:v>
              </c:pt>
              <c:pt idx="92">
                <c:v>0.580514477196</c:v>
              </c:pt>
              <c:pt idx="93">
                <c:v>0.699692549821</c:v>
              </c:pt>
              <c:pt idx="94">
                <c:v>0.609398065421</c:v>
              </c:pt>
              <c:pt idx="95">
                <c:v>0.604012879752</c:v>
              </c:pt>
              <c:pt idx="96">
                <c:v>0.533056770787</c:v>
              </c:pt>
              <c:pt idx="97">
                <c:v>0.566309022844</c:v>
              </c:pt>
              <c:pt idx="98">
                <c:v>0.514816964124</c:v>
              </c:pt>
              <c:pt idx="99">
                <c:v>0.401290999671</c:v>
              </c:pt>
              <c:pt idx="100">
                <c:v>0.339889893625</c:v>
              </c:pt>
              <c:pt idx="101">
                <c:v>0.317649195029</c:v>
              </c:pt>
              <c:pt idx="102">
                <c:v>0.317742791767</c:v>
              </c:pt>
              <c:pt idx="103">
                <c:v>0.360418457638</c:v>
              </c:pt>
              <c:pt idx="104">
                <c:v>0.328992262436</c:v>
              </c:pt>
              <c:pt idx="105">
                <c:v>0.303819280069</c:v>
              </c:pt>
              <c:pt idx="106">
                <c:v>0.319077842057</c:v>
              </c:pt>
              <c:pt idx="107">
                <c:v>0.320529340629</c:v>
              </c:pt>
              <c:pt idx="108">
                <c:v>0.291814805031</c:v>
              </c:pt>
              <c:pt idx="109">
                <c:v>0.315032540656</c:v>
              </c:pt>
              <c:pt idx="110">
                <c:v>0.303984419569</c:v>
              </c:pt>
              <c:pt idx="111">
                <c:v>0.30206545687</c:v>
              </c:pt>
              <c:pt idx="112">
                <c:v>0.365991845446</c:v>
              </c:pt>
              <c:pt idx="113">
                <c:v>0.371843766973</c:v>
              </c:pt>
              <c:pt idx="114">
                <c:v>0.333902029807</c:v>
              </c:pt>
              <c:pt idx="115">
                <c:v>0.316328565801</c:v>
              </c:pt>
              <c:pt idx="116">
                <c:v>0.278258792539</c:v>
              </c:pt>
              <c:pt idx="117">
                <c:v>0.265822285327</c:v>
              </c:pt>
              <c:pt idx="118">
                <c:v>0.239922726989</c:v>
              </c:pt>
              <c:pt idx="119">
                <c:v>0.20672251751</c:v>
              </c:pt>
              <c:pt idx="120">
                <c:v>0.19110340553</c:v>
              </c:pt>
              <c:pt idx="121">
                <c:v>0.153396534228</c:v>
              </c:pt>
              <c:pt idx="122">
                <c:v>0.191272782542</c:v>
              </c:pt>
              <c:pt idx="123">
                <c:v>0.138201063354</c:v>
              </c:pt>
              <c:pt idx="124">
                <c:v>0.0825475895159</c:v>
              </c:pt>
              <c:pt idx="125">
                <c:v>0.067111752072</c:v>
              </c:pt>
              <c:pt idx="126">
                <c:v>0.0540785908648</c:v>
              </c:pt>
              <c:pt idx="127">
                <c:v>0.0530683259216</c:v>
              </c:pt>
              <c:pt idx="128">
                <c:v>0.0348045450978</c:v>
              </c:pt>
              <c:pt idx="129">
                <c:v>0.0121840159686</c:v>
              </c:pt>
              <c:pt idx="130">
                <c:v>-0.0187966709356</c:v>
              </c:pt>
              <c:pt idx="131">
                <c:v>0.010840171367</c:v>
              </c:pt>
              <c:pt idx="132">
                <c:v>0.00590838192101</c:v>
              </c:pt>
              <c:pt idx="133">
                <c:v>-0.0481905599826</c:v>
              </c:pt>
              <c:pt idx="134">
                <c:v>-0.0555677808844</c:v>
              </c:pt>
              <c:pt idx="135">
                <c:v>-0.0632749186754</c:v>
              </c:pt>
              <c:pt idx="136">
                <c:v>-0.0386296922362</c:v>
              </c:pt>
              <c:pt idx="137">
                <c:v>-0.00232527092479</c:v>
              </c:pt>
              <c:pt idx="138">
                <c:v>-0.0253798463493</c:v>
              </c:pt>
              <c:pt idx="139">
                <c:v>-0.0368274356834</c:v>
              </c:pt>
              <c:pt idx="140">
                <c:v>-0.0379244429267</c:v>
              </c:pt>
              <c:pt idx="141">
                <c:v>-0.0551178342678</c:v>
              </c:pt>
              <c:pt idx="142">
                <c:v>-0.0532591722322</c:v>
              </c:pt>
              <c:pt idx="143">
                <c:v>-0.0563311149082</c:v>
              </c:pt>
              <c:pt idx="144">
                <c:v>-0.0643802378984</c:v>
              </c:pt>
              <c:pt idx="145">
                <c:v>-0.0848304997633</c:v>
              </c:pt>
              <c:pt idx="146">
                <c:v>-0.0869690472163</c:v>
              </c:pt>
              <c:pt idx="147">
                <c:v>-0.113991091096</c:v>
              </c:pt>
              <c:pt idx="148">
                <c:v>-0.137778632264</c:v>
              </c:pt>
              <c:pt idx="149">
                <c:v>-0.163661271963</c:v>
              </c:pt>
              <c:pt idx="150">
                <c:v>-0.190023328168</c:v>
              </c:pt>
              <c:pt idx="151">
                <c:v>-0.151163093274</c:v>
              </c:pt>
              <c:pt idx="152">
                <c:v>-0.183090559002</c:v>
              </c:pt>
              <c:pt idx="153">
                <c:v>-0.236308845079</c:v>
              </c:pt>
              <c:pt idx="154">
                <c:v>-0.249692497615</c:v>
              </c:pt>
              <c:pt idx="155">
                <c:v>-0.245115993901</c:v>
              </c:pt>
              <c:pt idx="156">
                <c:v>-0.253632194317</c:v>
              </c:pt>
              <c:pt idx="157">
                <c:v>-0.282720254501</c:v>
              </c:pt>
              <c:pt idx="158">
                <c:v>-0.295639297637</c:v>
              </c:pt>
              <c:pt idx="159">
                <c:v>-0.309823967362</c:v>
              </c:pt>
              <c:pt idx="160">
                <c:v>-0.32875154128</c:v>
              </c:pt>
              <c:pt idx="161">
                <c:v>-0.351072432382</c:v>
              </c:pt>
              <c:pt idx="162">
                <c:v>-0.366375145721</c:v>
              </c:pt>
              <c:pt idx="163">
                <c:v>-0.357613218605</c:v>
              </c:pt>
              <c:pt idx="164">
                <c:v>-0.249452431156</c:v>
              </c:pt>
              <c:pt idx="165">
                <c:v>-0.0740796899258</c:v>
              </c:pt>
              <c:pt idx="166">
                <c:v>-0.0534514546933</c:v>
              </c:pt>
              <c:pt idx="167">
                <c:v>-0.00953101521573</c:v>
              </c:pt>
              <c:pt idx="168">
                <c:v>-0.0488032856606</c:v>
              </c:pt>
              <c:pt idx="169">
                <c:v>-0.0483578500196</c:v>
              </c:pt>
              <c:pt idx="170">
                <c:v>-0.050868101762</c:v>
              </c:pt>
              <c:pt idx="171">
                <c:v>-0.102405648466</c:v>
              </c:pt>
              <c:pt idx="172">
                <c:v>-0.173617033912</c:v>
              </c:pt>
              <c:pt idx="173">
                <c:v>-0.220368757016</c:v>
              </c:pt>
              <c:pt idx="174">
                <c:v>-0.235813395859</c:v>
              </c:pt>
              <c:pt idx="175">
                <c:v>-0.280351468249</c:v>
              </c:pt>
              <c:pt idx="176">
                <c:v>-0.294680635143</c:v>
              </c:pt>
              <c:pt idx="177">
                <c:v>-0.340240742426</c:v>
              </c:pt>
              <c:pt idx="178">
                <c:v>-0.348032052941</c:v>
              </c:pt>
              <c:pt idx="179">
                <c:v>-0.337340442613</c:v>
              </c:pt>
              <c:pt idx="180">
                <c:v>-0.32745013895</c:v>
              </c:pt>
              <c:pt idx="181">
                <c:v>-0.302038345546</c:v>
              </c:pt>
              <c:pt idx="182">
                <c:v>-0.337661823872</c:v>
              </c:pt>
              <c:pt idx="183">
                <c:v>-0.359601997863</c:v>
              </c:pt>
              <c:pt idx="184">
                <c:v>-0.332699568861</c:v>
              </c:pt>
              <c:pt idx="185">
                <c:v>-0.336820420217</c:v>
              </c:pt>
              <c:pt idx="186">
                <c:v>-0.355690645816</c:v>
              </c:pt>
              <c:pt idx="187">
                <c:v>-0.360297290964</c:v>
              </c:pt>
              <c:pt idx="188">
                <c:v>-0.386691569318</c:v>
              </c:pt>
              <c:pt idx="189">
                <c:v>-0.411381016936</c:v>
              </c:pt>
              <c:pt idx="190">
                <c:v>-0.399569748756</c:v>
              </c:pt>
              <c:pt idx="191">
                <c:v>-0.413524448405</c:v>
              </c:pt>
              <c:pt idx="192">
                <c:v>-0.429537278165</c:v>
              </c:pt>
              <c:pt idx="193">
                <c:v>-0.438424286629</c:v>
              </c:pt>
              <c:pt idx="194">
                <c:v>-0.446483050891</c:v>
              </c:pt>
              <c:pt idx="195">
                <c:v>-0.49427842959</c:v>
              </c:pt>
              <c:pt idx="196">
                <c:v>-0.478852320998</c:v>
              </c:pt>
              <c:pt idx="197">
                <c:v>-0.496911488088</c:v>
              </c:pt>
              <c:pt idx="198">
                <c:v>-0.510556339017</c:v>
              </c:pt>
              <c:pt idx="199">
                <c:v>-0.490155845793</c:v>
              </c:pt>
              <c:pt idx="200">
                <c:v>-0.401898030309</c:v>
              </c:pt>
              <c:pt idx="201">
                <c:v>-0.392567932417</c:v>
              </c:pt>
              <c:pt idx="202">
                <c:v>-0.38586079909</c:v>
              </c:pt>
              <c:pt idx="203">
                <c:v>-0.365026202645</c:v>
              </c:pt>
              <c:pt idx="204">
                <c:v>-0.393921448911</c:v>
              </c:pt>
              <c:pt idx="205">
                <c:v>-0.436930571855</c:v>
              </c:pt>
              <c:pt idx="206">
                <c:v>-0.393158574244</c:v>
              </c:pt>
              <c:pt idx="207">
                <c:v>-0.365274035801</c:v>
              </c:pt>
              <c:pt idx="208">
                <c:v>-0.302592200994</c:v>
              </c:pt>
              <c:pt idx="209">
                <c:v>-0.272891678502</c:v>
              </c:pt>
              <c:pt idx="210">
                <c:v>-0.286947970947</c:v>
              </c:pt>
              <c:pt idx="211">
                <c:v>-0.284901882069</c:v>
              </c:pt>
              <c:pt idx="212">
                <c:v>-0.286466567359</c:v>
              </c:pt>
              <c:pt idx="213">
                <c:v>-0.288818193908</c:v>
              </c:pt>
              <c:pt idx="214">
                <c:v>-0.277933047622</c:v>
              </c:pt>
              <c:pt idx="215">
                <c:v>-0.281098693452</c:v>
              </c:pt>
              <c:pt idx="216">
                <c:v>-0.310415217785</c:v>
              </c:pt>
              <c:pt idx="217">
                <c:v>-0.339852301636</c:v>
              </c:pt>
              <c:pt idx="218">
                <c:v>-0.342554452125</c:v>
              </c:pt>
              <c:pt idx="219">
                <c:v>-0.340392955651</c:v>
              </c:pt>
              <c:pt idx="220">
                <c:v>-0.327521099774</c:v>
              </c:pt>
              <c:pt idx="221">
                <c:v>-0.262028978792</c:v>
              </c:pt>
              <c:pt idx="222">
                <c:v>-0.224574579807</c:v>
              </c:pt>
              <c:pt idx="223">
                <c:v>-0.18540411643</c:v>
              </c:pt>
              <c:pt idx="224">
                <c:v>-0.219611719089</c:v>
              </c:pt>
              <c:pt idx="225">
                <c:v>-0.261498449247</c:v>
              </c:pt>
              <c:pt idx="226">
                <c:v>-0.217396080816</c:v>
              </c:pt>
              <c:pt idx="227">
                <c:v>-0.202321860585</c:v>
              </c:pt>
              <c:pt idx="228">
                <c:v>-0.18985971742</c:v>
              </c:pt>
              <c:pt idx="229">
                <c:v>-0.195006376258</c:v>
              </c:pt>
              <c:pt idx="230">
                <c:v>-0.226585197827</c:v>
              </c:pt>
              <c:pt idx="231">
                <c:v>-0.272337044606</c:v>
              </c:pt>
              <c:pt idx="232">
                <c:v>-0.280369183563</c:v>
              </c:pt>
              <c:pt idx="233">
                <c:v>-0.276488546997</c:v>
              </c:pt>
              <c:pt idx="234">
                <c:v>-0.280351482111</c:v>
              </c:pt>
              <c:pt idx="235">
                <c:v>-0.263687114769</c:v>
              </c:pt>
              <c:pt idx="236">
                <c:v>-0.241085599806</c:v>
              </c:pt>
              <c:pt idx="237">
                <c:v>-0.197192960608</c:v>
              </c:pt>
              <c:pt idx="238">
                <c:v>-0.164092629142</c:v>
              </c:pt>
              <c:pt idx="239">
                <c:v>-0.139865835725</c:v>
              </c:pt>
              <c:pt idx="240">
                <c:v>-0.160552366924</c:v>
              </c:pt>
              <c:pt idx="241">
                <c:v>-0.103231661063</c:v>
              </c:pt>
              <c:pt idx="242">
                <c:v>-0.00508639839258</c:v>
              </c:pt>
              <c:pt idx="243">
                <c:v>-0.0422733343753</c:v>
              </c:pt>
              <c:pt idx="244">
                <c:v>-0.0402930451136</c:v>
              </c:pt>
              <c:pt idx="245">
                <c:v>-0.0291990229355</c:v>
              </c:pt>
              <c:pt idx="246">
                <c:v>0.00137960959785</c:v>
              </c:pt>
              <c:pt idx="247">
                <c:v>0.085674554535</c:v>
              </c:pt>
              <c:pt idx="248">
                <c:v>0.183840438663</c:v>
              </c:pt>
              <c:pt idx="249">
                <c:v>0.169881962843</c:v>
              </c:pt>
              <c:pt idx="250">
                <c:v>0.133963259765</c:v>
              </c:pt>
              <c:pt idx="251">
                <c:v>0.14807396432</c:v>
              </c:pt>
              <c:pt idx="252">
                <c:v>0.1807659781</c:v>
              </c:pt>
              <c:pt idx="253">
                <c:v>0.150864028996</c:v>
              </c:pt>
              <c:pt idx="254">
                <c:v>0.0793918085764</c:v>
              </c:pt>
              <c:pt idx="255">
                <c:v>0.039135779223</c:v>
              </c:pt>
              <c:pt idx="256">
                <c:v>0.0262678826108</c:v>
              </c:pt>
              <c:pt idx="257">
                <c:v>-0.00742738703313</c:v>
              </c:pt>
              <c:pt idx="258">
                <c:v>-0.0575721586057</c:v>
              </c:pt>
              <c:pt idx="259">
                <c:v>-0.0804385764101</c:v>
              </c:pt>
              <c:pt idx="260">
                <c:v>-0.0641736655088</c:v>
              </c:pt>
              <c:pt idx="261">
                <c:v>-0.0863491995116</c:v>
              </c:pt>
              <c:pt idx="262">
                <c:v>-0.0391033328545</c:v>
              </c:pt>
              <c:pt idx="263">
                <c:v>-0.0365002536801</c:v>
              </c:pt>
              <c:pt idx="264">
                <c:v>-0.0838170589645</c:v>
              </c:pt>
              <c:pt idx="265">
                <c:v>-0.114851947208</c:v>
              </c:pt>
              <c:pt idx="266">
                <c:v>-0.110210318578</c:v>
              </c:pt>
              <c:pt idx="267">
                <c:v>-0.107725924508</c:v>
              </c:pt>
              <c:pt idx="268">
                <c:v>-0.0884921212463</c:v>
              </c:pt>
              <c:pt idx="269">
                <c:v>-0.059125660868</c:v>
              </c:pt>
              <c:pt idx="270">
                <c:v>-0.0886675005861</c:v>
              </c:pt>
              <c:pt idx="271">
                <c:v>-0.104091577623</c:v>
              </c:pt>
              <c:pt idx="272">
                <c:v>-0.105719652578</c:v>
              </c:pt>
              <c:pt idx="273">
                <c:v>-0.0913044597371</c:v>
              </c:pt>
              <c:pt idx="274">
                <c:v>-0.0702899846741</c:v>
              </c:pt>
              <c:pt idx="275">
                <c:v>-0.0626538837862</c:v>
              </c:pt>
              <c:pt idx="276">
                <c:v>-0.086312432556</c:v>
              </c:pt>
              <c:pt idx="277">
                <c:v>-0.0772403034966</c:v>
              </c:pt>
              <c:pt idx="278">
                <c:v>-0.0663842502528</c:v>
              </c:pt>
              <c:pt idx="279">
                <c:v>-0.0276014183497</c:v>
              </c:pt>
            </c:numLit>
          </c:xVal>
          <c:yVal>
            <c:numLit>
              <c:formatCode>0.00</c:formatCode>
              <c:ptCount val="280"/>
              <c:pt idx="0">
                <c:v>1.40094277445</c:v>
              </c:pt>
              <c:pt idx="1">
                <c:v>1.45177647832</c:v>
              </c:pt>
              <c:pt idx="2">
                <c:v>1.35468347729</c:v>
              </c:pt>
              <c:pt idx="3">
                <c:v>1.23447796117</c:v>
              </c:pt>
              <c:pt idx="4">
                <c:v>1.19198909488</c:v>
              </c:pt>
              <c:pt idx="5">
                <c:v>1.14882549596</c:v>
              </c:pt>
              <c:pt idx="6">
                <c:v>1.13158269589</c:v>
              </c:pt>
              <c:pt idx="7">
                <c:v>1.15919527938</c:v>
              </c:pt>
              <c:pt idx="8">
                <c:v>1.12089232188</c:v>
              </c:pt>
              <c:pt idx="9">
                <c:v>1.09248050623</c:v>
              </c:pt>
              <c:pt idx="10">
                <c:v>1.10674465602</c:v>
              </c:pt>
              <c:pt idx="11">
                <c:v>1.10561036189</c:v>
              </c:pt>
              <c:pt idx="12">
                <c:v>1.0737811339</c:v>
              </c:pt>
              <c:pt idx="13">
                <c:v>1.09418569468</c:v>
              </c:pt>
              <c:pt idx="14">
                <c:v>1.08060300218</c:v>
              </c:pt>
              <c:pt idx="15">
                <c:v>1.0766259012</c:v>
              </c:pt>
              <c:pt idx="16">
                <c:v>1.13624221516</c:v>
              </c:pt>
              <c:pt idx="17">
                <c:v>1.13944626754</c:v>
              </c:pt>
              <c:pt idx="18">
                <c:v>1.10392802549</c:v>
              </c:pt>
              <c:pt idx="19">
                <c:v>1.08626747435</c:v>
              </c:pt>
              <c:pt idx="20">
                <c:v>1.04252093535</c:v>
              </c:pt>
              <c:pt idx="21">
                <c:v>1.02354585199</c:v>
              </c:pt>
              <c:pt idx="22">
                <c:v>0.99465979899</c:v>
              </c:pt>
              <c:pt idx="23">
                <c:v>0.963348713083</c:v>
              </c:pt>
              <c:pt idx="24">
                <c:v>0.948650519684</c:v>
              </c:pt>
              <c:pt idx="25">
                <c:v>0.906541657809</c:v>
              </c:pt>
              <c:pt idx="26">
                <c:v>0.939840155953</c:v>
              </c:pt>
              <c:pt idx="27">
                <c:v>0.888361668847</c:v>
              </c:pt>
              <c:pt idx="28">
                <c:v>0.831161629166</c:v>
              </c:pt>
              <c:pt idx="29">
                <c:v>0.809129476806</c:v>
              </c:pt>
              <c:pt idx="30">
                <c:v>0.786756679682</c:v>
              </c:pt>
              <c:pt idx="31">
                <c:v>0.774666591568</c:v>
              </c:pt>
              <c:pt idx="32">
                <c:v>0.740996364996</c:v>
              </c:pt>
              <c:pt idx="33">
                <c:v>0.718413855522</c:v>
              </c:pt>
              <c:pt idx="34">
                <c:v>0.691429821255</c:v>
              </c:pt>
              <c:pt idx="35">
                <c:v>0.718986808192</c:v>
              </c:pt>
              <c:pt idx="36">
                <c:v>0.708257023381</c:v>
              </c:pt>
              <c:pt idx="37">
                <c:v>0.651339502412</c:v>
              </c:pt>
              <c:pt idx="38">
                <c:v>0.640911022258</c:v>
              </c:pt>
              <c:pt idx="39">
                <c:v>0.623712946853</c:v>
              </c:pt>
              <c:pt idx="40">
                <c:v>0.640344535021</c:v>
              </c:pt>
              <c:pt idx="41">
                <c:v>0.66642041144</c:v>
              </c:pt>
              <c:pt idx="42">
                <c:v>0.633869584803</c:v>
              </c:pt>
              <c:pt idx="43">
                <c:v>0.60975258409</c:v>
              </c:pt>
              <c:pt idx="44">
                <c:v>0.607851050067</c:v>
              </c:pt>
              <c:pt idx="45">
                <c:v>0.592068967093</c:v>
              </c:pt>
              <c:pt idx="46">
                <c:v>0.59207779944</c:v>
              </c:pt>
              <c:pt idx="47">
                <c:v>0.578609867363</c:v>
              </c:pt>
              <c:pt idx="48">
                <c:v>0.353373675455</c:v>
              </c:pt>
              <c:pt idx="49">
                <c:v>0.0911353450538</c:v>
              </c:pt>
              <c:pt idx="50">
                <c:v>0.0963736071101</c:v>
              </c:pt>
              <c:pt idx="51">
                <c:v>0.181868903351</c:v>
              </c:pt>
              <c:pt idx="52">
                <c:v>0.163029639574</c:v>
              </c:pt>
              <c:pt idx="53">
                <c:v>0.0901266810124</c:v>
              </c:pt>
              <c:pt idx="54">
                <c:v>0.0448067128634</c:v>
              </c:pt>
              <c:pt idx="55">
                <c:v>0.0443569737591</c:v>
              </c:pt>
              <c:pt idx="56">
                <c:v>0.000789951854019</c:v>
              </c:pt>
              <c:pt idx="57">
                <c:v>-0.089437637235</c:v>
              </c:pt>
              <c:pt idx="58">
                <c:v>-0.0865451402884</c:v>
              </c:pt>
              <c:pt idx="59">
                <c:v>-0.0313076716253</c:v>
              </c:pt>
              <c:pt idx="60">
                <c:v>-0.0164341317466</c:v>
              </c:pt>
              <c:pt idx="61">
                <c:v>-0.027178378532</c:v>
              </c:pt>
              <c:pt idx="62">
                <c:v>-0.0199450025286</c:v>
              </c:pt>
              <c:pt idx="63">
                <c:v>-0.0458846505478</c:v>
              </c:pt>
              <c:pt idx="64">
                <c:v>-0.0960490051058</c:v>
              </c:pt>
              <c:pt idx="65">
                <c:v>-0.110640271143</c:v>
              </c:pt>
              <c:pt idx="66">
                <c:v>-0.121949563196</c:v>
              </c:pt>
              <c:pt idx="67">
                <c:v>-0.115223027634</c:v>
              </c:pt>
              <c:pt idx="68">
                <c:v>-0.021766276482</c:v>
              </c:pt>
              <c:pt idx="69">
                <c:v>0.145003692641</c:v>
              </c:pt>
              <c:pt idx="70">
                <c:v>0.151345340502</c:v>
              </c:pt>
              <c:pt idx="71">
                <c:v>0.198505946634</c:v>
              </c:pt>
              <c:pt idx="72">
                <c:v>0.16598694326</c:v>
              </c:pt>
              <c:pt idx="73">
                <c:v>0.144318943556</c:v>
              </c:pt>
              <c:pt idx="74">
                <c:v>0.102205712038</c:v>
              </c:pt>
              <c:pt idx="75">
                <c:v>0.00609314362395</c:v>
              </c:pt>
              <c:pt idx="76">
                <c:v>-0.108548209413</c:v>
              </c:pt>
              <c:pt idx="77">
                <c:v>-0.193614989727</c:v>
              </c:pt>
              <c:pt idx="78">
                <c:v>-0.243627675984</c:v>
              </c:pt>
              <c:pt idx="79">
                <c:v>-0.3079340957</c:v>
              </c:pt>
              <c:pt idx="80">
                <c:v>-0.383988368981</c:v>
              </c:pt>
              <c:pt idx="81">
                <c:v>-0.455065760477</c:v>
              </c:pt>
              <c:pt idx="82">
                <c:v>-0.387461348497</c:v>
              </c:pt>
              <c:pt idx="83">
                <c:v>-0.300017831073</c:v>
              </c:pt>
              <c:pt idx="84">
                <c:v>-0.289716746799</c:v>
              </c:pt>
              <c:pt idx="85">
                <c:v>-0.272967478265</c:v>
              </c:pt>
              <c:pt idx="86">
                <c:v>-0.273100977906</c:v>
              </c:pt>
              <c:pt idx="87">
                <c:v>-0.278359462109</c:v>
              </c:pt>
              <c:pt idx="88">
                <c:v>-0.313326597409</c:v>
              </c:pt>
              <c:pt idx="89">
                <c:v>-0.407032289807</c:v>
              </c:pt>
              <c:pt idx="90">
                <c:v>-0.505817625445</c:v>
              </c:pt>
              <c:pt idx="91">
                <c:v>-0.569568369523</c:v>
              </c:pt>
              <c:pt idx="92">
                <c:v>-0.665001239073</c:v>
              </c:pt>
              <c:pt idx="93">
                <c:v>-0.815677534606</c:v>
              </c:pt>
              <c:pt idx="94">
                <c:v>-0.735935372522</c:v>
              </c:pt>
              <c:pt idx="95">
                <c:v>-0.761364191127</c:v>
              </c:pt>
              <c:pt idx="96">
                <c:v>-0.719252784904</c:v>
              </c:pt>
              <c:pt idx="97">
                <c:v>-0.766749714964</c:v>
              </c:pt>
              <c:pt idx="98">
                <c:v>-0.731199989713</c:v>
              </c:pt>
              <c:pt idx="99">
                <c:v>-0.675948950102</c:v>
              </c:pt>
              <c:pt idx="100">
                <c:v>-0.605329776928</c:v>
              </c:pt>
              <c:pt idx="101">
                <c:v>-0.597055346888</c:v>
              </c:pt>
              <c:pt idx="102">
                <c:v>-0.610538145832</c:v>
              </c:pt>
              <c:pt idx="103">
                <c:v>-0.631318405739</c:v>
              </c:pt>
              <c:pt idx="104">
                <c:v>-0.513040565245</c:v>
              </c:pt>
              <c:pt idx="105">
                <c:v>-0.478898567545</c:v>
              </c:pt>
              <c:pt idx="106">
                <c:v>-0.486963160781</c:v>
              </c:pt>
              <c:pt idx="107">
                <c:v>-0.465317671357</c:v>
              </c:pt>
              <c:pt idx="108">
                <c:v>-0.465902365825</c:v>
              </c:pt>
              <c:pt idx="109">
                <c:v>-0.533711181534</c:v>
              </c:pt>
              <c:pt idx="110">
                <c:v>-0.481433353638</c:v>
              </c:pt>
              <c:pt idx="111">
                <c:v>-0.449000691613</c:v>
              </c:pt>
              <c:pt idx="112">
                <c:v>-0.445408569802</c:v>
              </c:pt>
              <c:pt idx="113">
                <c:v>-0.423295950186</c:v>
              </c:pt>
              <c:pt idx="114">
                <c:v>-0.403409135608</c:v>
              </c:pt>
              <c:pt idx="115">
                <c:v>-0.391838305551</c:v>
              </c:pt>
              <c:pt idx="116">
                <c:v>-0.354537658365</c:v>
              </c:pt>
              <c:pt idx="117">
                <c:v>-0.340398754761</c:v>
              </c:pt>
              <c:pt idx="118">
                <c:v>-0.298121635187</c:v>
              </c:pt>
              <c:pt idx="119">
                <c:v>-0.268660254885</c:v>
              </c:pt>
              <c:pt idx="120">
                <c:v>-0.282078295614</c:v>
              </c:pt>
              <c:pt idx="121">
                <c:v>-0.274957664798</c:v>
              </c:pt>
              <c:pt idx="122">
                <c:v>-0.310481013254</c:v>
              </c:pt>
              <c:pt idx="123">
                <c:v>-0.253232697327</c:v>
              </c:pt>
              <c:pt idx="124">
                <c:v>-0.186832695169</c:v>
              </c:pt>
              <c:pt idx="125">
                <c:v>-0.104969274844</c:v>
              </c:pt>
              <c:pt idx="126">
                <c:v>-0.0524581427284</c:v>
              </c:pt>
              <c:pt idx="127">
                <c:v>-0.00782516538693</c:v>
              </c:pt>
              <c:pt idx="128">
                <c:v>-0.0104712998673</c:v>
              </c:pt>
              <c:pt idx="129">
                <c:v>-0.0305528702827</c:v>
              </c:pt>
              <c:pt idx="130">
                <c:v>0.0375526792875</c:v>
              </c:pt>
              <c:pt idx="131">
                <c:v>0.0259137799967</c:v>
              </c:pt>
              <c:pt idx="132">
                <c:v>0.0465280114771</c:v>
              </c:pt>
              <c:pt idx="133">
                <c:v>0.0976664376803</c:v>
              </c:pt>
              <c:pt idx="134">
                <c:v>0.0777954031342</c:v>
              </c:pt>
              <c:pt idx="135">
                <c:v>0.0474631160298</c:v>
              </c:pt>
              <c:pt idx="136">
                <c:v>0.019459581996</c:v>
              </c:pt>
              <c:pt idx="137">
                <c:v>-0.00570945839292</c:v>
              </c:pt>
              <c:pt idx="138">
                <c:v>0.0159952661446</c:v>
              </c:pt>
              <c:pt idx="139">
                <c:v>0.0506901160837</c:v>
              </c:pt>
              <c:pt idx="140">
                <c:v>0.0729842191622</c:v>
              </c:pt>
              <c:pt idx="141">
                <c:v>0.130717074462</c:v>
              </c:pt>
              <c:pt idx="142">
                <c:v>0.166330184701</c:v>
              </c:pt>
              <c:pt idx="143">
                <c:v>0.205130289171</c:v>
              </c:pt>
              <c:pt idx="144">
                <c:v>0.208474881898</c:v>
              </c:pt>
              <c:pt idx="145">
                <c:v>0.295321093365</c:v>
              </c:pt>
              <c:pt idx="146">
                <c:v>0.407521688693</c:v>
              </c:pt>
              <c:pt idx="147">
                <c:v>0.403889063653</c:v>
              </c:pt>
              <c:pt idx="148">
                <c:v>0.435065718063</c:v>
              </c:pt>
              <c:pt idx="149">
                <c:v>0.476665226025</c:v>
              </c:pt>
              <c:pt idx="150">
                <c:v>0.537583598801</c:v>
              </c:pt>
              <c:pt idx="151">
                <c:v>0.58083933719</c:v>
              </c:pt>
              <c:pt idx="152">
                <c:v>0.720998494762</c:v>
              </c:pt>
              <c:pt idx="153">
                <c:v>0.767518860305</c:v>
              </c:pt>
              <c:pt idx="154">
                <c:v>0.757874606957</c:v>
              </c:pt>
              <c:pt idx="155">
                <c:v>0.773560221926</c:v>
              </c:pt>
              <c:pt idx="156">
                <c:v>0.82590331925</c:v>
              </c:pt>
              <c:pt idx="157">
                <c:v>0.832906606392</c:v>
              </c:pt>
              <c:pt idx="158">
                <c:v>0.774297442678</c:v>
              </c:pt>
              <c:pt idx="159">
                <c:v>0.747311003177</c:v>
              </c:pt>
              <c:pt idx="160">
                <c:v>0.756810205645</c:v>
              </c:pt>
              <c:pt idx="161">
                <c:v>0.74920856939</c:v>
              </c:pt>
              <c:pt idx="162">
                <c:v>0.721886926453</c:v>
              </c:pt>
              <c:pt idx="163">
                <c:v>0.688515743843</c:v>
              </c:pt>
              <c:pt idx="164">
                <c:v>0.593057872733</c:v>
              </c:pt>
              <c:pt idx="165">
                <c:v>0.382640753991</c:v>
              </c:pt>
              <c:pt idx="166">
                <c:v>0.38842088445</c:v>
              </c:pt>
              <c:pt idx="167">
                <c:v>0.336513999865</c:v>
              </c:pt>
              <c:pt idx="168">
                <c:v>0.325966395441</c:v>
              </c:pt>
              <c:pt idx="169">
                <c:v>0.294340360084</c:v>
              </c:pt>
              <c:pt idx="170">
                <c:v>0.30147065825</c:v>
              </c:pt>
              <c:pt idx="171">
                <c:v>0.351876287077</c:v>
              </c:pt>
              <c:pt idx="172">
                <c:v>0.442972381174</c:v>
              </c:pt>
              <c:pt idx="173">
                <c:v>0.520808323495</c:v>
              </c:pt>
              <c:pt idx="174">
                <c:v>0.506085516458</c:v>
              </c:pt>
              <c:pt idx="175">
                <c:v>0.535100453613</c:v>
              </c:pt>
              <c:pt idx="176">
                <c:v>0.543838771256</c:v>
              </c:pt>
              <c:pt idx="177">
                <c:v>0.607431871649</c:v>
              </c:pt>
              <c:pt idx="178">
                <c:v>0.635620668556</c:v>
              </c:pt>
              <c:pt idx="179">
                <c:v>0.631677703868</c:v>
              </c:pt>
              <c:pt idx="180">
                <c:v>0.589956837123</c:v>
              </c:pt>
              <c:pt idx="181">
                <c:v>0.565401426647</c:v>
              </c:pt>
              <c:pt idx="182">
                <c:v>0.607732996107</c:v>
              </c:pt>
              <c:pt idx="183">
                <c:v>0.662598762088</c:v>
              </c:pt>
              <c:pt idx="184">
                <c:v>0.695818438603</c:v>
              </c:pt>
              <c:pt idx="185">
                <c:v>0.736532176188</c:v>
              </c:pt>
              <c:pt idx="186">
                <c:v>0.771797905826</c:v>
              </c:pt>
              <c:pt idx="187">
                <c:v>0.803502023509</c:v>
              </c:pt>
              <c:pt idx="188">
                <c:v>0.873435096656</c:v>
              </c:pt>
              <c:pt idx="189">
                <c:v>0.803118375304</c:v>
              </c:pt>
              <c:pt idx="190">
                <c:v>0.793073592046</c:v>
              </c:pt>
              <c:pt idx="191">
                <c:v>0.830410381288</c:v>
              </c:pt>
              <c:pt idx="192">
                <c:v>0.803786591604</c:v>
              </c:pt>
              <c:pt idx="193">
                <c:v>0.803065638324</c:v>
              </c:pt>
              <c:pt idx="194">
                <c:v>0.84088835725</c:v>
              </c:pt>
              <c:pt idx="195">
                <c:v>0.898534420942</c:v>
              </c:pt>
              <c:pt idx="196">
                <c:v>0.908263558315</c:v>
              </c:pt>
              <c:pt idx="197">
                <c:v>0.88851081277</c:v>
              </c:pt>
              <c:pt idx="198">
                <c:v>0.882356105837</c:v>
              </c:pt>
              <c:pt idx="199">
                <c:v>0.923155033398</c:v>
              </c:pt>
              <c:pt idx="200">
                <c:v>0.856715679081</c:v>
              </c:pt>
              <c:pt idx="201">
                <c:v>0.83536380926</c:v>
              </c:pt>
              <c:pt idx="202">
                <c:v>0.841889717411</c:v>
              </c:pt>
              <c:pt idx="203">
                <c:v>0.805246332001</c:v>
              </c:pt>
              <c:pt idx="204">
                <c:v>0.840939837015</c:v>
              </c:pt>
              <c:pt idx="205">
                <c:v>0.926711110985</c:v>
              </c:pt>
              <c:pt idx="206">
                <c:v>1.00077194212</c:v>
              </c:pt>
              <c:pt idx="207">
                <c:v>1.05474850777</c:v>
              </c:pt>
              <c:pt idx="208">
                <c:v>1.04436415513</c:v>
              </c:pt>
              <c:pt idx="209">
                <c:v>0.9305550925</c:v>
              </c:pt>
              <c:pt idx="210">
                <c:v>0.956568781964</c:v>
              </c:pt>
              <c:pt idx="211">
                <c:v>0.989928362966</c:v>
              </c:pt>
              <c:pt idx="212">
                <c:v>0.979206962513</c:v>
              </c:pt>
              <c:pt idx="213">
                <c:v>1.01942589417</c:v>
              </c:pt>
              <c:pt idx="214">
                <c:v>0.963204588821</c:v>
              </c:pt>
              <c:pt idx="215">
                <c:v>0.906832338908</c:v>
              </c:pt>
              <c:pt idx="216">
                <c:v>0.969677250216</c:v>
              </c:pt>
              <c:pt idx="217">
                <c:v>1.00974258221</c:v>
              </c:pt>
              <c:pt idx="218">
                <c:v>1.04645505416</c:v>
              </c:pt>
              <c:pt idx="219">
                <c:v>1.02172915879</c:v>
              </c:pt>
              <c:pt idx="220">
                <c:v>0.955628629796</c:v>
              </c:pt>
              <c:pt idx="221">
                <c:v>0.839688945112</c:v>
              </c:pt>
              <c:pt idx="222">
                <c:v>0.828389323739</c:v>
              </c:pt>
              <c:pt idx="223">
                <c:v>0.807461175086</c:v>
              </c:pt>
              <c:pt idx="224">
                <c:v>0.843869206366</c:v>
              </c:pt>
              <c:pt idx="225">
                <c:v>0.928732430757</c:v>
              </c:pt>
              <c:pt idx="226">
                <c:v>0.88413327855</c:v>
              </c:pt>
              <c:pt idx="227">
                <c:v>0.879404703288</c:v>
              </c:pt>
              <c:pt idx="228">
                <c:v>0.842904520849</c:v>
              </c:pt>
              <c:pt idx="229">
                <c:v>0.779350663224</c:v>
              </c:pt>
              <c:pt idx="230">
                <c:v>0.758904811254</c:v>
              </c:pt>
              <c:pt idx="231">
                <c:v>0.756571008641</c:v>
              </c:pt>
              <c:pt idx="232">
                <c:v>0.802504830078</c:v>
              </c:pt>
              <c:pt idx="233">
                <c:v>0.814764898205</c:v>
              </c:pt>
              <c:pt idx="234">
                <c:v>0.880896904232</c:v>
              </c:pt>
              <c:pt idx="235">
                <c:v>0.818796510939</c:v>
              </c:pt>
              <c:pt idx="236">
                <c:v>0.808636686443</c:v>
              </c:pt>
              <c:pt idx="237">
                <c:v>0.762891311667</c:v>
              </c:pt>
              <c:pt idx="238">
                <c:v>0.727456094447</c:v>
              </c:pt>
              <c:pt idx="239">
                <c:v>0.686227790143</c:v>
              </c:pt>
              <c:pt idx="240">
                <c:v>0.680213701329</c:v>
              </c:pt>
              <c:pt idx="241">
                <c:v>0.607706475234</c:v>
              </c:pt>
              <c:pt idx="242">
                <c:v>0.506804170625</c:v>
              </c:pt>
              <c:pt idx="243">
                <c:v>0.500460577593</c:v>
              </c:pt>
              <c:pt idx="244">
                <c:v>0.487021664774</c:v>
              </c:pt>
              <c:pt idx="245">
                <c:v>0.444139346812</c:v>
              </c:pt>
              <c:pt idx="246">
                <c:v>0.398438941348</c:v>
              </c:pt>
              <c:pt idx="247">
                <c:v>0.333108876935</c:v>
              </c:pt>
              <c:pt idx="248">
                <c:v>0.234116026822</c:v>
              </c:pt>
              <c:pt idx="249">
                <c:v>0.266453723749</c:v>
              </c:pt>
              <c:pt idx="250">
                <c:v>0.260090551373</c:v>
              </c:pt>
              <c:pt idx="251">
                <c:v>0.235124908838</c:v>
              </c:pt>
              <c:pt idx="252">
                <c:v>0.19286037267</c:v>
              </c:pt>
              <c:pt idx="253">
                <c:v>0.222594793683</c:v>
              </c:pt>
              <c:pt idx="254">
                <c:v>0.296063652577</c:v>
              </c:pt>
              <c:pt idx="255">
                <c:v>0.363541772577</c:v>
              </c:pt>
              <c:pt idx="256">
                <c:v>0.371761316099</c:v>
              </c:pt>
              <c:pt idx="257">
                <c:v>0.453404363296</c:v>
              </c:pt>
              <c:pt idx="258">
                <c:v>0.525854388027</c:v>
              </c:pt>
              <c:pt idx="259">
                <c:v>0.548088811699</c:v>
              </c:pt>
              <c:pt idx="260">
                <c:v>0.531660977009</c:v>
              </c:pt>
              <c:pt idx="261">
                <c:v>0.568357500411</c:v>
              </c:pt>
              <c:pt idx="262">
                <c:v>0.552511876664</c:v>
              </c:pt>
              <c:pt idx="263">
                <c:v>0.598150169504</c:v>
              </c:pt>
              <c:pt idx="264">
                <c:v>0.633298472998</c:v>
              </c:pt>
              <c:pt idx="265">
                <c:v>0.619153191393</c:v>
              </c:pt>
              <c:pt idx="266">
                <c:v>0.608281325292</c:v>
              </c:pt>
              <c:pt idx="267">
                <c:v>0.612031740327</c:v>
              </c:pt>
              <c:pt idx="268">
                <c:v>0.56861529701</c:v>
              </c:pt>
              <c:pt idx="269">
                <c:v>0.520747712032</c:v>
              </c:pt>
              <c:pt idx="270">
                <c:v>0.544861285783</c:v>
              </c:pt>
              <c:pt idx="271">
                <c:v>0.547358513189</c:v>
              </c:pt>
              <c:pt idx="272">
                <c:v>0.537778243753</c:v>
              </c:pt>
              <c:pt idx="273">
                <c:v>0.5233131352</c:v>
              </c:pt>
              <c:pt idx="274">
                <c:v>0.493851048737</c:v>
              </c:pt>
              <c:pt idx="275">
                <c:v>0.504719348622</c:v>
              </c:pt>
              <c:pt idx="276">
                <c:v>0.508393215419</c:v>
              </c:pt>
              <c:pt idx="277">
                <c:v>0.472737817914</c:v>
              </c:pt>
              <c:pt idx="278">
                <c:v>0.467117668425</c:v>
              </c:pt>
              <c:pt idx="279">
                <c:v>0.390057211874</c:v>
              </c:pt>
            </c:numLit>
          </c:yVal>
        </c:ser>
        <c:ser>
          <c:idx val="1"/>
          <c:order val="1"/>
          <c:tx>
            <c:v>Ajuste linear</c:v>
          </c:tx>
          <c:spPr>
            <a:ln xmlns:a="http://schemas.openxmlformats.org/drawingml/2006/main" w="28575">
              <a:solidFill>
                <a:srgbClr val="A14338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-0.510556339017</c:v>
              </c:pt>
              <c:pt idx="1">
                <c:v>0.699692549821</c:v>
              </c:pt>
            </c:numLit>
          </c:xVal>
          <c:yVal>
            <c:numLit>
              <c:formatCode>0.00</c:formatCode>
              <c:ptCount val="2"/>
              <c:pt idx="0">
                <c:v>1.17038886821</c:v>
              </c:pt>
              <c:pt idx="1">
                <c:v>-1.01785312326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Variação nominal (log)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Desvio do câmbio real (log)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Carry por juros</c:v>
          </c:tx>
          <c:spPr>
            <a:ln xmlns:a="http://schemas.openxmlformats.org/drawingml/2006/main" w="28575">
              <a:solidFill>
                <a:srgbClr val="15354D"/>
              </a:solidFill>
            </a:ln>
          </c:spPr>
          <c:marker>
            <c:symbol val="none"/>
          </c:marker>
          <c:xVal>
            <c:numLit>
              <c:formatCode>General</c:formatCode>
              <c:ptCount val="199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  <c:pt idx="181">
                <c:v>2025.16666667</c:v>
              </c:pt>
              <c:pt idx="182">
                <c:v>2025.25</c:v>
              </c:pt>
              <c:pt idx="183">
                <c:v>2025.33333333</c:v>
              </c:pt>
              <c:pt idx="184">
                <c:v>2025.41666667</c:v>
              </c:pt>
              <c:pt idx="185">
                <c:v>2025.5</c:v>
              </c:pt>
              <c:pt idx="186">
                <c:v>2025.58333333</c:v>
              </c:pt>
              <c:pt idx="187">
                <c:v>2025.66666667</c:v>
              </c:pt>
              <c:pt idx="188">
                <c:v>2025.75</c:v>
              </c:pt>
              <c:pt idx="189">
                <c:v>2025.83333333</c:v>
              </c:pt>
              <c:pt idx="190">
                <c:v>2025.91666667</c:v>
              </c:pt>
              <c:pt idx="191">
                <c:v>2026</c:v>
              </c:pt>
              <c:pt idx="192">
                <c:v>2026.08333333</c:v>
              </c:pt>
              <c:pt idx="193">
                <c:v>2026.16666667</c:v>
              </c:pt>
              <c:pt idx="194">
                <c:v>2026.25</c:v>
              </c:pt>
              <c:pt idx="195">
                <c:v>2026.33333333</c:v>
              </c:pt>
              <c:pt idx="196">
                <c:v>2026.41666667</c:v>
              </c:pt>
              <c:pt idx="197">
                <c:v>2026.5</c:v>
              </c:pt>
              <c:pt idx="198">
                <c:v>2026.58333333</c:v>
              </c:pt>
            </c:numLit>
          </c:xVal>
          <c:yVal>
            <c:numLit>
              <c:formatCode>0.00</c:formatCode>
              <c:ptCount val="199"/>
              <c:pt idx="0">
                <c:v>100</c:v>
              </c:pt>
              <c:pt idx="1">
                <c:v>101.89952312</c:v>
              </c:pt>
              <c:pt idx="2">
                <c:v>103.804937901</c:v>
              </c:pt>
              <c:pt idx="3">
                <c:v>102.448370139</c:v>
              </c:pt>
              <c:pt idx="4">
                <c:v>103.012626093</c:v>
              </c:pt>
              <c:pt idx="5">
                <c:v>102.572836719</c:v>
              </c:pt>
              <c:pt idx="6">
                <c:v>102.06319004</c:v>
              </c:pt>
              <c:pt idx="7">
                <c:v>101.731865838</c:v>
              </c:pt>
              <c:pt idx="8">
                <c:v>100.913174527</c:v>
              </c:pt>
              <c:pt idx="9">
                <c:v>103.346629199</c:v>
              </c:pt>
              <c:pt idx="10">
                <c:v>104.32450628</c:v>
              </c:pt>
              <c:pt idx="11">
                <c:v>104.848790359</c:v>
              </c:pt>
              <c:pt idx="12">
                <c:v>105.679872807</c:v>
              </c:pt>
              <c:pt idx="13">
                <c:v>106.217328069</c:v>
              </c:pt>
              <c:pt idx="14">
                <c:v>106.768546558</c:v>
              </c:pt>
              <c:pt idx="15">
                <c:v>107.135927442</c:v>
              </c:pt>
              <c:pt idx="16">
                <c:v>106.545116589</c:v>
              </c:pt>
              <c:pt idx="17">
                <c:v>105.973340474</c:v>
              </c:pt>
              <c:pt idx="18">
                <c:v>105.138379036</c:v>
              </c:pt>
              <c:pt idx="19">
                <c:v>101.089499775</c:v>
              </c:pt>
              <c:pt idx="20">
                <c:v>105.16583891</c:v>
              </c:pt>
              <c:pt idx="21">
                <c:v>102.534499315</c:v>
              </c:pt>
              <c:pt idx="22">
                <c:v>102.070346789</c:v>
              </c:pt>
              <c:pt idx="23">
                <c:v>103.911635328</c:v>
              </c:pt>
              <c:pt idx="24">
                <c:v>106.231883553</c:v>
              </c:pt>
              <c:pt idx="25">
                <c:v>105.164561154</c:v>
              </c:pt>
              <c:pt idx="26">
                <c:v>103.626849242</c:v>
              </c:pt>
              <c:pt idx="27">
                <c:v>101.606802271</c:v>
              </c:pt>
              <c:pt idx="28">
                <c:v>102.167961145</c:v>
              </c:pt>
              <c:pt idx="29">
                <c:v>103.192186977</c:v>
              </c:pt>
              <c:pt idx="30">
                <c:v>103.529222256</c:v>
              </c:pt>
              <c:pt idx="31">
                <c:v>103.288908414</c:v>
              </c:pt>
              <c:pt idx="32">
                <c:v>103.703358608</c:v>
              </c:pt>
              <c:pt idx="33">
                <c:v>103.594972577</c:v>
              </c:pt>
              <c:pt idx="34">
                <c:v>105.802594195</c:v>
              </c:pt>
              <c:pt idx="35">
                <c:v>108.097101939</c:v>
              </c:pt>
              <c:pt idx="36">
                <c:v>109.385274661</c:v>
              </c:pt>
              <c:pt idx="37">
                <c:v>109.975919758</c:v>
              </c:pt>
              <c:pt idx="38">
                <c:v>110.39044601</c:v>
              </c:pt>
              <c:pt idx="39">
                <c:v>109.666163906</c:v>
              </c:pt>
              <c:pt idx="40">
                <c:v>107.824182109</c:v>
              </c:pt>
              <c:pt idx="41">
                <c:v>107.041096145</c:v>
              </c:pt>
              <c:pt idx="42">
                <c:v>106.435541639</c:v>
              </c:pt>
              <c:pt idx="43">
                <c:v>107.940230002</c:v>
              </c:pt>
              <c:pt idx="44">
                <c:v>108.544209559</c:v>
              </c:pt>
              <c:pt idx="45">
                <c:v>108.059463038</c:v>
              </c:pt>
              <c:pt idx="46">
                <c:v>108.640540189</c:v>
              </c:pt>
              <c:pt idx="47">
                <c:v>107.403623803</c:v>
              </c:pt>
              <c:pt idx="48">
                <c:v>108.323166061</c:v>
              </c:pt>
              <c:pt idx="49">
                <c:v>109.872558093</c:v>
              </c:pt>
              <c:pt idx="50">
                <c:v>110.136608055</c:v>
              </c:pt>
              <c:pt idx="51">
                <c:v>111.315437639</c:v>
              </c:pt>
              <c:pt idx="52">
                <c:v>112.177873373</c:v>
              </c:pt>
              <c:pt idx="53">
                <c:v>112.09305833</c:v>
              </c:pt>
              <c:pt idx="54">
                <c:v>113.330179376</c:v>
              </c:pt>
              <c:pt idx="55">
                <c:v>113.186563849</c:v>
              </c:pt>
              <c:pt idx="56">
                <c:v>113.836754161</c:v>
              </c:pt>
              <c:pt idx="57">
                <c:v>114.329856366</c:v>
              </c:pt>
              <c:pt idx="58">
                <c:v>114.952350067</c:v>
              </c:pt>
              <c:pt idx="59">
                <c:v>116.515887791</c:v>
              </c:pt>
              <c:pt idx="60">
                <c:v>115.296797274</c:v>
              </c:pt>
              <c:pt idx="61">
                <c:v>113.960217192</c:v>
              </c:pt>
              <c:pt idx="62">
                <c:v>116.513806206</c:v>
              </c:pt>
              <c:pt idx="63">
                <c:v>115.397215218</c:v>
              </c:pt>
              <c:pt idx="64">
                <c:v>114.807201361</c:v>
              </c:pt>
              <c:pt idx="65">
                <c:v>113.184948144</c:v>
              </c:pt>
              <c:pt idx="66">
                <c:v>109.906974911</c:v>
              </c:pt>
              <c:pt idx="67">
                <c:v>107.072675608</c:v>
              </c:pt>
              <c:pt idx="68">
                <c:v>109.555829433</c:v>
              </c:pt>
              <c:pt idx="69">
                <c:v>111.356129856</c:v>
              </c:pt>
              <c:pt idx="70">
                <c:v>108.170532834</c:v>
              </c:pt>
              <c:pt idx="71">
                <c:v>107.80502522</c:v>
              </c:pt>
              <c:pt idx="72">
                <c:v>109.714022085</c:v>
              </c:pt>
              <c:pt idx="73">
                <c:v>111.394744179</c:v>
              </c:pt>
              <c:pt idx="74">
                <c:v>113.477278502</c:v>
              </c:pt>
              <c:pt idx="75">
                <c:v>113.650208773</c:v>
              </c:pt>
              <c:pt idx="76">
                <c:v>117.844724987</c:v>
              </c:pt>
              <c:pt idx="77">
                <c:v>117.662479852</c:v>
              </c:pt>
              <c:pt idx="78">
                <c:v>118.382005271</c:v>
              </c:pt>
              <c:pt idx="79">
                <c:v>118.706657089</c:v>
              </c:pt>
              <c:pt idx="80">
                <c:v>121.008298426</c:v>
              </c:pt>
              <c:pt idx="81">
                <c:v>120.879848952</c:v>
              </c:pt>
              <c:pt idx="82">
                <c:v>122.318770411</c:v>
              </c:pt>
              <c:pt idx="83">
                <c:v>123.4084393</c:v>
              </c:pt>
              <c:pt idx="84">
                <c:v>124.998972951</c:v>
              </c:pt>
              <c:pt idx="85">
                <c:v>123.708271219</c:v>
              </c:pt>
              <c:pt idx="86">
                <c:v>122.220622488</c:v>
              </c:pt>
              <c:pt idx="87">
                <c:v>121.061734587</c:v>
              </c:pt>
              <c:pt idx="88">
                <c:v>120.815324262</c:v>
              </c:pt>
              <c:pt idx="89">
                <c:v>121.925170558</c:v>
              </c:pt>
              <c:pt idx="90">
                <c:v>120.841306708</c:v>
              </c:pt>
              <c:pt idx="91">
                <c:v>122.115502616</c:v>
              </c:pt>
              <c:pt idx="92">
                <c:v>121.762542324</c:v>
              </c:pt>
              <c:pt idx="93">
                <c:v>121.620427624</c:v>
              </c:pt>
              <c:pt idx="94">
                <c:v>121.34189837</c:v>
              </c:pt>
              <c:pt idx="95">
                <c:v>121.198072534</c:v>
              </c:pt>
              <c:pt idx="96">
                <c:v>121.702661826</c:v>
              </c:pt>
              <c:pt idx="97">
                <c:v>121.057314805</c:v>
              </c:pt>
              <c:pt idx="98">
                <c:v>121.979036278</c:v>
              </c:pt>
              <c:pt idx="99">
                <c:v>121.498161348</c:v>
              </c:pt>
              <c:pt idx="100">
                <c:v>120.742085969</c:v>
              </c:pt>
              <c:pt idx="101">
                <c:v>121.560355677</c:v>
              </c:pt>
              <c:pt idx="102">
                <c:v>120.205534163</c:v>
              </c:pt>
              <c:pt idx="103">
                <c:v>121.258354634</c:v>
              </c:pt>
              <c:pt idx="104">
                <c:v>125.601139822</c:v>
              </c:pt>
              <c:pt idx="105">
                <c:v>123.861224875</c:v>
              </c:pt>
              <c:pt idx="106">
                <c:v>122.686300966</c:v>
              </c:pt>
              <c:pt idx="107">
                <c:v>126.257419806</c:v>
              </c:pt>
              <c:pt idx="108">
                <c:v>126.699579628</c:v>
              </c:pt>
              <c:pt idx="109">
                <c:v>126.134298418</c:v>
              </c:pt>
              <c:pt idx="110">
                <c:v>126.994110206</c:v>
              </c:pt>
              <c:pt idx="111">
                <c:v>127.078912746</c:v>
              </c:pt>
              <c:pt idx="112">
                <c:v>128.499276232</c:v>
              </c:pt>
              <c:pt idx="113">
                <c:v>130.745277623</c:v>
              </c:pt>
              <c:pt idx="114">
                <c:v>129.117301975</c:v>
              </c:pt>
              <c:pt idx="115">
                <c:v>130.035673641</c:v>
              </c:pt>
              <c:pt idx="116">
                <c:v>130.614535062</c:v>
              </c:pt>
              <c:pt idx="117">
                <c:v>128.971229553</c:v>
              </c:pt>
              <c:pt idx="118">
                <c:v>130.142943491</c:v>
              </c:pt>
              <c:pt idx="119">
                <c:v>129.736875566</c:v>
              </c:pt>
              <c:pt idx="120">
                <c:v>128.404700586</c:v>
              </c:pt>
              <c:pt idx="121">
                <c:v>122.432058174</c:v>
              </c:pt>
              <c:pt idx="122">
                <c:v>122.009869562</c:v>
              </c:pt>
              <c:pt idx="123">
                <c:v>122.021248568</c:v>
              </c:pt>
              <c:pt idx="124">
                <c:v>121.628316915</c:v>
              </c:pt>
              <c:pt idx="125">
                <c:v>121.425296449</c:v>
              </c:pt>
              <c:pt idx="126">
                <c:v>120.925197817</c:v>
              </c:pt>
              <c:pt idx="127">
                <c:v>119.486626837</c:v>
              </c:pt>
              <c:pt idx="128">
                <c:v>118.856857204</c:v>
              </c:pt>
              <c:pt idx="129">
                <c:v>121.546296041</c:v>
              </c:pt>
              <c:pt idx="130">
                <c:v>121.682369004</c:v>
              </c:pt>
              <c:pt idx="131">
                <c:v>120.807597118</c:v>
              </c:pt>
              <c:pt idx="132">
                <c:v>121.616987638</c:v>
              </c:pt>
              <c:pt idx="133">
                <c:v>122.675050286</c:v>
              </c:pt>
              <c:pt idx="134">
                <c:v>124.430595912</c:v>
              </c:pt>
              <c:pt idx="135">
                <c:v>125.603817396</c:v>
              </c:pt>
              <c:pt idx="136">
                <c:v>127.66228793</c:v>
              </c:pt>
              <c:pt idx="137">
                <c:v>126.496138454</c:v>
              </c:pt>
              <c:pt idx="138">
                <c:v>125.939433667</c:v>
              </c:pt>
              <c:pt idx="139">
                <c:v>125.701821042</c:v>
              </c:pt>
              <c:pt idx="140">
                <c:v>125.895345469</c:v>
              </c:pt>
              <c:pt idx="141">
                <c:v>125.686234811</c:v>
              </c:pt>
              <c:pt idx="142">
                <c:v>127.014717663</c:v>
              </c:pt>
              <c:pt idx="143">
                <c:v>128.830255508</c:v>
              </c:pt>
              <c:pt idx="144">
                <c:v>130.375479887</c:v>
              </c:pt>
              <c:pt idx="145">
                <c:v>135.876613666</c:v>
              </c:pt>
              <c:pt idx="146">
                <c:v>137.791477617</c:v>
              </c:pt>
              <c:pt idx="147">
                <c:v>138.194524579</c:v>
              </c:pt>
              <c:pt idx="148">
                <c:v>137.953719459</c:v>
              </c:pt>
              <c:pt idx="149">
                <c:v>139.054136203</c:v>
              </c:pt>
              <c:pt idx="150">
                <c:v>141.100898508</c:v>
              </c:pt>
              <c:pt idx="151">
                <c:v>140.875403821</c:v>
              </c:pt>
              <c:pt idx="152">
                <c:v>142.742423689</c:v>
              </c:pt>
              <c:pt idx="153">
                <c:v>139.890970872</c:v>
              </c:pt>
              <c:pt idx="154">
                <c:v>137.934104011</c:v>
              </c:pt>
              <c:pt idx="155">
                <c:v>139.323973396</c:v>
              </c:pt>
              <c:pt idx="156">
                <c:v>141.597791899</c:v>
              </c:pt>
              <c:pt idx="157">
                <c:v>141.726616027</c:v>
              </c:pt>
              <c:pt idx="158">
                <c:v>143.375530854</c:v>
              </c:pt>
              <c:pt idx="159">
                <c:v>145.621538095</c:v>
              </c:pt>
              <c:pt idx="160">
                <c:v>150.022891301</c:v>
              </c:pt>
              <c:pt idx="161">
                <c:v>151.1262335</c:v>
              </c:pt>
              <c:pt idx="162">
                <c:v>151.877083457</c:v>
              </c:pt>
              <c:pt idx="163">
                <c:v>154.129473685</c:v>
              </c:pt>
              <c:pt idx="164">
                <c:v>154.817830295</c:v>
              </c:pt>
              <c:pt idx="165">
                <c:v>156.404848583</c:v>
              </c:pt>
              <c:pt idx="166">
                <c:v>156.27479534</c:v>
              </c:pt>
              <c:pt idx="167">
                <c:v>158.811929144</c:v>
              </c:pt>
              <c:pt idx="168">
                <c:v>160.12329019</c:v>
              </c:pt>
              <c:pt idx="169">
                <c:v>161.496027829</c:v>
              </c:pt>
              <c:pt idx="170">
                <c:v>163.051796066</c:v>
              </c:pt>
              <c:pt idx="171">
                <c:v>163.62037599</c:v>
              </c:pt>
              <c:pt idx="172">
                <c:v>163.633404917</c:v>
              </c:pt>
              <c:pt idx="173">
                <c:v>162.038721182</c:v>
              </c:pt>
              <c:pt idx="174">
                <c:v>161.947548362</c:v>
              </c:pt>
              <c:pt idx="175">
                <c:v>164.052971319</c:v>
              </c:pt>
              <c:pt idx="176">
                <c:v>166.254491323</c:v>
              </c:pt>
              <c:pt idx="177">
                <c:v>164.478322804</c:v>
              </c:pt>
              <c:pt idx="178">
                <c:v>166.771752598</c:v>
              </c:pt>
              <c:pt idx="179">
                <c:v>169.428387142</c:v>
              </c:pt>
              <c:pt idx="180">
                <c:v>168.811820027</c:v>
              </c:pt>
              <c:pt idx="181">
                <c:v>168.02239142</c:v>
              </c:pt>
              <c:pt idx="182">
                <c:v>168.139953427</c:v>
              </c:pt>
              <c:pt idx="183">
                <c:v>169.081839079</c:v>
              </c:pt>
              <c:pt idx="184">
                <c:v>171.072164119</c:v>
              </c:pt>
              <c:pt idx="185">
                <c:v>172.63392712</c:v>
              </c:pt>
              <c:pt idx="186">
                <c:v>174.199164548</c:v>
              </c:pt>
              <c:pt idx="187">
                <c:v>176.117608799</c:v>
              </c:pt>
              <c:pt idx="188">
                <c:v>178.081175949</c:v>
              </c:pt>
              <c:pt idx="189">
                <c:v>180.417499507</c:v>
              </c:pt>
              <c:pt idx="190">
                <c:v>180.035896938</c:v>
              </c:pt>
              <c:pt idx="191">
                <c:v>181.600047839</c:v>
              </c:pt>
              <c:pt idx="192">
                <c:v>183.916264922</c:v>
              </c:pt>
              <c:pt idx="193">
                <c:v>186.969701716</c:v>
              </c:pt>
              <c:pt idx="194">
                <c:v>189.227760942</c:v>
              </c:pt>
              <c:pt idx="195">
                <c:v>190.11198887</c:v>
              </c:pt>
              <c:pt idx="196">
                <c:v>192.56116535</c:v>
              </c:pt>
              <c:pt idx="197">
                <c:v>194.027383119</c:v>
              </c:pt>
              <c:pt idx="198">
                <c:v>194.337996395</c:v>
              </c:pt>
            </c:numLit>
          </c:yVal>
        </c:ser>
        <c:ser>
          <c:idx val="1"/>
          <c:order val="1"/>
          <c:tx>
            <c:v>Carry + previsão</c:v>
          </c:tx>
          <c:spPr>
            <a:ln xmlns:a="http://schemas.openxmlformats.org/drawingml/2006/main" w="28575">
              <a:solidFill>
                <a:srgbClr val="007F7B"/>
              </a:solidFill>
            </a:ln>
          </c:spPr>
          <c:marker>
            <c:symbol val="none"/>
          </c:marker>
          <c:xVal>
            <c:numLit>
              <c:formatCode>General</c:formatCode>
              <c:ptCount val="199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  <c:pt idx="181">
                <c:v>2025.16666667</c:v>
              </c:pt>
              <c:pt idx="182">
                <c:v>2025.25</c:v>
              </c:pt>
              <c:pt idx="183">
                <c:v>2025.33333333</c:v>
              </c:pt>
              <c:pt idx="184">
                <c:v>2025.41666667</c:v>
              </c:pt>
              <c:pt idx="185">
                <c:v>2025.5</c:v>
              </c:pt>
              <c:pt idx="186">
                <c:v>2025.58333333</c:v>
              </c:pt>
              <c:pt idx="187">
                <c:v>2025.66666667</c:v>
              </c:pt>
              <c:pt idx="188">
                <c:v>2025.75</c:v>
              </c:pt>
              <c:pt idx="189">
                <c:v>2025.83333333</c:v>
              </c:pt>
              <c:pt idx="190">
                <c:v>2025.91666667</c:v>
              </c:pt>
              <c:pt idx="191">
                <c:v>2026</c:v>
              </c:pt>
              <c:pt idx="192">
                <c:v>2026.08333333</c:v>
              </c:pt>
              <c:pt idx="193">
                <c:v>2026.16666667</c:v>
              </c:pt>
              <c:pt idx="194">
                <c:v>2026.25</c:v>
              </c:pt>
              <c:pt idx="195">
                <c:v>2026.33333333</c:v>
              </c:pt>
              <c:pt idx="196">
                <c:v>2026.41666667</c:v>
              </c:pt>
              <c:pt idx="197">
                <c:v>2026.5</c:v>
              </c:pt>
              <c:pt idx="198">
                <c:v>2026.58333333</c:v>
              </c:pt>
            </c:numLit>
          </c:xVal>
          <c:yVal>
            <c:numLit>
              <c:formatCode>0.00</c:formatCode>
              <c:ptCount val="199"/>
              <c:pt idx="0">
                <c:v>100</c:v>
              </c:pt>
              <c:pt idx="1">
                <c:v>98.87437276</c:v>
              </c:pt>
              <c:pt idx="2">
                <c:v>99.086900169</c:v>
              </c:pt>
              <c:pt idx="3">
                <c:v>97.9677705471</c:v>
              </c:pt>
              <c:pt idx="4">
                <c:v>99.2593470681</c:v>
              </c:pt>
              <c:pt idx="5">
                <c:v>100.814480997</c:v>
              </c:pt>
              <c:pt idx="6">
                <c:v>99.984290209</c:v>
              </c:pt>
              <c:pt idx="7">
                <c:v>102.284896292</c:v>
              </c:pt>
              <c:pt idx="8">
                <c:v>101.131161796</c:v>
              </c:pt>
              <c:pt idx="9">
                <c:v>101.377697067</c:v>
              </c:pt>
              <c:pt idx="10">
                <c:v>101.056037769</c:v>
              </c:pt>
              <c:pt idx="11">
                <c:v>102.868985552</c:v>
              </c:pt>
              <c:pt idx="12">
                <c:v>103.383121995</c:v>
              </c:pt>
              <c:pt idx="13">
                <c:v>103.951027908</c:v>
              </c:pt>
              <c:pt idx="14">
                <c:v>104.761293863</c:v>
              </c:pt>
              <c:pt idx="15">
                <c:v>106.112149607</c:v>
              </c:pt>
              <c:pt idx="16">
                <c:v>105.551926959</c:v>
              </c:pt>
              <c:pt idx="17">
                <c:v>106.034908405</c:v>
              </c:pt>
              <c:pt idx="18">
                <c:v>106.221403196</c:v>
              </c:pt>
              <c:pt idx="19">
                <c:v>103.364603827</c:v>
              </c:pt>
              <c:pt idx="20">
                <c:v>106.0133427</c:v>
              </c:pt>
              <c:pt idx="21">
                <c:v>104.258752779</c:v>
              </c:pt>
              <c:pt idx="22">
                <c:v>103.437060502</c:v>
              </c:pt>
              <c:pt idx="23">
                <c:v>105.068171921</c:v>
              </c:pt>
              <c:pt idx="24">
                <c:v>107.121493474</c:v>
              </c:pt>
              <c:pt idx="25">
                <c:v>106.494431535</c:v>
              </c:pt>
              <c:pt idx="26">
                <c:v>105.131808032</c:v>
              </c:pt>
              <c:pt idx="27">
                <c:v>103.17151544</c:v>
              </c:pt>
              <c:pt idx="28">
                <c:v>103.098982006</c:v>
              </c:pt>
              <c:pt idx="29">
                <c:v>102.440164706</c:v>
              </c:pt>
              <c:pt idx="30">
                <c:v>102.654062024</c:v>
              </c:pt>
              <c:pt idx="31">
                <c:v>103.043442965</c:v>
              </c:pt>
              <c:pt idx="32">
                <c:v>104.242321213</c:v>
              </c:pt>
              <c:pt idx="33">
                <c:v>103.939477286</c:v>
              </c:pt>
              <c:pt idx="34">
                <c:v>106.16561237</c:v>
              </c:pt>
              <c:pt idx="35">
                <c:v>106.021178195</c:v>
              </c:pt>
              <c:pt idx="36">
                <c:v>106.768359491</c:v>
              </c:pt>
              <c:pt idx="37">
                <c:v>106.414163508</c:v>
              </c:pt>
              <c:pt idx="38">
                <c:v>105.447402953</c:v>
              </c:pt>
              <c:pt idx="39">
                <c:v>105.033945342</c:v>
              </c:pt>
              <c:pt idx="40">
                <c:v>105.651037332</c:v>
              </c:pt>
              <c:pt idx="41">
                <c:v>104.272639627</c:v>
              </c:pt>
              <c:pt idx="42">
                <c:v>104.248981155</c:v>
              </c:pt>
              <c:pt idx="43">
                <c:v>104.635757521</c:v>
              </c:pt>
              <c:pt idx="44">
                <c:v>105.380918818</c:v>
              </c:pt>
              <c:pt idx="45">
                <c:v>103.461569091</c:v>
              </c:pt>
              <c:pt idx="46">
                <c:v>102.333903428</c:v>
              </c:pt>
              <c:pt idx="47">
                <c:v>104.268665558</c:v>
              </c:pt>
              <c:pt idx="48">
                <c:v>104.575136691</c:v>
              </c:pt>
              <c:pt idx="49">
                <c:v>105.432902684</c:v>
              </c:pt>
              <c:pt idx="50">
                <c:v>106.082981929</c:v>
              </c:pt>
              <c:pt idx="51">
                <c:v>107.821052284</c:v>
              </c:pt>
              <c:pt idx="52">
                <c:v>108.576390143</c:v>
              </c:pt>
              <c:pt idx="53">
                <c:v>108.817245095</c:v>
              </c:pt>
              <c:pt idx="54">
                <c:v>109.081497785</c:v>
              </c:pt>
              <c:pt idx="55">
                <c:v>107.448708473</c:v>
              </c:pt>
              <c:pt idx="56">
                <c:v>107.458013037</c:v>
              </c:pt>
              <c:pt idx="57">
                <c:v>105.561009687</c:v>
              </c:pt>
              <c:pt idx="58">
                <c:v>105.596225579</c:v>
              </c:pt>
              <c:pt idx="59">
                <c:v>110.214809144</c:v>
              </c:pt>
              <c:pt idx="60">
                <c:v>107.52142163</c:v>
              </c:pt>
              <c:pt idx="61">
                <c:v>106.974868223</c:v>
              </c:pt>
              <c:pt idx="62">
                <c:v>107.771189399</c:v>
              </c:pt>
              <c:pt idx="63">
                <c:v>106.524877616</c:v>
              </c:pt>
              <c:pt idx="64">
                <c:v>106.499361818</c:v>
              </c:pt>
              <c:pt idx="65">
                <c:v>105.836819959</c:v>
              </c:pt>
              <c:pt idx="66">
                <c:v>105.550662673</c:v>
              </c:pt>
              <c:pt idx="67">
                <c:v>104.017824886</c:v>
              </c:pt>
              <c:pt idx="68">
                <c:v>105.170925135</c:v>
              </c:pt>
              <c:pt idx="69">
                <c:v>106.735896382</c:v>
              </c:pt>
              <c:pt idx="70">
                <c:v>106.387524495</c:v>
              </c:pt>
              <c:pt idx="71">
                <c:v>107.191511646</c:v>
              </c:pt>
              <c:pt idx="72">
                <c:v>110.762212564</c:v>
              </c:pt>
              <c:pt idx="73">
                <c:v>111.801734504</c:v>
              </c:pt>
              <c:pt idx="74">
                <c:v>113.517718797</c:v>
              </c:pt>
              <c:pt idx="75">
                <c:v>113.888678912</c:v>
              </c:pt>
              <c:pt idx="76">
                <c:v>119.509171555</c:v>
              </c:pt>
              <c:pt idx="77">
                <c:v>119.694139234</c:v>
              </c:pt>
              <c:pt idx="78">
                <c:v>120.160722585</c:v>
              </c:pt>
              <c:pt idx="79">
                <c:v>119.385663695</c:v>
              </c:pt>
              <c:pt idx="80">
                <c:v>119.550569667</c:v>
              </c:pt>
              <c:pt idx="81">
                <c:v>121.807984327</c:v>
              </c:pt>
              <c:pt idx="82">
                <c:v>124.364295044</c:v>
              </c:pt>
              <c:pt idx="83">
                <c:v>124.993967177</c:v>
              </c:pt>
              <c:pt idx="84">
                <c:v>126.167886618</c:v>
              </c:pt>
              <c:pt idx="85">
                <c:v>126.112242278</c:v>
              </c:pt>
              <c:pt idx="86">
                <c:v>127.447888574</c:v>
              </c:pt>
              <c:pt idx="87">
                <c:v>125.547661469</c:v>
              </c:pt>
              <c:pt idx="88">
                <c:v>124.041418793</c:v>
              </c:pt>
              <c:pt idx="89">
                <c:v>124.24546225</c:v>
              </c:pt>
              <c:pt idx="90">
                <c:v>123.870384296</c:v>
              </c:pt>
              <c:pt idx="91">
                <c:v>124.734486148</c:v>
              </c:pt>
              <c:pt idx="92">
                <c:v>125.438804588</c:v>
              </c:pt>
              <c:pt idx="93">
                <c:v>125.477279605</c:v>
              </c:pt>
              <c:pt idx="94">
                <c:v>123.953302922</c:v>
              </c:pt>
              <c:pt idx="95">
                <c:v>124.917229972</c:v>
              </c:pt>
              <c:pt idx="96">
                <c:v>126.758306027</c:v>
              </c:pt>
              <c:pt idx="97">
                <c:v>126.509504722</c:v>
              </c:pt>
              <c:pt idx="98">
                <c:v>126.506133282</c:v>
              </c:pt>
              <c:pt idx="99">
                <c:v>126.649376683</c:v>
              </c:pt>
              <c:pt idx="100">
                <c:v>126.279323681</c:v>
              </c:pt>
              <c:pt idx="101">
                <c:v>127.657909792</c:v>
              </c:pt>
              <c:pt idx="102">
                <c:v>123.519004355</c:v>
              </c:pt>
              <c:pt idx="103">
                <c:v>124.391003899</c:v>
              </c:pt>
              <c:pt idx="104">
                <c:v>127.5925989</c:v>
              </c:pt>
              <c:pt idx="105">
                <c:v>126.854289557</c:v>
              </c:pt>
              <c:pt idx="106">
                <c:v>127.623139973</c:v>
              </c:pt>
              <c:pt idx="107">
                <c:v>129.467976733</c:v>
              </c:pt>
              <c:pt idx="108">
                <c:v>130.459677406</c:v>
              </c:pt>
              <c:pt idx="109">
                <c:v>129.732741641</c:v>
              </c:pt>
              <c:pt idx="110">
                <c:v>129.376372507</c:v>
              </c:pt>
              <c:pt idx="111">
                <c:v>129.502994133</c:v>
              </c:pt>
              <c:pt idx="112">
                <c:v>130.327914971</c:v>
              </c:pt>
              <c:pt idx="113">
                <c:v>131.013833498</c:v>
              </c:pt>
              <c:pt idx="114">
                <c:v>128.197793928</c:v>
              </c:pt>
              <c:pt idx="115">
                <c:v>129.133281523</c:v>
              </c:pt>
              <c:pt idx="116">
                <c:v>130.704914113</c:v>
              </c:pt>
              <c:pt idx="117">
                <c:v>130.215128346</c:v>
              </c:pt>
              <c:pt idx="118">
                <c:v>131.550482221</c:v>
              </c:pt>
              <c:pt idx="119">
                <c:v>129.76751522</c:v>
              </c:pt>
              <c:pt idx="120">
                <c:v>128.929090432</c:v>
              </c:pt>
              <c:pt idx="121">
                <c:v>125.400867509</c:v>
              </c:pt>
              <c:pt idx="122">
                <c:v>124.994342738</c:v>
              </c:pt>
              <c:pt idx="123">
                <c:v>125.964102784</c:v>
              </c:pt>
              <c:pt idx="124">
                <c:v>125.329680285</c:v>
              </c:pt>
              <c:pt idx="125">
                <c:v>127.207042219</c:v>
              </c:pt>
              <c:pt idx="126">
                <c:v>124.884710361</c:v>
              </c:pt>
              <c:pt idx="127">
                <c:v>123.530480668</c:v>
              </c:pt>
              <c:pt idx="128">
                <c:v>123.355753276</c:v>
              </c:pt>
              <c:pt idx="129">
                <c:v>125.93569488</c:v>
              </c:pt>
              <c:pt idx="130">
                <c:v>126.572708403</c:v>
              </c:pt>
              <c:pt idx="131">
                <c:v>124.817538262</c:v>
              </c:pt>
              <c:pt idx="132">
                <c:v>123.994745793</c:v>
              </c:pt>
              <c:pt idx="133">
                <c:v>122.333027356</c:v>
              </c:pt>
              <c:pt idx="134">
                <c:v>123.471123707</c:v>
              </c:pt>
              <c:pt idx="135">
                <c:v>123.15664236</c:v>
              </c:pt>
              <c:pt idx="136">
                <c:v>126.217169901</c:v>
              </c:pt>
              <c:pt idx="137">
                <c:v>125.847034125</c:v>
              </c:pt>
              <c:pt idx="138">
                <c:v>125.931435313</c:v>
              </c:pt>
              <c:pt idx="139">
                <c:v>125.201938712</c:v>
              </c:pt>
              <c:pt idx="140">
                <c:v>122.371402078</c:v>
              </c:pt>
              <c:pt idx="141">
                <c:v>124.769137051</c:v>
              </c:pt>
              <c:pt idx="142">
                <c:v>124.492284655</c:v>
              </c:pt>
              <c:pt idx="143">
                <c:v>126.325393709</c:v>
              </c:pt>
              <c:pt idx="144">
                <c:v>127.709085127</c:v>
              </c:pt>
              <c:pt idx="145">
                <c:v>128.662376004</c:v>
              </c:pt>
              <c:pt idx="146">
                <c:v>128.3141106</c:v>
              </c:pt>
              <c:pt idx="147">
                <c:v>129.30065201</c:v>
              </c:pt>
              <c:pt idx="148">
                <c:v>126.491879315</c:v>
              </c:pt>
              <c:pt idx="149">
                <c:v>128.210808302</c:v>
              </c:pt>
              <c:pt idx="150">
                <c:v>128.978494222</c:v>
              </c:pt>
              <c:pt idx="151">
                <c:v>128.983022799</c:v>
              </c:pt>
              <c:pt idx="152">
                <c:v>128.40719917</c:v>
              </c:pt>
              <c:pt idx="153">
                <c:v>129.335055582</c:v>
              </c:pt>
              <c:pt idx="154">
                <c:v>130.964961923</c:v>
              </c:pt>
              <c:pt idx="155">
                <c:v>132.361905216</c:v>
              </c:pt>
              <c:pt idx="156">
                <c:v>133.522488166</c:v>
              </c:pt>
              <c:pt idx="157">
                <c:v>134.474988901</c:v>
              </c:pt>
              <c:pt idx="158">
                <c:v>134.826981179</c:v>
              </c:pt>
              <c:pt idx="159">
                <c:v>134.22586835</c:v>
              </c:pt>
              <c:pt idx="160">
                <c:v>133.730411905</c:v>
              </c:pt>
              <c:pt idx="161">
                <c:v>135.961798001</c:v>
              </c:pt>
              <c:pt idx="162">
                <c:v>135.949192017</c:v>
              </c:pt>
              <c:pt idx="163">
                <c:v>135.558785254</c:v>
              </c:pt>
              <c:pt idx="164">
                <c:v>136.438286966</c:v>
              </c:pt>
              <c:pt idx="165">
                <c:v>137.121877411</c:v>
              </c:pt>
              <c:pt idx="166">
                <c:v>138.545260707</c:v>
              </c:pt>
              <c:pt idx="167">
                <c:v>138.088093808</c:v>
              </c:pt>
              <c:pt idx="168">
                <c:v>138.415413766</c:v>
              </c:pt>
              <c:pt idx="169">
                <c:v>138.754459221</c:v>
              </c:pt>
              <c:pt idx="170">
                <c:v>137.824584946</c:v>
              </c:pt>
              <c:pt idx="171">
                <c:v>137.364425718</c:v>
              </c:pt>
              <c:pt idx="172">
                <c:v>135.934432952</c:v>
              </c:pt>
              <c:pt idx="173">
                <c:v>138.080385286</c:v>
              </c:pt>
              <c:pt idx="174">
                <c:v>138.236548941</c:v>
              </c:pt>
              <c:pt idx="175">
                <c:v>140.577719664</c:v>
              </c:pt>
              <c:pt idx="176">
                <c:v>138.687276037</c:v>
              </c:pt>
              <c:pt idx="177">
                <c:v>139.252807342</c:v>
              </c:pt>
              <c:pt idx="178">
                <c:v>139.342364109</c:v>
              </c:pt>
              <c:pt idx="179">
                <c:v>142.69959881</c:v>
              </c:pt>
              <c:pt idx="180">
                <c:v>144.247254244</c:v>
              </c:pt>
              <c:pt idx="181">
                <c:v>144.039743967</c:v>
              </c:pt>
              <c:pt idx="182">
                <c:v>144.216180914</c:v>
              </c:pt>
              <c:pt idx="183">
                <c:v>144.419831107</c:v>
              </c:pt>
              <c:pt idx="184">
                <c:v>144.704246136</c:v>
              </c:pt>
              <c:pt idx="185">
                <c:v>144.844083804</c:v>
              </c:pt>
              <c:pt idx="186">
                <c:v>145.993023578</c:v>
              </c:pt>
              <c:pt idx="187">
                <c:v>147.537093681</c:v>
              </c:pt>
              <c:pt idx="188">
                <c:v>147.850207937</c:v>
              </c:pt>
              <c:pt idx="189">
                <c:v>148.354492927</c:v>
              </c:pt>
              <c:pt idx="190">
                <c:v>146.563211719</c:v>
              </c:pt>
              <c:pt idx="191">
                <c:v>148.757521624</c:v>
              </c:pt>
              <c:pt idx="192">
                <c:v>150.266557136</c:v>
              </c:pt>
              <c:pt idx="193">
                <c:v>152.573023255</c:v>
              </c:pt>
              <c:pt idx="194">
                <c:v>154.262023985</c:v>
              </c:pt>
              <c:pt idx="195">
                <c:v>154.418015456</c:v>
              </c:pt>
              <c:pt idx="196">
                <c:v>155.414705904</c:v>
              </c:pt>
              <c:pt idx="197">
                <c:v>156.779760558</c:v>
              </c:pt>
              <c:pt idx="198">
                <c:v>155.940120577</c:v>
              </c:pt>
            </c:numLit>
          </c:yVal>
        </c:ser>
        <c:ser>
          <c:idx val="2"/>
          <c:order val="2"/>
          <c:tx>
            <c:v>Caixa USD</c:v>
          </c:tx>
          <c:spPr>
            <a:ln xmlns:a="http://schemas.openxmlformats.org/drawingml/2006/main" w="19050">
              <a:solidFill>
                <a:srgbClr val="9DA8AF"/>
              </a:solidFill>
            </a:ln>
          </c:spPr>
          <c:marker>
            <c:symbol val="none"/>
          </c:marker>
          <c:xVal>
            <c:numLit>
              <c:formatCode>General</c:formatCode>
              <c:ptCount val="199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  <c:pt idx="181">
                <c:v>2025.16666667</c:v>
              </c:pt>
              <c:pt idx="182">
                <c:v>2025.25</c:v>
              </c:pt>
              <c:pt idx="183">
                <c:v>2025.33333333</c:v>
              </c:pt>
              <c:pt idx="184">
                <c:v>2025.41666667</c:v>
              </c:pt>
              <c:pt idx="185">
                <c:v>2025.5</c:v>
              </c:pt>
              <c:pt idx="186">
                <c:v>2025.58333333</c:v>
              </c:pt>
              <c:pt idx="187">
                <c:v>2025.66666667</c:v>
              </c:pt>
              <c:pt idx="188">
                <c:v>2025.75</c:v>
              </c:pt>
              <c:pt idx="189">
                <c:v>2025.83333333</c:v>
              </c:pt>
              <c:pt idx="190">
                <c:v>2025.91666667</c:v>
              </c:pt>
              <c:pt idx="191">
                <c:v>2026</c:v>
              </c:pt>
              <c:pt idx="192">
                <c:v>2026.08333333</c:v>
              </c:pt>
              <c:pt idx="193">
                <c:v>2026.16666667</c:v>
              </c:pt>
              <c:pt idx="194">
                <c:v>2026.25</c:v>
              </c:pt>
              <c:pt idx="195">
                <c:v>2026.33333333</c:v>
              </c:pt>
              <c:pt idx="196">
                <c:v>2026.41666667</c:v>
              </c:pt>
              <c:pt idx="197">
                <c:v>2026.5</c:v>
              </c:pt>
              <c:pt idx="198">
                <c:v>2026.58333333</c:v>
              </c:pt>
            </c:numLit>
          </c:xVal>
          <c:yVal>
            <c:numLit>
              <c:formatCode>0.00</c:formatCode>
              <c:ptCount val="199"/>
              <c:pt idx="0">
                <c:v>100</c:v>
              </c:pt>
              <c:pt idx="1">
                <c:v>100.0104107</c:v>
              </c:pt>
              <c:pt idx="2">
                <c:v>100.020822484</c:v>
              </c:pt>
              <c:pt idx="3">
                <c:v>100.031235352</c:v>
              </c:pt>
              <c:pt idx="4">
                <c:v>100.041649303</c:v>
              </c:pt>
              <c:pt idx="5">
                <c:v>100.052064339</c:v>
              </c:pt>
              <c:pt idx="6">
                <c:v>100.06248046</c:v>
              </c:pt>
              <c:pt idx="7">
                <c:v>100.072897664</c:v>
              </c:pt>
              <c:pt idx="8">
                <c:v>100.083315953</c:v>
              </c:pt>
              <c:pt idx="9">
                <c:v>100.093735327</c:v>
              </c:pt>
              <c:pt idx="10">
                <c:v>100.104155786</c:v>
              </c:pt>
              <c:pt idx="11">
                <c:v>100.114577329</c:v>
              </c:pt>
              <c:pt idx="12">
                <c:v>100.124999957</c:v>
              </c:pt>
              <c:pt idx="13">
                <c:v>100.135423671</c:v>
              </c:pt>
              <c:pt idx="14">
                <c:v>100.145848469</c:v>
              </c:pt>
              <c:pt idx="15">
                <c:v>100.156274353</c:v>
              </c:pt>
              <c:pt idx="16">
                <c:v>100.166701322</c:v>
              </c:pt>
              <c:pt idx="17">
                <c:v>100.177129377</c:v>
              </c:pt>
              <c:pt idx="18">
                <c:v>100.187558518</c:v>
              </c:pt>
              <c:pt idx="19">
                <c:v>100.197988744</c:v>
              </c:pt>
              <c:pt idx="20">
                <c:v>100.208420056</c:v>
              </c:pt>
              <c:pt idx="21">
                <c:v>100.218852454</c:v>
              </c:pt>
              <c:pt idx="22">
                <c:v>100.229285938</c:v>
              </c:pt>
              <c:pt idx="23">
                <c:v>100.239720508</c:v>
              </c:pt>
              <c:pt idx="24">
                <c:v>100.250156165</c:v>
              </c:pt>
              <c:pt idx="25">
                <c:v>100.260592908</c:v>
              </c:pt>
              <c:pt idx="26">
                <c:v>100.271030737</c:v>
              </c:pt>
              <c:pt idx="27">
                <c:v>100.281469653</c:v>
              </c:pt>
              <c:pt idx="28">
                <c:v>100.291909656</c:v>
              </c:pt>
              <c:pt idx="29">
                <c:v>100.302350746</c:v>
              </c:pt>
              <c:pt idx="30">
                <c:v>100.312792923</c:v>
              </c:pt>
              <c:pt idx="31">
                <c:v>100.323236187</c:v>
              </c:pt>
              <c:pt idx="32">
                <c:v>100.333680538</c:v>
              </c:pt>
              <c:pt idx="33">
                <c:v>100.344125977</c:v>
              </c:pt>
              <c:pt idx="34">
                <c:v>100.354572503</c:v>
              </c:pt>
              <c:pt idx="35">
                <c:v>100.365020116</c:v>
              </c:pt>
              <c:pt idx="36">
                <c:v>100.375468817</c:v>
              </c:pt>
              <c:pt idx="37">
                <c:v>100.385918606</c:v>
              </c:pt>
              <c:pt idx="38">
                <c:v>100.396369483</c:v>
              </c:pt>
              <c:pt idx="39">
                <c:v>100.406821448</c:v>
              </c:pt>
              <c:pt idx="40">
                <c:v>100.417274501</c:v>
              </c:pt>
              <c:pt idx="41">
                <c:v>100.427728642</c:v>
              </c:pt>
              <c:pt idx="42">
                <c:v>100.438183871</c:v>
              </c:pt>
              <c:pt idx="43">
                <c:v>100.448640189</c:v>
              </c:pt>
              <c:pt idx="44">
                <c:v>100.459097596</c:v>
              </c:pt>
              <c:pt idx="45">
                <c:v>100.469556091</c:v>
              </c:pt>
              <c:pt idx="46">
                <c:v>100.480015675</c:v>
              </c:pt>
              <c:pt idx="47">
                <c:v>100.490476348</c:v>
              </c:pt>
              <c:pt idx="48">
                <c:v>100.50093811</c:v>
              </c:pt>
              <c:pt idx="49">
                <c:v>100.511400962</c:v>
              </c:pt>
              <c:pt idx="50">
                <c:v>100.521864902</c:v>
              </c:pt>
              <c:pt idx="51">
                <c:v>100.532329932</c:v>
              </c:pt>
              <c:pt idx="52">
                <c:v>100.542796051</c:v>
              </c:pt>
              <c:pt idx="53">
                <c:v>100.55326326</c:v>
              </c:pt>
              <c:pt idx="54">
                <c:v>100.563731559</c:v>
              </c:pt>
              <c:pt idx="55">
                <c:v>100.574200947</c:v>
              </c:pt>
              <c:pt idx="56">
                <c:v>100.584671425</c:v>
              </c:pt>
              <c:pt idx="57">
                <c:v>100.595142994</c:v>
              </c:pt>
              <c:pt idx="58">
                <c:v>100.605615652</c:v>
              </c:pt>
              <c:pt idx="59">
                <c:v>100.616089401</c:v>
              </c:pt>
              <c:pt idx="60">
                <c:v>100.62656424</c:v>
              </c:pt>
              <c:pt idx="61">
                <c:v>100.63704017</c:v>
              </c:pt>
              <c:pt idx="62">
                <c:v>100.64751719</c:v>
              </c:pt>
              <c:pt idx="63">
                <c:v>100.657995301</c:v>
              </c:pt>
              <c:pt idx="64">
                <c:v>100.668474503</c:v>
              </c:pt>
              <c:pt idx="65">
                <c:v>100.678954796</c:v>
              </c:pt>
              <c:pt idx="66">
                <c:v>100.68943618</c:v>
              </c:pt>
              <c:pt idx="67">
                <c:v>100.699918655</c:v>
              </c:pt>
              <c:pt idx="68">
                <c:v>100.710402222</c:v>
              </c:pt>
              <c:pt idx="69">
                <c:v>100.72088688</c:v>
              </c:pt>
              <c:pt idx="70">
                <c:v>100.731372629</c:v>
              </c:pt>
              <c:pt idx="71">
                <c:v>100.762797211</c:v>
              </c:pt>
              <c:pt idx="72">
                <c:v>100.794231596</c:v>
              </c:pt>
              <c:pt idx="73">
                <c:v>100.825675788</c:v>
              </c:pt>
              <c:pt idx="74">
                <c:v>100.85712979</c:v>
              </c:pt>
              <c:pt idx="75">
                <c:v>100.888593603</c:v>
              </c:pt>
              <c:pt idx="76">
                <c:v>100.920067233</c:v>
              </c:pt>
              <c:pt idx="77">
                <c:v>100.951550681</c:v>
              </c:pt>
              <c:pt idx="78">
                <c:v>100.983043951</c:v>
              </c:pt>
              <c:pt idx="79">
                <c:v>101.014547045</c:v>
              </c:pt>
              <c:pt idx="80">
                <c:v>101.046059967</c:v>
              </c:pt>
              <c:pt idx="81">
                <c:v>101.077582721</c:v>
              </c:pt>
              <c:pt idx="82">
                <c:v>101.109115308</c:v>
              </c:pt>
              <c:pt idx="83">
                <c:v>101.161626054</c:v>
              </c:pt>
              <c:pt idx="84">
                <c:v>101.214164071</c:v>
              </c:pt>
              <c:pt idx="85">
                <c:v>101.266729374</c:v>
              </c:pt>
              <c:pt idx="86">
                <c:v>101.340275207</c:v>
              </c:pt>
              <c:pt idx="87">
                <c:v>101.413874454</c:v>
              </c:pt>
              <c:pt idx="88">
                <c:v>101.487527152</c:v>
              </c:pt>
              <c:pt idx="89">
                <c:v>101.582184619</c:v>
              </c:pt>
              <c:pt idx="90">
                <c:v>101.676930374</c:v>
              </c:pt>
              <c:pt idx="91">
                <c:v>101.771764498</c:v>
              </c:pt>
              <c:pt idx="92">
                <c:v>101.866687073</c:v>
              </c:pt>
              <c:pt idx="93">
                <c:v>101.961698183</c:v>
              </c:pt>
              <c:pt idx="94">
                <c:v>102.05679791</c:v>
              </c:pt>
              <c:pt idx="95">
                <c:v>102.173007434</c:v>
              </c:pt>
              <c:pt idx="96">
                <c:v>102.289349284</c:v>
              </c:pt>
              <c:pt idx="97">
                <c:v>102.405823608</c:v>
              </c:pt>
              <c:pt idx="98">
                <c:v>102.543475919</c:v>
              </c:pt>
              <c:pt idx="99">
                <c:v>102.68131326</c:v>
              </c:pt>
              <c:pt idx="100">
                <c:v>102.819335879</c:v>
              </c:pt>
              <c:pt idx="101">
                <c:v>102.978626782</c:v>
              </c:pt>
              <c:pt idx="102">
                <c:v>103.138164463</c:v>
              </c:pt>
              <c:pt idx="103">
                <c:v>103.297949304</c:v>
              </c:pt>
              <c:pt idx="104">
                <c:v>103.479114973</c:v>
              </c:pt>
              <c:pt idx="105">
                <c:v>103.660598373</c:v>
              </c:pt>
              <c:pt idx="106">
                <c:v>103.842400061</c:v>
              </c:pt>
              <c:pt idx="107">
                <c:v>104.045717665</c:v>
              </c:pt>
              <c:pt idx="108">
                <c:v>104.249433354</c:v>
              </c:pt>
              <c:pt idx="109">
                <c:v>104.453547907</c:v>
              </c:pt>
              <c:pt idx="110">
                <c:v>104.658062104</c:v>
              </c:pt>
              <c:pt idx="111">
                <c:v>104.862976729</c:v>
              </c:pt>
              <c:pt idx="112">
                <c:v>105.068292565</c:v>
              </c:pt>
              <c:pt idx="113">
                <c:v>105.274010398</c:v>
              </c:pt>
              <c:pt idx="114">
                <c:v>105.480131015</c:v>
              </c:pt>
              <c:pt idx="115">
                <c:v>105.66512383</c:v>
              </c:pt>
              <c:pt idx="116">
                <c:v>105.828823516</c:v>
              </c:pt>
              <c:pt idx="117">
                <c:v>105.971076969</c:v>
              </c:pt>
              <c:pt idx="118">
                <c:v>106.113521638</c:v>
              </c:pt>
              <c:pt idx="119">
                <c:v>106.256157778</c:v>
              </c:pt>
              <c:pt idx="120">
                <c:v>106.398985648</c:v>
              </c:pt>
              <c:pt idx="121">
                <c:v>106.542005505</c:v>
              </c:pt>
              <c:pt idx="122">
                <c:v>106.553097273</c:v>
              </c:pt>
              <c:pt idx="123">
                <c:v>106.564190197</c:v>
              </c:pt>
              <c:pt idx="124">
                <c:v>106.575284275</c:v>
              </c:pt>
              <c:pt idx="125">
                <c:v>106.586379508</c:v>
              </c:pt>
              <c:pt idx="126">
                <c:v>106.597475896</c:v>
              </c:pt>
              <c:pt idx="127">
                <c:v>106.608573439</c:v>
              </c:pt>
              <c:pt idx="128">
                <c:v>106.619672138</c:v>
              </c:pt>
              <c:pt idx="129">
                <c:v>106.630771992</c:v>
              </c:pt>
              <c:pt idx="130">
                <c:v>106.641873002</c:v>
              </c:pt>
              <c:pt idx="131">
                <c:v>106.652975168</c:v>
              </c:pt>
              <c:pt idx="132">
                <c:v>106.664078489</c:v>
              </c:pt>
              <c:pt idx="133">
                <c:v>106.675182966</c:v>
              </c:pt>
              <c:pt idx="134">
                <c:v>106.686288599</c:v>
              </c:pt>
              <c:pt idx="135">
                <c:v>106.697395389</c:v>
              </c:pt>
              <c:pt idx="136">
                <c:v>106.708503335</c:v>
              </c:pt>
              <c:pt idx="137">
                <c:v>106.719612437</c:v>
              </c:pt>
              <c:pt idx="138">
                <c:v>106.730722695</c:v>
              </c:pt>
              <c:pt idx="139">
                <c:v>106.741834111</c:v>
              </c:pt>
              <c:pt idx="140">
                <c:v>106.752946683</c:v>
              </c:pt>
              <c:pt idx="141">
                <c:v>106.764060412</c:v>
              </c:pt>
              <c:pt idx="142">
                <c:v>106.775175298</c:v>
              </c:pt>
              <c:pt idx="143">
                <c:v>106.786291341</c:v>
              </c:pt>
              <c:pt idx="144">
                <c:v>106.797408542</c:v>
              </c:pt>
              <c:pt idx="145">
                <c:v>106.808526899</c:v>
              </c:pt>
              <c:pt idx="146">
                <c:v>106.841847336</c:v>
              </c:pt>
              <c:pt idx="147">
                <c:v>106.875178167</c:v>
              </c:pt>
              <c:pt idx="148">
                <c:v>106.952797185</c:v>
              </c:pt>
              <c:pt idx="149">
                <c:v>107.096561466</c:v>
              </c:pt>
              <c:pt idx="150">
                <c:v>107.306250536</c:v>
              </c:pt>
              <c:pt idx="151">
                <c:v>107.516350166</c:v>
              </c:pt>
              <c:pt idx="152">
                <c:v>107.792408662</c:v>
              </c:pt>
              <c:pt idx="153">
                <c:v>108.069175966</c:v>
              </c:pt>
              <c:pt idx="154">
                <c:v>108.412100664</c:v>
              </c:pt>
              <c:pt idx="155">
                <c:v>108.799642181</c:v>
              </c:pt>
              <c:pt idx="156">
                <c:v>109.188569045</c:v>
              </c:pt>
              <c:pt idx="157">
                <c:v>109.600734263</c:v>
              </c:pt>
              <c:pt idx="158">
                <c:v>110.036337877</c:v>
              </c:pt>
              <c:pt idx="159">
                <c:v>110.473672779</c:v>
              </c:pt>
              <c:pt idx="160">
                <c:v>110.934754538</c:v>
              </c:pt>
              <c:pt idx="161">
                <c:v>111.397760704</c:v>
              </c:pt>
              <c:pt idx="162">
                <c:v>111.88484377</c:v>
              </c:pt>
              <c:pt idx="163">
                <c:v>112.374056591</c:v>
              </c:pt>
              <c:pt idx="164">
                <c:v>112.865408479</c:v>
              </c:pt>
              <c:pt idx="165">
                <c:v>113.358908787</c:v>
              </c:pt>
              <c:pt idx="166">
                <c:v>113.854566909</c:v>
              </c:pt>
              <c:pt idx="167">
                <c:v>114.352392279</c:v>
              </c:pt>
              <c:pt idx="168">
                <c:v>114.852394375</c:v>
              </c:pt>
              <c:pt idx="169">
                <c:v>115.354582714</c:v>
              </c:pt>
              <c:pt idx="170">
                <c:v>115.858966855</c:v>
              </c:pt>
              <c:pt idx="171">
                <c:v>116.365556399</c:v>
              </c:pt>
              <c:pt idx="172">
                <c:v>116.874360989</c:v>
              </c:pt>
              <c:pt idx="173">
                <c:v>117.385390311</c:v>
              </c:pt>
              <c:pt idx="174">
                <c:v>117.898654091</c:v>
              </c:pt>
              <c:pt idx="175">
                <c:v>118.414162101</c:v>
              </c:pt>
              <c:pt idx="176">
                <c:v>118.884794322</c:v>
              </c:pt>
              <c:pt idx="177">
                <c:v>119.35729705</c:v>
              </c:pt>
              <c:pt idx="178">
                <c:v>119.807847202</c:v>
              </c:pt>
              <c:pt idx="179">
                <c:v>120.236125176</c:v>
              </c:pt>
              <c:pt idx="180">
                <c:v>120.665934118</c:v>
              </c:pt>
              <c:pt idx="181">
                <c:v>121.097279502</c:v>
              </c:pt>
              <c:pt idx="182">
                <c:v>121.530166819</c:v>
              </c:pt>
              <c:pt idx="183">
                <c:v>121.964601581</c:v>
              </c:pt>
              <c:pt idx="184">
                <c:v>122.400589321</c:v>
              </c:pt>
              <c:pt idx="185">
                <c:v>122.838135589</c:v>
              </c:pt>
              <c:pt idx="186">
                <c:v>123.277245956</c:v>
              </c:pt>
              <c:pt idx="187">
                <c:v>123.717926015</c:v>
              </c:pt>
              <c:pt idx="188">
                <c:v>124.135371651</c:v>
              </c:pt>
              <c:pt idx="189">
                <c:v>124.529277541</c:v>
              </c:pt>
              <c:pt idx="190">
                <c:v>124.924433371</c:v>
              </c:pt>
              <c:pt idx="191">
                <c:v>125.295680804</c:v>
              </c:pt>
              <c:pt idx="192">
                <c:v>125.668031501</c:v>
              </c:pt>
              <c:pt idx="193">
                <c:v>126.041488741</c:v>
              </c:pt>
              <c:pt idx="194">
                <c:v>126.416055812</c:v>
              </c:pt>
              <c:pt idx="195">
                <c:v>126.791736013</c:v>
              </c:pt>
              <c:pt idx="196">
                <c:v>127.168532651</c:v>
              </c:pt>
              <c:pt idx="197">
                <c:v>127.546449044</c:v>
              </c:pt>
              <c:pt idx="198">
                <c:v>127.92548852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05"/>
          <c:min val="9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Patrimônio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2027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Carry por juros</c:v>
          </c:tx>
          <c:spPr>
            <a:ln xmlns:a="http://schemas.openxmlformats.org/drawingml/2006/main" w="28575">
              <a:solidFill>
                <a:srgbClr val="15354D"/>
              </a:solidFill>
            </a:ln>
          </c:spPr>
          <c:marker>
            <c:symbol val="none"/>
          </c:marker>
          <c:xVal>
            <c:numLit>
              <c:formatCode>General</c:formatCode>
              <c:ptCount val="102"/>
              <c:pt idx="0">
                <c:v>2018.16666667</c:v>
              </c:pt>
              <c:pt idx="1">
                <c:v>2018.25</c:v>
              </c:pt>
              <c:pt idx="2">
                <c:v>2018.33333333</c:v>
              </c:pt>
              <c:pt idx="3">
                <c:v>2018.41666667</c:v>
              </c:pt>
              <c:pt idx="4">
                <c:v>2018.5</c:v>
              </c:pt>
              <c:pt idx="5">
                <c:v>2018.58333333</c:v>
              </c:pt>
              <c:pt idx="6">
                <c:v>2018.66666667</c:v>
              </c:pt>
              <c:pt idx="7">
                <c:v>2018.75</c:v>
              </c:pt>
              <c:pt idx="8">
                <c:v>2018.83333333</c:v>
              </c:pt>
              <c:pt idx="9">
                <c:v>2018.91666667</c:v>
              </c:pt>
              <c:pt idx="10">
                <c:v>2019</c:v>
              </c:pt>
              <c:pt idx="11">
                <c:v>2019.08333333</c:v>
              </c:pt>
              <c:pt idx="12">
                <c:v>2019.16666667</c:v>
              </c:pt>
              <c:pt idx="13">
                <c:v>2019.25</c:v>
              </c:pt>
              <c:pt idx="14">
                <c:v>2019.33333333</c:v>
              </c:pt>
              <c:pt idx="15">
                <c:v>2019.41666667</c:v>
              </c:pt>
              <c:pt idx="16">
                <c:v>2019.5</c:v>
              </c:pt>
              <c:pt idx="17">
                <c:v>2019.58333333</c:v>
              </c:pt>
              <c:pt idx="18">
                <c:v>2019.66666667</c:v>
              </c:pt>
              <c:pt idx="19">
                <c:v>2019.75</c:v>
              </c:pt>
              <c:pt idx="20">
                <c:v>2019.83333333</c:v>
              </c:pt>
              <c:pt idx="21">
                <c:v>2019.91666667</c:v>
              </c:pt>
              <c:pt idx="22">
                <c:v>2020</c:v>
              </c:pt>
              <c:pt idx="23">
                <c:v>2020.08333333</c:v>
              </c:pt>
              <c:pt idx="24">
                <c:v>2020.16666667</c:v>
              </c:pt>
              <c:pt idx="25">
                <c:v>2020.25</c:v>
              </c:pt>
              <c:pt idx="26">
                <c:v>2020.33333333</c:v>
              </c:pt>
              <c:pt idx="27">
                <c:v>2020.41666667</c:v>
              </c:pt>
              <c:pt idx="28">
                <c:v>2020.5</c:v>
              </c:pt>
              <c:pt idx="29">
                <c:v>2020.58333333</c:v>
              </c:pt>
              <c:pt idx="30">
                <c:v>2020.66666667</c:v>
              </c:pt>
              <c:pt idx="31">
                <c:v>2020.75</c:v>
              </c:pt>
              <c:pt idx="32">
                <c:v>2020.83333333</c:v>
              </c:pt>
              <c:pt idx="33">
                <c:v>2020.91666667</c:v>
              </c:pt>
              <c:pt idx="34">
                <c:v>2021</c:v>
              </c:pt>
              <c:pt idx="35">
                <c:v>2021.08333333</c:v>
              </c:pt>
              <c:pt idx="36">
                <c:v>2021.16666667</c:v>
              </c:pt>
              <c:pt idx="37">
                <c:v>2021.25</c:v>
              </c:pt>
              <c:pt idx="38">
                <c:v>2021.33333333</c:v>
              </c:pt>
              <c:pt idx="39">
                <c:v>2021.41666667</c:v>
              </c:pt>
              <c:pt idx="40">
                <c:v>2021.5</c:v>
              </c:pt>
              <c:pt idx="41">
                <c:v>2021.58333333</c:v>
              </c:pt>
              <c:pt idx="42">
                <c:v>2021.66666667</c:v>
              </c:pt>
              <c:pt idx="43">
                <c:v>2021.75</c:v>
              </c:pt>
              <c:pt idx="44">
                <c:v>2021.83333333</c:v>
              </c:pt>
              <c:pt idx="45">
                <c:v>2021.91666667</c:v>
              </c:pt>
              <c:pt idx="46">
                <c:v>2022</c:v>
              </c:pt>
              <c:pt idx="47">
                <c:v>2022.08333333</c:v>
              </c:pt>
              <c:pt idx="48">
                <c:v>2022.16666667</c:v>
              </c:pt>
              <c:pt idx="49">
                <c:v>2022.25</c:v>
              </c:pt>
              <c:pt idx="50">
                <c:v>2022.33333333</c:v>
              </c:pt>
              <c:pt idx="51">
                <c:v>2022.41666667</c:v>
              </c:pt>
              <c:pt idx="52">
                <c:v>2022.5</c:v>
              </c:pt>
              <c:pt idx="53">
                <c:v>2022.58333333</c:v>
              </c:pt>
              <c:pt idx="54">
                <c:v>2022.66666667</c:v>
              </c:pt>
              <c:pt idx="55">
                <c:v>2022.75</c:v>
              </c:pt>
              <c:pt idx="56">
                <c:v>2022.83333333</c:v>
              </c:pt>
              <c:pt idx="57">
                <c:v>2022.91666667</c:v>
              </c:pt>
              <c:pt idx="58">
                <c:v>2023</c:v>
              </c:pt>
              <c:pt idx="59">
                <c:v>2023.08333333</c:v>
              </c:pt>
              <c:pt idx="60">
                <c:v>2023.16666667</c:v>
              </c:pt>
              <c:pt idx="61">
                <c:v>2023.25</c:v>
              </c:pt>
              <c:pt idx="62">
                <c:v>2023.33333333</c:v>
              </c:pt>
              <c:pt idx="63">
                <c:v>2023.41666667</c:v>
              </c:pt>
              <c:pt idx="64">
                <c:v>2023.5</c:v>
              </c:pt>
              <c:pt idx="65">
                <c:v>2023.58333333</c:v>
              </c:pt>
              <c:pt idx="66">
                <c:v>2023.66666667</c:v>
              </c:pt>
              <c:pt idx="67">
                <c:v>2023.75</c:v>
              </c:pt>
              <c:pt idx="68">
                <c:v>2023.83333333</c:v>
              </c:pt>
              <c:pt idx="69">
                <c:v>2023.91666667</c:v>
              </c:pt>
              <c:pt idx="70">
                <c:v>2024</c:v>
              </c:pt>
              <c:pt idx="71">
                <c:v>2024.08333333</c:v>
              </c:pt>
              <c:pt idx="72">
                <c:v>2024.16666667</c:v>
              </c:pt>
              <c:pt idx="73">
                <c:v>2024.25</c:v>
              </c:pt>
              <c:pt idx="74">
                <c:v>2024.33333333</c:v>
              </c:pt>
              <c:pt idx="75">
                <c:v>2024.41666667</c:v>
              </c:pt>
              <c:pt idx="76">
                <c:v>2024.5</c:v>
              </c:pt>
              <c:pt idx="77">
                <c:v>2024.58333333</c:v>
              </c:pt>
              <c:pt idx="78">
                <c:v>2024.66666667</c:v>
              </c:pt>
              <c:pt idx="79">
                <c:v>2024.75</c:v>
              </c:pt>
              <c:pt idx="80">
                <c:v>2024.83333333</c:v>
              </c:pt>
              <c:pt idx="81">
                <c:v>2024.91666667</c:v>
              </c:pt>
              <c:pt idx="82">
                <c:v>2025</c:v>
              </c:pt>
              <c:pt idx="83">
                <c:v>2025.08333333</c:v>
              </c:pt>
              <c:pt idx="84">
                <c:v>2025.16666667</c:v>
              </c:pt>
              <c:pt idx="85">
                <c:v>2025.25</c:v>
              </c:pt>
              <c:pt idx="86">
                <c:v>2025.33333333</c:v>
              </c:pt>
              <c:pt idx="87">
                <c:v>2025.41666667</c:v>
              </c:pt>
              <c:pt idx="88">
                <c:v>2025.5</c:v>
              </c:pt>
              <c:pt idx="89">
                <c:v>2025.58333333</c:v>
              </c:pt>
              <c:pt idx="90">
                <c:v>2025.66666667</c:v>
              </c:pt>
              <c:pt idx="91">
                <c:v>2025.75</c:v>
              </c:pt>
              <c:pt idx="92">
                <c:v>2025.83333333</c:v>
              </c:pt>
              <c:pt idx="93">
                <c:v>2025.91666667</c:v>
              </c:pt>
              <c:pt idx="94">
                <c:v>2026</c:v>
              </c:pt>
              <c:pt idx="95">
                <c:v>2026.08333333</c:v>
              </c:pt>
              <c:pt idx="96">
                <c:v>2026.16666667</c:v>
              </c:pt>
              <c:pt idx="97">
                <c:v>2026.25</c:v>
              </c:pt>
              <c:pt idx="98">
                <c:v>2026.33333333</c:v>
              </c:pt>
              <c:pt idx="99">
                <c:v>2026.41666667</c:v>
              </c:pt>
              <c:pt idx="100">
                <c:v>2026.5</c:v>
              </c:pt>
              <c:pt idx="101">
                <c:v>2026.58333333</c:v>
              </c:pt>
            </c:numLit>
          </c:xVal>
          <c:yVal>
            <c:numLit>
              <c:formatCode>0.00</c:formatCode>
              <c:ptCount val="102"/>
              <c:pt idx="0">
                <c:v>100</c:v>
              </c:pt>
              <c:pt idx="1">
                <c:v>100.71934841</c:v>
              </c:pt>
              <c:pt idx="2">
                <c:v>100.322302203</c:v>
              </c:pt>
              <c:pt idx="3">
                <c:v>99.698002847</c:v>
              </c:pt>
              <c:pt idx="4">
                <c:v>100.373656701</c:v>
              </c:pt>
              <c:pt idx="5">
                <c:v>99.2549664106</c:v>
              </c:pt>
              <c:pt idx="6">
                <c:v>100.124291282</c:v>
              </c:pt>
              <c:pt idx="7">
                <c:v>103.710174419</c:v>
              </c:pt>
              <c:pt idx="8">
                <c:v>102.273508455</c:v>
              </c:pt>
              <c:pt idx="9">
                <c:v>101.303361498</c:v>
              </c:pt>
              <c:pt idx="10">
                <c:v>104.252071653</c:v>
              </c:pt>
              <c:pt idx="11">
                <c:v>104.617167642</c:v>
              </c:pt>
              <c:pt idx="12">
                <c:v>104.150409036</c:v>
              </c:pt>
              <c:pt idx="13">
                <c:v>104.86036462</c:v>
              </c:pt>
              <c:pt idx="14">
                <c:v>104.930386964</c:v>
              </c:pt>
              <c:pt idx="15">
                <c:v>106.103195945</c:v>
              </c:pt>
              <c:pt idx="16">
                <c:v>107.957742778</c:v>
              </c:pt>
              <c:pt idx="17">
                <c:v>106.613506263</c:v>
              </c:pt>
              <c:pt idx="18">
                <c:v>107.37181535</c:v>
              </c:pt>
              <c:pt idx="19">
                <c:v>107.849787278</c:v>
              </c:pt>
              <c:pt idx="20">
                <c:v>106.492892737</c:v>
              </c:pt>
              <c:pt idx="21">
                <c:v>107.460389187</c:v>
              </c:pt>
              <c:pt idx="22">
                <c:v>107.125094655</c:v>
              </c:pt>
              <c:pt idx="23">
                <c:v>106.025103845</c:v>
              </c:pt>
              <c:pt idx="24">
                <c:v>101.093430557</c:v>
              </c:pt>
              <c:pt idx="25">
                <c:v>100.744825006</c:v>
              </c:pt>
              <c:pt idx="26">
                <c:v>100.75422077</c:v>
              </c:pt>
              <c:pt idx="27">
                <c:v>100.429772996</c:v>
              </c:pt>
              <c:pt idx="28">
                <c:v>100.262136874</c:v>
              </c:pt>
              <c:pt idx="29">
                <c:v>99.8492002049</c:v>
              </c:pt>
              <c:pt idx="30">
                <c:v>98.6613571051</c:v>
              </c:pt>
              <c:pt idx="31">
                <c:v>98.1413497346</c:v>
              </c:pt>
              <c:pt idx="32">
                <c:v>100.362047503</c:v>
              </c:pt>
              <c:pt idx="33">
                <c:v>100.474404371</c:v>
              </c:pt>
              <c:pt idx="34">
                <c:v>99.752096078</c:v>
              </c:pt>
              <c:pt idx="35">
                <c:v>100.420418294</c:v>
              </c:pt>
              <c:pt idx="36">
                <c:v>101.294071685</c:v>
              </c:pt>
              <c:pt idx="37">
                <c:v>102.743644063</c:v>
              </c:pt>
              <c:pt idx="38">
                <c:v>103.71238531</c:v>
              </c:pt>
              <c:pt idx="39">
                <c:v>105.412085953</c:v>
              </c:pt>
              <c:pt idx="40">
                <c:v>104.449184137</c:v>
              </c:pt>
              <c:pt idx="41">
                <c:v>103.989507174</c:v>
              </c:pt>
              <c:pt idx="42">
                <c:v>103.793307945</c:v>
              </c:pt>
              <c:pt idx="43">
                <c:v>103.953103088</c:v>
              </c:pt>
              <c:pt idx="44">
                <c:v>103.780438231</c:v>
              </c:pt>
              <c:pt idx="45">
                <c:v>104.877380412</c:v>
              </c:pt>
              <c:pt idx="46">
                <c:v>106.376488994</c:v>
              </c:pt>
              <c:pt idx="47">
                <c:v>107.65239692</c:v>
              </c:pt>
              <c:pt idx="48">
                <c:v>112.1947406</c:v>
              </c:pt>
              <c:pt idx="49">
                <c:v>113.775863786</c:v>
              </c:pt>
              <c:pt idx="50">
                <c:v>114.108663876</c:v>
              </c:pt>
              <c:pt idx="51">
                <c:v>113.909828571</c:v>
              </c:pt>
              <c:pt idx="52">
                <c:v>114.818454183</c:v>
              </c:pt>
              <c:pt idx="53">
                <c:v>116.508487218</c:v>
              </c:pt>
              <c:pt idx="54">
                <c:v>116.322293898</c:v>
              </c:pt>
              <c:pt idx="55">
                <c:v>117.863911723</c:v>
              </c:pt>
              <c:pt idx="56">
                <c:v>115.509437318</c:v>
              </c:pt>
              <c:pt idx="57">
                <c:v>113.893631891</c:v>
              </c:pt>
              <c:pt idx="58">
                <c:v>115.041261574</c:v>
              </c:pt>
              <c:pt idx="59">
                <c:v>116.918777286</c:v>
              </c:pt>
              <c:pt idx="60">
                <c:v>117.025148716</c:v>
              </c:pt>
              <c:pt idx="61">
                <c:v>118.38667493</c:v>
              </c:pt>
              <c:pt idx="62">
                <c:v>120.241226592</c:v>
              </c:pt>
              <c:pt idx="63">
                <c:v>123.875469942</c:v>
              </c:pt>
              <c:pt idx="64">
                <c:v>124.786511132</c:v>
              </c:pt>
              <c:pt idx="65">
                <c:v>125.406495792</c:v>
              </c:pt>
              <c:pt idx="66">
                <c:v>127.266317954</c:v>
              </c:pt>
              <c:pt idx="67">
                <c:v>127.834701204</c:v>
              </c:pt>
              <c:pt idx="68">
                <c:v>129.145118797</c:v>
              </c:pt>
              <c:pt idx="69">
                <c:v>129.037732474</c:v>
              </c:pt>
              <c:pt idx="70">
                <c:v>131.132670384</c:v>
              </c:pt>
              <c:pt idx="71">
                <c:v>132.215474911</c:v>
              </c:pt>
              <c:pt idx="72">
                <c:v>133.348958733</c:v>
              </c:pt>
              <c:pt idx="73">
                <c:v>134.633572833</c:v>
              </c:pt>
              <c:pt idx="74">
                <c:v>135.103055221</c:v>
              </c:pt>
              <c:pt idx="75">
                <c:v>135.113813342</c:v>
              </c:pt>
              <c:pt idx="76">
                <c:v>133.797066308</c:v>
              </c:pt>
              <c:pt idx="77">
                <c:v>133.721783957</c:v>
              </c:pt>
              <c:pt idx="78">
                <c:v>135.460253707</c:v>
              </c:pt>
              <c:pt idx="79">
                <c:v>137.278071793</c:v>
              </c:pt>
              <c:pt idx="80">
                <c:v>135.811470875</c:v>
              </c:pt>
              <c:pt idx="81">
                <c:v>137.705179836</c:v>
              </c:pt>
              <c:pt idx="82">
                <c:v>139.898790756</c:v>
              </c:pt>
              <c:pt idx="83">
                <c:v>139.389684842</c:v>
              </c:pt>
              <c:pt idx="84">
                <c:v>138.737845387</c:v>
              </c:pt>
              <c:pt idx="85">
                <c:v>138.834917566</c:v>
              </c:pt>
              <c:pt idx="86">
                <c:v>139.612642397</c:v>
              </c:pt>
              <c:pt idx="87">
                <c:v>141.256074593</c:v>
              </c:pt>
              <c:pt idx="88">
                <c:v>142.545638631</c:v>
              </c:pt>
              <c:pt idx="89">
                <c:v>143.838071542</c:v>
              </c:pt>
              <c:pt idx="90">
                <c:v>145.422151018</c:v>
              </c:pt>
              <c:pt idx="91">
                <c:v>147.043488945</c:v>
              </c:pt>
              <c:pt idx="92">
                <c:v>148.972615734</c:v>
              </c:pt>
              <c:pt idx="93">
                <c:v>148.657522503</c:v>
              </c:pt>
              <c:pt idx="94">
                <c:v>149.949058256</c:v>
              </c:pt>
              <c:pt idx="95">
                <c:v>151.86158292</c:v>
              </c:pt>
              <c:pt idx="96">
                <c:v>154.382837606</c:v>
              </c:pt>
              <c:pt idx="97">
                <c:v>156.247340719</c:v>
              </c:pt>
              <c:pt idx="98">
                <c:v>156.977456964</c:v>
              </c:pt>
              <c:pt idx="99">
                <c:v>158.999767591</c:v>
              </c:pt>
              <c:pt idx="100">
                <c:v>160.210438933</c:v>
              </c:pt>
              <c:pt idx="101">
                <c:v>160.466915563</c:v>
              </c:pt>
            </c:numLit>
          </c:yVal>
        </c:ser>
        <c:ser>
          <c:idx val="1"/>
          <c:order val="1"/>
          <c:tx>
            <c:v>Combinação</c:v>
          </c:tx>
          <c:spPr>
            <a:ln xmlns:a="http://schemas.openxmlformats.org/drawingml/2006/main" w="28575">
              <a:solidFill>
                <a:srgbClr val="007F7B"/>
              </a:solidFill>
            </a:ln>
          </c:spPr>
          <c:marker>
            <c:symbol val="none"/>
          </c:marker>
          <c:xVal>
            <c:numLit>
              <c:formatCode>General</c:formatCode>
              <c:ptCount val="102"/>
              <c:pt idx="0">
                <c:v>2018.16666667</c:v>
              </c:pt>
              <c:pt idx="1">
                <c:v>2018.25</c:v>
              </c:pt>
              <c:pt idx="2">
                <c:v>2018.33333333</c:v>
              </c:pt>
              <c:pt idx="3">
                <c:v>2018.41666667</c:v>
              </c:pt>
              <c:pt idx="4">
                <c:v>2018.5</c:v>
              </c:pt>
              <c:pt idx="5">
                <c:v>2018.58333333</c:v>
              </c:pt>
              <c:pt idx="6">
                <c:v>2018.66666667</c:v>
              </c:pt>
              <c:pt idx="7">
                <c:v>2018.75</c:v>
              </c:pt>
              <c:pt idx="8">
                <c:v>2018.83333333</c:v>
              </c:pt>
              <c:pt idx="9">
                <c:v>2018.91666667</c:v>
              </c:pt>
              <c:pt idx="10">
                <c:v>2019</c:v>
              </c:pt>
              <c:pt idx="11">
                <c:v>2019.08333333</c:v>
              </c:pt>
              <c:pt idx="12">
                <c:v>2019.16666667</c:v>
              </c:pt>
              <c:pt idx="13">
                <c:v>2019.25</c:v>
              </c:pt>
              <c:pt idx="14">
                <c:v>2019.33333333</c:v>
              </c:pt>
              <c:pt idx="15">
                <c:v>2019.41666667</c:v>
              </c:pt>
              <c:pt idx="16">
                <c:v>2019.5</c:v>
              </c:pt>
              <c:pt idx="17">
                <c:v>2019.58333333</c:v>
              </c:pt>
              <c:pt idx="18">
                <c:v>2019.66666667</c:v>
              </c:pt>
              <c:pt idx="19">
                <c:v>2019.75</c:v>
              </c:pt>
              <c:pt idx="20">
                <c:v>2019.83333333</c:v>
              </c:pt>
              <c:pt idx="21">
                <c:v>2019.91666667</c:v>
              </c:pt>
              <c:pt idx="22">
                <c:v>2020</c:v>
              </c:pt>
              <c:pt idx="23">
                <c:v>2020.08333333</c:v>
              </c:pt>
              <c:pt idx="24">
                <c:v>2020.16666667</c:v>
              </c:pt>
              <c:pt idx="25">
                <c:v>2020.25</c:v>
              </c:pt>
              <c:pt idx="26">
                <c:v>2020.33333333</c:v>
              </c:pt>
              <c:pt idx="27">
                <c:v>2020.41666667</c:v>
              </c:pt>
              <c:pt idx="28">
                <c:v>2020.5</c:v>
              </c:pt>
              <c:pt idx="29">
                <c:v>2020.58333333</c:v>
              </c:pt>
              <c:pt idx="30">
                <c:v>2020.66666667</c:v>
              </c:pt>
              <c:pt idx="31">
                <c:v>2020.75</c:v>
              </c:pt>
              <c:pt idx="32">
                <c:v>2020.83333333</c:v>
              </c:pt>
              <c:pt idx="33">
                <c:v>2020.91666667</c:v>
              </c:pt>
              <c:pt idx="34">
                <c:v>2021</c:v>
              </c:pt>
              <c:pt idx="35">
                <c:v>2021.08333333</c:v>
              </c:pt>
              <c:pt idx="36">
                <c:v>2021.16666667</c:v>
              </c:pt>
              <c:pt idx="37">
                <c:v>2021.25</c:v>
              </c:pt>
              <c:pt idx="38">
                <c:v>2021.33333333</c:v>
              </c:pt>
              <c:pt idx="39">
                <c:v>2021.41666667</c:v>
              </c:pt>
              <c:pt idx="40">
                <c:v>2021.5</c:v>
              </c:pt>
              <c:pt idx="41">
                <c:v>2021.58333333</c:v>
              </c:pt>
              <c:pt idx="42">
                <c:v>2021.66666667</c:v>
              </c:pt>
              <c:pt idx="43">
                <c:v>2021.75</c:v>
              </c:pt>
              <c:pt idx="44">
                <c:v>2021.83333333</c:v>
              </c:pt>
              <c:pt idx="45">
                <c:v>2021.91666667</c:v>
              </c:pt>
              <c:pt idx="46">
                <c:v>2022</c:v>
              </c:pt>
              <c:pt idx="47">
                <c:v>2022.08333333</c:v>
              </c:pt>
              <c:pt idx="48">
                <c:v>2022.16666667</c:v>
              </c:pt>
              <c:pt idx="49">
                <c:v>2022.25</c:v>
              </c:pt>
              <c:pt idx="50">
                <c:v>2022.33333333</c:v>
              </c:pt>
              <c:pt idx="51">
                <c:v>2022.41666667</c:v>
              </c:pt>
              <c:pt idx="52">
                <c:v>2022.5</c:v>
              </c:pt>
              <c:pt idx="53">
                <c:v>2022.58333333</c:v>
              </c:pt>
              <c:pt idx="54">
                <c:v>2022.66666667</c:v>
              </c:pt>
              <c:pt idx="55">
                <c:v>2022.75</c:v>
              </c:pt>
              <c:pt idx="56">
                <c:v>2022.83333333</c:v>
              </c:pt>
              <c:pt idx="57">
                <c:v>2022.91666667</c:v>
              </c:pt>
              <c:pt idx="58">
                <c:v>2023</c:v>
              </c:pt>
              <c:pt idx="59">
                <c:v>2023.08333333</c:v>
              </c:pt>
              <c:pt idx="60">
                <c:v>2023.16666667</c:v>
              </c:pt>
              <c:pt idx="61">
                <c:v>2023.25</c:v>
              </c:pt>
              <c:pt idx="62">
                <c:v>2023.33333333</c:v>
              </c:pt>
              <c:pt idx="63">
                <c:v>2023.41666667</c:v>
              </c:pt>
              <c:pt idx="64">
                <c:v>2023.5</c:v>
              </c:pt>
              <c:pt idx="65">
                <c:v>2023.58333333</c:v>
              </c:pt>
              <c:pt idx="66">
                <c:v>2023.66666667</c:v>
              </c:pt>
              <c:pt idx="67">
                <c:v>2023.75</c:v>
              </c:pt>
              <c:pt idx="68">
                <c:v>2023.83333333</c:v>
              </c:pt>
              <c:pt idx="69">
                <c:v>2023.91666667</c:v>
              </c:pt>
              <c:pt idx="70">
                <c:v>2024</c:v>
              </c:pt>
              <c:pt idx="71">
                <c:v>2024.08333333</c:v>
              </c:pt>
              <c:pt idx="72">
                <c:v>2024.16666667</c:v>
              </c:pt>
              <c:pt idx="73">
                <c:v>2024.25</c:v>
              </c:pt>
              <c:pt idx="74">
                <c:v>2024.33333333</c:v>
              </c:pt>
              <c:pt idx="75">
                <c:v>2024.41666667</c:v>
              </c:pt>
              <c:pt idx="76">
                <c:v>2024.5</c:v>
              </c:pt>
              <c:pt idx="77">
                <c:v>2024.58333333</c:v>
              </c:pt>
              <c:pt idx="78">
                <c:v>2024.66666667</c:v>
              </c:pt>
              <c:pt idx="79">
                <c:v>2024.75</c:v>
              </c:pt>
              <c:pt idx="80">
                <c:v>2024.83333333</c:v>
              </c:pt>
              <c:pt idx="81">
                <c:v>2024.91666667</c:v>
              </c:pt>
              <c:pt idx="82">
                <c:v>2025</c:v>
              </c:pt>
              <c:pt idx="83">
                <c:v>2025.08333333</c:v>
              </c:pt>
              <c:pt idx="84">
                <c:v>2025.16666667</c:v>
              </c:pt>
              <c:pt idx="85">
                <c:v>2025.25</c:v>
              </c:pt>
              <c:pt idx="86">
                <c:v>2025.33333333</c:v>
              </c:pt>
              <c:pt idx="87">
                <c:v>2025.41666667</c:v>
              </c:pt>
              <c:pt idx="88">
                <c:v>2025.5</c:v>
              </c:pt>
              <c:pt idx="89">
                <c:v>2025.58333333</c:v>
              </c:pt>
              <c:pt idx="90">
                <c:v>2025.66666667</c:v>
              </c:pt>
              <c:pt idx="91">
                <c:v>2025.75</c:v>
              </c:pt>
              <c:pt idx="92">
                <c:v>2025.83333333</c:v>
              </c:pt>
              <c:pt idx="93">
                <c:v>2025.91666667</c:v>
              </c:pt>
              <c:pt idx="94">
                <c:v>2026</c:v>
              </c:pt>
              <c:pt idx="95">
                <c:v>2026.08333333</c:v>
              </c:pt>
              <c:pt idx="96">
                <c:v>2026.16666667</c:v>
              </c:pt>
              <c:pt idx="97">
                <c:v>2026.25</c:v>
              </c:pt>
              <c:pt idx="98">
                <c:v>2026.33333333</c:v>
              </c:pt>
              <c:pt idx="99">
                <c:v>2026.41666667</c:v>
              </c:pt>
              <c:pt idx="100">
                <c:v>2026.5</c:v>
              </c:pt>
              <c:pt idx="101">
                <c:v>2026.58333333</c:v>
              </c:pt>
            </c:numLit>
          </c:xVal>
          <c:yVal>
            <c:numLit>
              <c:formatCode>0.00</c:formatCode>
              <c:ptCount val="102"/>
              <c:pt idx="0">
                <c:v>100</c:v>
              </c:pt>
              <c:pt idx="1">
                <c:v>100.15026869</c:v>
              </c:pt>
              <c:pt idx="2">
                <c:v>100.284613605</c:v>
              </c:pt>
              <c:pt idx="3">
                <c:v>100.39719923</c:v>
              </c:pt>
              <c:pt idx="4">
                <c:v>100.580723784</c:v>
              </c:pt>
              <c:pt idx="5">
                <c:v>100.751342276</c:v>
              </c:pt>
              <c:pt idx="6">
                <c:v>100.934023803</c:v>
              </c:pt>
              <c:pt idx="7">
                <c:v>101.162765262</c:v>
              </c:pt>
              <c:pt idx="8">
                <c:v>101.272781469</c:v>
              </c:pt>
              <c:pt idx="9">
                <c:v>101.301144745</c:v>
              </c:pt>
              <c:pt idx="10">
                <c:v>101.692532911</c:v>
              </c:pt>
              <c:pt idx="11">
                <c:v>101.927577822</c:v>
              </c:pt>
              <c:pt idx="12">
                <c:v>102.100492667</c:v>
              </c:pt>
              <c:pt idx="13">
                <c:v>102.342639995</c:v>
              </c:pt>
              <c:pt idx="14">
                <c:v>102.537704105</c:v>
              </c:pt>
              <c:pt idx="15">
                <c:v>102.778680424</c:v>
              </c:pt>
              <c:pt idx="16">
                <c:v>103.104623255</c:v>
              </c:pt>
              <c:pt idx="17">
                <c:v>103.338758203</c:v>
              </c:pt>
              <c:pt idx="18">
                <c:v>103.541953266</c:v>
              </c:pt>
              <c:pt idx="19">
                <c:v>103.659277139</c:v>
              </c:pt>
              <c:pt idx="20">
                <c:v>103.794723067</c:v>
              </c:pt>
              <c:pt idx="21">
                <c:v>103.931884234</c:v>
              </c:pt>
              <c:pt idx="22">
                <c:v>104.071217739</c:v>
              </c:pt>
              <c:pt idx="23">
                <c:v>104.211108647</c:v>
              </c:pt>
              <c:pt idx="24">
                <c:v>103.70596491</c:v>
              </c:pt>
              <c:pt idx="25">
                <c:v>103.776753285</c:v>
              </c:pt>
              <c:pt idx="26">
                <c:v>103.921329464</c:v>
              </c:pt>
              <c:pt idx="27">
                <c:v>103.965294941</c:v>
              </c:pt>
              <c:pt idx="28">
                <c:v>103.886188019</c:v>
              </c:pt>
              <c:pt idx="29">
                <c:v>104.136990106</c:v>
              </c:pt>
              <c:pt idx="30">
                <c:v>103.675268466</c:v>
              </c:pt>
              <c:pt idx="31">
                <c:v>103.365258378</c:v>
              </c:pt>
              <c:pt idx="32">
                <c:v>104.922616325</c:v>
              </c:pt>
              <c:pt idx="33">
                <c:v>105.050718383</c:v>
              </c:pt>
              <c:pt idx="34">
                <c:v>104.671719007</c:v>
              </c:pt>
              <c:pt idx="35">
                <c:v>105.367763748</c:v>
              </c:pt>
              <c:pt idx="36">
                <c:v>106.274002433</c:v>
              </c:pt>
              <c:pt idx="37">
                <c:v>107.794844282</c:v>
              </c:pt>
              <c:pt idx="38">
                <c:v>108.811211891</c:v>
              </c:pt>
              <c:pt idx="39">
                <c:v>109.989322993</c:v>
              </c:pt>
              <c:pt idx="40">
                <c:v>109.32328455</c:v>
              </c:pt>
              <c:pt idx="41">
                <c:v>109.012440757</c:v>
              </c:pt>
              <c:pt idx="42">
                <c:v>108.8785517</c:v>
              </c:pt>
              <c:pt idx="43">
                <c:v>108.994060857</c:v>
              </c:pt>
              <c:pt idx="44">
                <c:v>108.877157849</c:v>
              </c:pt>
              <c:pt idx="45">
                <c:v>109.648154088</c:v>
              </c:pt>
              <c:pt idx="46">
                <c:v>110.696800755</c:v>
              </c:pt>
              <c:pt idx="47">
                <c:v>112.011333035</c:v>
              </c:pt>
              <c:pt idx="48">
                <c:v>116.737598565</c:v>
              </c:pt>
              <c:pt idx="49">
                <c:v>118.410946214</c:v>
              </c:pt>
              <c:pt idx="50">
                <c:v>118.906528149</c:v>
              </c:pt>
              <c:pt idx="51">
                <c:v>118.675961507</c:v>
              </c:pt>
              <c:pt idx="52">
                <c:v>119.616867383</c:v>
              </c:pt>
              <c:pt idx="53">
                <c:v>120.678842415</c:v>
              </c:pt>
              <c:pt idx="54">
                <c:v>120.662591597</c:v>
              </c:pt>
              <c:pt idx="55">
                <c:v>121.538277309</c:v>
              </c:pt>
              <c:pt idx="56">
                <c:v>120.439964155</c:v>
              </c:pt>
              <c:pt idx="57">
                <c:v>119.803372208</c:v>
              </c:pt>
              <c:pt idx="58">
                <c:v>121.039360609</c:v>
              </c:pt>
              <c:pt idx="59">
                <c:v>122.746009505</c:v>
              </c:pt>
              <c:pt idx="60">
                <c:v>123.062295052</c:v>
              </c:pt>
              <c:pt idx="61">
                <c:v>124.541744696</c:v>
              </c:pt>
              <c:pt idx="62">
                <c:v>125.703136842</c:v>
              </c:pt>
              <c:pt idx="63">
                <c:v>128.18524569</c:v>
              </c:pt>
              <c:pt idx="64">
                <c:v>129.097819195</c:v>
              </c:pt>
              <c:pt idx="65">
                <c:v>129.704624813</c:v>
              </c:pt>
              <c:pt idx="66">
                <c:v>130.800011032</c:v>
              </c:pt>
              <c:pt idx="67">
                <c:v>131.47405267</c:v>
              </c:pt>
              <c:pt idx="68">
                <c:v>132.460708297</c:v>
              </c:pt>
              <c:pt idx="69">
                <c:v>132.622155846</c:v>
              </c:pt>
              <c:pt idx="70">
                <c:v>134.137785091</c:v>
              </c:pt>
              <c:pt idx="71">
                <c:v>135.082692588</c:v>
              </c:pt>
              <c:pt idx="72">
                <c:v>136.011222812</c:v>
              </c:pt>
              <c:pt idx="73">
                <c:v>137.041383007</c:v>
              </c:pt>
              <c:pt idx="74">
                <c:v>137.545208663</c:v>
              </c:pt>
              <c:pt idx="75">
                <c:v>137.711470464</c:v>
              </c:pt>
              <c:pt idx="76">
                <c:v>137.156577297</c:v>
              </c:pt>
              <c:pt idx="77">
                <c:v>137.260322779</c:v>
              </c:pt>
              <c:pt idx="78">
                <c:v>138.559832249</c:v>
              </c:pt>
              <c:pt idx="79">
                <c:v>139.386746534</c:v>
              </c:pt>
              <c:pt idx="80">
                <c:v>138.48254457</c:v>
              </c:pt>
              <c:pt idx="81">
                <c:v>139.886653572</c:v>
              </c:pt>
              <c:pt idx="82">
                <c:v>141.531082637</c:v>
              </c:pt>
              <c:pt idx="83">
                <c:v>141.55451182</c:v>
              </c:pt>
              <c:pt idx="84">
                <c:v>142.000476705</c:v>
              </c:pt>
              <c:pt idx="85">
                <c:v>142.249806381</c:v>
              </c:pt>
              <c:pt idx="86">
                <c:v>142.935657706</c:v>
              </c:pt>
              <c:pt idx="87">
                <c:v>145.1816919</c:v>
              </c:pt>
              <c:pt idx="88">
                <c:v>146.728396248</c:v>
              </c:pt>
              <c:pt idx="89">
                <c:v>147.786960384</c:v>
              </c:pt>
              <c:pt idx="90">
                <c:v>149.553244147</c:v>
              </c:pt>
              <c:pt idx="91">
                <c:v>151.403014131</c:v>
              </c:pt>
              <c:pt idx="92">
                <c:v>153.200325004</c:v>
              </c:pt>
              <c:pt idx="93">
                <c:v>153.133275105</c:v>
              </c:pt>
              <c:pt idx="94">
                <c:v>154.966780756</c:v>
              </c:pt>
              <c:pt idx="95">
                <c:v>156.83923414</c:v>
              </c:pt>
              <c:pt idx="96">
                <c:v>158.442116119</c:v>
              </c:pt>
              <c:pt idx="97">
                <c:v>159.921047739</c:v>
              </c:pt>
              <c:pt idx="98">
                <c:v>160.62790368</c:v>
              </c:pt>
              <c:pt idx="99">
                <c:v>161.438557757</c:v>
              </c:pt>
              <c:pt idx="100">
                <c:v>162.201591724</c:v>
              </c:pt>
              <c:pt idx="101">
                <c:v>162.569659057</c:v>
              </c:pt>
            </c:numLit>
          </c:yVal>
        </c:ser>
        <c:ser>
          <c:idx val="2"/>
          <c:order val="2"/>
          <c:tx>
            <c:v>Caixa USD</c:v>
          </c:tx>
          <c:spPr>
            <a:ln xmlns:a="http://schemas.openxmlformats.org/drawingml/2006/main" w="19050">
              <a:solidFill>
                <a:srgbClr val="9DA8AF"/>
              </a:solidFill>
            </a:ln>
          </c:spPr>
          <c:marker>
            <c:symbol val="none"/>
          </c:marker>
          <c:xVal>
            <c:numLit>
              <c:formatCode>General</c:formatCode>
              <c:ptCount val="102"/>
              <c:pt idx="0">
                <c:v>2018.16666667</c:v>
              </c:pt>
              <c:pt idx="1">
                <c:v>2018.25</c:v>
              </c:pt>
              <c:pt idx="2">
                <c:v>2018.33333333</c:v>
              </c:pt>
              <c:pt idx="3">
                <c:v>2018.41666667</c:v>
              </c:pt>
              <c:pt idx="4">
                <c:v>2018.5</c:v>
              </c:pt>
              <c:pt idx="5">
                <c:v>2018.58333333</c:v>
              </c:pt>
              <c:pt idx="6">
                <c:v>2018.66666667</c:v>
              </c:pt>
              <c:pt idx="7">
                <c:v>2018.75</c:v>
              </c:pt>
              <c:pt idx="8">
                <c:v>2018.83333333</c:v>
              </c:pt>
              <c:pt idx="9">
                <c:v>2018.91666667</c:v>
              </c:pt>
              <c:pt idx="10">
                <c:v>2019</c:v>
              </c:pt>
              <c:pt idx="11">
                <c:v>2019.08333333</c:v>
              </c:pt>
              <c:pt idx="12">
                <c:v>2019.16666667</c:v>
              </c:pt>
              <c:pt idx="13">
                <c:v>2019.25</c:v>
              </c:pt>
              <c:pt idx="14">
                <c:v>2019.33333333</c:v>
              </c:pt>
              <c:pt idx="15">
                <c:v>2019.41666667</c:v>
              </c:pt>
              <c:pt idx="16">
                <c:v>2019.5</c:v>
              </c:pt>
              <c:pt idx="17">
                <c:v>2019.58333333</c:v>
              </c:pt>
              <c:pt idx="18">
                <c:v>2019.66666667</c:v>
              </c:pt>
              <c:pt idx="19">
                <c:v>2019.75</c:v>
              </c:pt>
              <c:pt idx="20">
                <c:v>2019.83333333</c:v>
              </c:pt>
              <c:pt idx="21">
                <c:v>2019.91666667</c:v>
              </c:pt>
              <c:pt idx="22">
                <c:v>2020</c:v>
              </c:pt>
              <c:pt idx="23">
                <c:v>2020.08333333</c:v>
              </c:pt>
              <c:pt idx="24">
                <c:v>2020.16666667</c:v>
              </c:pt>
              <c:pt idx="25">
                <c:v>2020.25</c:v>
              </c:pt>
              <c:pt idx="26">
                <c:v>2020.33333333</c:v>
              </c:pt>
              <c:pt idx="27">
                <c:v>2020.41666667</c:v>
              </c:pt>
              <c:pt idx="28">
                <c:v>2020.5</c:v>
              </c:pt>
              <c:pt idx="29">
                <c:v>2020.58333333</c:v>
              </c:pt>
              <c:pt idx="30">
                <c:v>2020.66666667</c:v>
              </c:pt>
              <c:pt idx="31">
                <c:v>2020.75</c:v>
              </c:pt>
              <c:pt idx="32">
                <c:v>2020.83333333</c:v>
              </c:pt>
              <c:pt idx="33">
                <c:v>2020.91666667</c:v>
              </c:pt>
              <c:pt idx="34">
                <c:v>2021</c:v>
              </c:pt>
              <c:pt idx="35">
                <c:v>2021.08333333</c:v>
              </c:pt>
              <c:pt idx="36">
                <c:v>2021.16666667</c:v>
              </c:pt>
              <c:pt idx="37">
                <c:v>2021.25</c:v>
              </c:pt>
              <c:pt idx="38">
                <c:v>2021.33333333</c:v>
              </c:pt>
              <c:pt idx="39">
                <c:v>2021.41666667</c:v>
              </c:pt>
              <c:pt idx="40">
                <c:v>2021.5</c:v>
              </c:pt>
              <c:pt idx="41">
                <c:v>2021.58333333</c:v>
              </c:pt>
              <c:pt idx="42">
                <c:v>2021.66666667</c:v>
              </c:pt>
              <c:pt idx="43">
                <c:v>2021.75</c:v>
              </c:pt>
              <c:pt idx="44">
                <c:v>2021.83333333</c:v>
              </c:pt>
              <c:pt idx="45">
                <c:v>2021.91666667</c:v>
              </c:pt>
              <c:pt idx="46">
                <c:v>2022</c:v>
              </c:pt>
              <c:pt idx="47">
                <c:v>2022.08333333</c:v>
              </c:pt>
              <c:pt idx="48">
                <c:v>2022.16666667</c:v>
              </c:pt>
              <c:pt idx="49">
                <c:v>2022.25</c:v>
              </c:pt>
              <c:pt idx="50">
                <c:v>2022.33333333</c:v>
              </c:pt>
              <c:pt idx="51">
                <c:v>2022.41666667</c:v>
              </c:pt>
              <c:pt idx="52">
                <c:v>2022.5</c:v>
              </c:pt>
              <c:pt idx="53">
                <c:v>2022.58333333</c:v>
              </c:pt>
              <c:pt idx="54">
                <c:v>2022.66666667</c:v>
              </c:pt>
              <c:pt idx="55">
                <c:v>2022.75</c:v>
              </c:pt>
              <c:pt idx="56">
                <c:v>2022.83333333</c:v>
              </c:pt>
              <c:pt idx="57">
                <c:v>2022.91666667</c:v>
              </c:pt>
              <c:pt idx="58">
                <c:v>2023</c:v>
              </c:pt>
              <c:pt idx="59">
                <c:v>2023.08333333</c:v>
              </c:pt>
              <c:pt idx="60">
                <c:v>2023.16666667</c:v>
              </c:pt>
              <c:pt idx="61">
                <c:v>2023.25</c:v>
              </c:pt>
              <c:pt idx="62">
                <c:v>2023.33333333</c:v>
              </c:pt>
              <c:pt idx="63">
                <c:v>2023.41666667</c:v>
              </c:pt>
              <c:pt idx="64">
                <c:v>2023.5</c:v>
              </c:pt>
              <c:pt idx="65">
                <c:v>2023.58333333</c:v>
              </c:pt>
              <c:pt idx="66">
                <c:v>2023.66666667</c:v>
              </c:pt>
              <c:pt idx="67">
                <c:v>2023.75</c:v>
              </c:pt>
              <c:pt idx="68">
                <c:v>2023.83333333</c:v>
              </c:pt>
              <c:pt idx="69">
                <c:v>2023.91666667</c:v>
              </c:pt>
              <c:pt idx="70">
                <c:v>2024</c:v>
              </c:pt>
              <c:pt idx="71">
                <c:v>2024.08333333</c:v>
              </c:pt>
              <c:pt idx="72">
                <c:v>2024.16666667</c:v>
              </c:pt>
              <c:pt idx="73">
                <c:v>2024.25</c:v>
              </c:pt>
              <c:pt idx="74">
                <c:v>2024.33333333</c:v>
              </c:pt>
              <c:pt idx="75">
                <c:v>2024.41666667</c:v>
              </c:pt>
              <c:pt idx="76">
                <c:v>2024.5</c:v>
              </c:pt>
              <c:pt idx="77">
                <c:v>2024.58333333</c:v>
              </c:pt>
              <c:pt idx="78">
                <c:v>2024.66666667</c:v>
              </c:pt>
              <c:pt idx="79">
                <c:v>2024.75</c:v>
              </c:pt>
              <c:pt idx="80">
                <c:v>2024.83333333</c:v>
              </c:pt>
              <c:pt idx="81">
                <c:v>2024.91666667</c:v>
              </c:pt>
              <c:pt idx="82">
                <c:v>2025</c:v>
              </c:pt>
              <c:pt idx="83">
                <c:v>2025.08333333</c:v>
              </c:pt>
              <c:pt idx="84">
                <c:v>2025.16666667</c:v>
              </c:pt>
              <c:pt idx="85">
                <c:v>2025.25</c:v>
              </c:pt>
              <c:pt idx="86">
                <c:v>2025.33333333</c:v>
              </c:pt>
              <c:pt idx="87">
                <c:v>2025.41666667</c:v>
              </c:pt>
              <c:pt idx="88">
                <c:v>2025.5</c:v>
              </c:pt>
              <c:pt idx="89">
                <c:v>2025.58333333</c:v>
              </c:pt>
              <c:pt idx="90">
                <c:v>2025.66666667</c:v>
              </c:pt>
              <c:pt idx="91">
                <c:v>2025.75</c:v>
              </c:pt>
              <c:pt idx="92">
                <c:v>2025.83333333</c:v>
              </c:pt>
              <c:pt idx="93">
                <c:v>2025.91666667</c:v>
              </c:pt>
              <c:pt idx="94">
                <c:v>2026</c:v>
              </c:pt>
              <c:pt idx="95">
                <c:v>2026.08333333</c:v>
              </c:pt>
              <c:pt idx="96">
                <c:v>2026.16666667</c:v>
              </c:pt>
              <c:pt idx="97">
                <c:v>2026.25</c:v>
              </c:pt>
              <c:pt idx="98">
                <c:v>2026.33333333</c:v>
              </c:pt>
              <c:pt idx="99">
                <c:v>2026.41666667</c:v>
              </c:pt>
              <c:pt idx="100">
                <c:v>2026.5</c:v>
              </c:pt>
              <c:pt idx="101">
                <c:v>2026.58333333</c:v>
              </c:pt>
            </c:numLit>
          </c:xVal>
          <c:yVal>
            <c:numLit>
              <c:formatCode>0.00</c:formatCode>
              <c:ptCount val="102"/>
              <c:pt idx="0">
                <c:v>100</c:v>
              </c:pt>
              <c:pt idx="1">
                <c:v>100.13441844</c:v>
              </c:pt>
              <c:pt idx="2">
                <c:v>100.269017563</c:v>
              </c:pt>
              <c:pt idx="3">
                <c:v>100.403797612</c:v>
              </c:pt>
              <c:pt idx="4">
                <c:v>100.559346288</c:v>
              </c:pt>
              <c:pt idx="5">
                <c:v>100.715135945</c:v>
              </c:pt>
              <c:pt idx="6">
                <c:v>100.871166956</c:v>
              </c:pt>
              <c:pt idx="7">
                <c:v>101.048076493</c:v>
              </c:pt>
              <c:pt idx="8">
                <c:v>101.225296297</c:v>
              </c:pt>
              <c:pt idx="9">
                <c:v>101.402826912</c:v>
              </c:pt>
              <c:pt idx="10">
                <c:v>101.601367968</c:v>
              </c:pt>
              <c:pt idx="11">
                <c:v>101.800297757</c:v>
              </c:pt>
              <c:pt idx="12">
                <c:v>101.999617039</c:v>
              </c:pt>
              <c:pt idx="13">
                <c:v>102.199326578</c:v>
              </c:pt>
              <c:pt idx="14">
                <c:v>102.399427136</c:v>
              </c:pt>
              <c:pt idx="15">
                <c:v>102.59991948</c:v>
              </c:pt>
              <c:pt idx="16">
                <c:v>102.800804377</c:v>
              </c:pt>
              <c:pt idx="17">
                <c:v>103.002082595</c:v>
              </c:pt>
              <c:pt idx="18">
                <c:v>103.182729367</c:v>
              </c:pt>
              <c:pt idx="19">
                <c:v>103.34258325</c:v>
              </c:pt>
              <c:pt idx="20">
                <c:v>103.481494739</c:v>
              </c:pt>
              <c:pt idx="21">
                <c:v>103.620592949</c:v>
              </c:pt>
              <c:pt idx="22">
                <c:v>103.759878134</c:v>
              </c:pt>
              <c:pt idx="23">
                <c:v>103.899350544</c:v>
              </c:pt>
              <c:pt idx="24">
                <c:v>104.03901043</c:v>
              </c:pt>
              <c:pt idx="25">
                <c:v>104.049841619</c:v>
              </c:pt>
              <c:pt idx="26">
                <c:v>104.060673936</c:v>
              </c:pt>
              <c:pt idx="27">
                <c:v>104.07150738</c:v>
              </c:pt>
              <c:pt idx="28">
                <c:v>104.082341953</c:v>
              </c:pt>
              <c:pt idx="29">
                <c:v>104.093177653</c:v>
              </c:pt>
              <c:pt idx="30">
                <c:v>104.104014482</c:v>
              </c:pt>
              <c:pt idx="31">
                <c:v>104.114852438</c:v>
              </c:pt>
              <c:pt idx="32">
                <c:v>104.125691523</c:v>
              </c:pt>
              <c:pt idx="33">
                <c:v>104.136531737</c:v>
              </c:pt>
              <c:pt idx="34">
                <c:v>104.147373079</c:v>
              </c:pt>
              <c:pt idx="35">
                <c:v>104.158215549</c:v>
              </c:pt>
              <c:pt idx="36">
                <c:v>104.169059148</c:v>
              </c:pt>
              <c:pt idx="37">
                <c:v>104.179903877</c:v>
              </c:pt>
              <c:pt idx="38">
                <c:v>104.190749734</c:v>
              </c:pt>
              <c:pt idx="39">
                <c:v>104.20159672</c:v>
              </c:pt>
              <c:pt idx="40">
                <c:v>104.212444836</c:v>
              </c:pt>
              <c:pt idx="41">
                <c:v>104.223294081</c:v>
              </c:pt>
              <c:pt idx="42">
                <c:v>104.234144455</c:v>
              </c:pt>
              <c:pt idx="43">
                <c:v>104.244995959</c:v>
              </c:pt>
              <c:pt idx="44">
                <c:v>104.255848593</c:v>
              </c:pt>
              <c:pt idx="45">
                <c:v>104.266702357</c:v>
              </c:pt>
              <c:pt idx="46">
                <c:v>104.27755725</c:v>
              </c:pt>
              <c:pt idx="47">
                <c:v>104.288413274</c:v>
              </c:pt>
              <c:pt idx="48">
                <c:v>104.299270428</c:v>
              </c:pt>
              <c:pt idx="49">
                <c:v>104.331808066</c:v>
              </c:pt>
              <c:pt idx="50">
                <c:v>104.364355855</c:v>
              </c:pt>
              <c:pt idx="51">
                <c:v>104.440151366</c:v>
              </c:pt>
              <c:pt idx="52">
                <c:v>104.580538189</c:v>
              </c:pt>
              <c:pt idx="53">
                <c:v>104.785301026</c:v>
              </c:pt>
              <c:pt idx="54">
                <c:v>104.990464777</c:v>
              </c:pt>
              <c:pt idx="55">
                <c:v>105.260037822</c:v>
              </c:pt>
              <c:pt idx="56">
                <c:v>105.530303022</c:v>
              </c:pt>
              <c:pt idx="57">
                <c:v>105.865171378</c:v>
              </c:pt>
              <c:pt idx="58">
                <c:v>106.243608369</c:v>
              </c:pt>
              <c:pt idx="59">
                <c:v>106.62339816</c:v>
              </c:pt>
              <c:pt idx="60">
                <c:v>107.025880366</c:v>
              </c:pt>
              <c:pt idx="61">
                <c:v>107.451250329</c:v>
              </c:pt>
              <c:pt idx="62">
                <c:v>107.878310907</c:v>
              </c:pt>
              <c:pt idx="63">
                <c:v>108.328560456</c:v>
              </c:pt>
              <c:pt idx="64">
                <c:v>108.780689202</c:v>
              </c:pt>
              <c:pt idx="65">
                <c:v>109.256329209</c:v>
              </c:pt>
              <c:pt idx="66">
                <c:v>109.734048935</c:v>
              </c:pt>
              <c:pt idx="67">
                <c:v>110.213857476</c:v>
              </c:pt>
              <c:pt idx="68">
                <c:v>110.695763964</c:v>
              </c:pt>
              <c:pt idx="69">
                <c:v>111.179777572</c:v>
              </c:pt>
              <c:pt idx="70">
                <c:v>111.665907514</c:v>
              </c:pt>
              <c:pt idx="71">
                <c:v>112.154163043</c:v>
              </c:pt>
              <c:pt idx="72">
                <c:v>112.644553453</c:v>
              </c:pt>
              <c:pt idx="73">
                <c:v>113.13708808</c:v>
              </c:pt>
              <c:pt idx="74">
                <c:v>113.631776298</c:v>
              </c:pt>
              <c:pt idx="75">
                <c:v>114.128627524</c:v>
              </c:pt>
              <c:pt idx="76">
                <c:v>114.627651216</c:v>
              </c:pt>
              <c:pt idx="77">
                <c:v>115.128856873</c:v>
              </c:pt>
              <c:pt idx="78">
                <c:v>115.632254035</c:v>
              </c:pt>
              <c:pt idx="79">
                <c:v>116.091829676</c:v>
              </c:pt>
              <c:pt idx="80">
                <c:v>116.553231881</c:v>
              </c:pt>
              <c:pt idx="81">
                <c:v>116.993197243</c:v>
              </c:pt>
              <c:pt idx="82">
                <c:v>117.411413667</c:v>
              </c:pt>
              <c:pt idx="83">
                <c:v>117.831125093</c:v>
              </c:pt>
              <c:pt idx="84">
                <c:v>118.252336864</c:v>
              </c:pt>
              <c:pt idx="85">
                <c:v>118.675054344</c:v>
              </c:pt>
              <c:pt idx="86">
                <c:v>119.099282915</c:v>
              </c:pt>
              <c:pt idx="87">
                <c:v>119.525027979</c:v>
              </c:pt>
              <c:pt idx="88">
                <c:v>119.952294958</c:v>
              </c:pt>
              <c:pt idx="89">
                <c:v>120.38108929</c:v>
              </c:pt>
              <c:pt idx="90">
                <c:v>120.811416437</c:v>
              </c:pt>
              <c:pt idx="91">
                <c:v>121.219055008</c:v>
              </c:pt>
              <c:pt idx="92">
                <c:v>121.603706852</c:v>
              </c:pt>
              <c:pt idx="93">
                <c:v>121.989579273</c:v>
              </c:pt>
              <c:pt idx="94">
                <c:v>122.352104977</c:v>
              </c:pt>
              <c:pt idx="95">
                <c:v>122.715708026</c:v>
              </c:pt>
              <c:pt idx="96">
                <c:v>123.080391622</c:v>
              </c:pt>
              <c:pt idx="97">
                <c:v>123.446158976</c:v>
              </c:pt>
              <c:pt idx="98">
                <c:v>123.813013308</c:v>
              </c:pt>
              <c:pt idx="99">
                <c:v>124.18095785</c:v>
              </c:pt>
              <c:pt idx="100">
                <c:v>124.54999584</c:v>
              </c:pt>
              <c:pt idx="101">
                <c:v>124.920130528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5"/>
          <c:min val="9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Patrimônio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7"/>
          <c:min val="2018"/>
        </c:scaling>
        <c:delete val="0"/>
        <c:axPos val="b"/>
        <c:numFmt formatCode="0"/>
        <c:majorTickMark val="none"/>
        <c:minorTickMark val="none"/>
        <c:tickLblPos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Carry por juros</c:v>
          </c:tx>
          <c:spPr>
            <a:ln xmlns:a="http://schemas.openxmlformats.org/drawingml/2006/main" w="25718">
              <a:solidFill>
                <a:srgbClr val="15354D"/>
              </a:solidFill>
            </a:ln>
          </c:spPr>
          <c:marker>
            <c:symbol val="none"/>
          </c:marker>
          <c:xVal>
            <c:numLit>
              <c:formatCode>General</c:formatCode>
              <c:ptCount val="102"/>
              <c:pt idx="0">
                <c:v>2018.16666667</c:v>
              </c:pt>
              <c:pt idx="1">
                <c:v>2018.25</c:v>
              </c:pt>
              <c:pt idx="2">
                <c:v>2018.33333333</c:v>
              </c:pt>
              <c:pt idx="3">
                <c:v>2018.41666667</c:v>
              </c:pt>
              <c:pt idx="4">
                <c:v>2018.5</c:v>
              </c:pt>
              <c:pt idx="5">
                <c:v>2018.58333333</c:v>
              </c:pt>
              <c:pt idx="6">
                <c:v>2018.66666667</c:v>
              </c:pt>
              <c:pt idx="7">
                <c:v>2018.75</c:v>
              </c:pt>
              <c:pt idx="8">
                <c:v>2018.83333333</c:v>
              </c:pt>
              <c:pt idx="9">
                <c:v>2018.91666667</c:v>
              </c:pt>
              <c:pt idx="10">
                <c:v>2019</c:v>
              </c:pt>
              <c:pt idx="11">
                <c:v>2019.08333333</c:v>
              </c:pt>
              <c:pt idx="12">
                <c:v>2019.16666667</c:v>
              </c:pt>
              <c:pt idx="13">
                <c:v>2019.25</c:v>
              </c:pt>
              <c:pt idx="14">
                <c:v>2019.33333333</c:v>
              </c:pt>
              <c:pt idx="15">
                <c:v>2019.41666667</c:v>
              </c:pt>
              <c:pt idx="16">
                <c:v>2019.5</c:v>
              </c:pt>
              <c:pt idx="17">
                <c:v>2019.58333333</c:v>
              </c:pt>
              <c:pt idx="18">
                <c:v>2019.66666667</c:v>
              </c:pt>
              <c:pt idx="19">
                <c:v>2019.75</c:v>
              </c:pt>
              <c:pt idx="20">
                <c:v>2019.83333333</c:v>
              </c:pt>
              <c:pt idx="21">
                <c:v>2019.91666667</c:v>
              </c:pt>
              <c:pt idx="22">
                <c:v>2020</c:v>
              </c:pt>
              <c:pt idx="23">
                <c:v>2020.08333333</c:v>
              </c:pt>
              <c:pt idx="24">
                <c:v>2020.16666667</c:v>
              </c:pt>
              <c:pt idx="25">
                <c:v>2020.25</c:v>
              </c:pt>
              <c:pt idx="26">
                <c:v>2020.33333333</c:v>
              </c:pt>
              <c:pt idx="27">
                <c:v>2020.41666667</c:v>
              </c:pt>
              <c:pt idx="28">
                <c:v>2020.5</c:v>
              </c:pt>
              <c:pt idx="29">
                <c:v>2020.58333333</c:v>
              </c:pt>
              <c:pt idx="30">
                <c:v>2020.66666667</c:v>
              </c:pt>
              <c:pt idx="31">
                <c:v>2020.75</c:v>
              </c:pt>
              <c:pt idx="32">
                <c:v>2020.83333333</c:v>
              </c:pt>
              <c:pt idx="33">
                <c:v>2020.91666667</c:v>
              </c:pt>
              <c:pt idx="34">
                <c:v>2021</c:v>
              </c:pt>
              <c:pt idx="35">
                <c:v>2021.08333333</c:v>
              </c:pt>
              <c:pt idx="36">
                <c:v>2021.16666667</c:v>
              </c:pt>
              <c:pt idx="37">
                <c:v>2021.25</c:v>
              </c:pt>
              <c:pt idx="38">
                <c:v>2021.33333333</c:v>
              </c:pt>
              <c:pt idx="39">
                <c:v>2021.41666667</c:v>
              </c:pt>
              <c:pt idx="40">
                <c:v>2021.5</c:v>
              </c:pt>
              <c:pt idx="41">
                <c:v>2021.58333333</c:v>
              </c:pt>
              <c:pt idx="42">
                <c:v>2021.66666667</c:v>
              </c:pt>
              <c:pt idx="43">
                <c:v>2021.75</c:v>
              </c:pt>
              <c:pt idx="44">
                <c:v>2021.83333333</c:v>
              </c:pt>
              <c:pt idx="45">
                <c:v>2021.91666667</c:v>
              </c:pt>
              <c:pt idx="46">
                <c:v>2022</c:v>
              </c:pt>
              <c:pt idx="47">
                <c:v>2022.08333333</c:v>
              </c:pt>
              <c:pt idx="48">
                <c:v>2022.16666667</c:v>
              </c:pt>
              <c:pt idx="49">
                <c:v>2022.25</c:v>
              </c:pt>
              <c:pt idx="50">
                <c:v>2022.33333333</c:v>
              </c:pt>
              <c:pt idx="51">
                <c:v>2022.41666667</c:v>
              </c:pt>
              <c:pt idx="52">
                <c:v>2022.5</c:v>
              </c:pt>
              <c:pt idx="53">
                <c:v>2022.58333333</c:v>
              </c:pt>
              <c:pt idx="54">
                <c:v>2022.66666667</c:v>
              </c:pt>
              <c:pt idx="55">
                <c:v>2022.75</c:v>
              </c:pt>
              <c:pt idx="56">
                <c:v>2022.83333333</c:v>
              </c:pt>
              <c:pt idx="57">
                <c:v>2022.91666667</c:v>
              </c:pt>
              <c:pt idx="58">
                <c:v>2023</c:v>
              </c:pt>
              <c:pt idx="59">
                <c:v>2023.08333333</c:v>
              </c:pt>
              <c:pt idx="60">
                <c:v>2023.16666667</c:v>
              </c:pt>
              <c:pt idx="61">
                <c:v>2023.25</c:v>
              </c:pt>
              <c:pt idx="62">
                <c:v>2023.33333333</c:v>
              </c:pt>
              <c:pt idx="63">
                <c:v>2023.41666667</c:v>
              </c:pt>
              <c:pt idx="64">
                <c:v>2023.5</c:v>
              </c:pt>
              <c:pt idx="65">
                <c:v>2023.58333333</c:v>
              </c:pt>
              <c:pt idx="66">
                <c:v>2023.66666667</c:v>
              </c:pt>
              <c:pt idx="67">
                <c:v>2023.75</c:v>
              </c:pt>
              <c:pt idx="68">
                <c:v>2023.83333333</c:v>
              </c:pt>
              <c:pt idx="69">
                <c:v>2023.91666667</c:v>
              </c:pt>
              <c:pt idx="70">
                <c:v>2024</c:v>
              </c:pt>
              <c:pt idx="71">
                <c:v>2024.08333333</c:v>
              </c:pt>
              <c:pt idx="72">
                <c:v>2024.16666667</c:v>
              </c:pt>
              <c:pt idx="73">
                <c:v>2024.25</c:v>
              </c:pt>
              <c:pt idx="74">
                <c:v>2024.33333333</c:v>
              </c:pt>
              <c:pt idx="75">
                <c:v>2024.41666667</c:v>
              </c:pt>
              <c:pt idx="76">
                <c:v>2024.5</c:v>
              </c:pt>
              <c:pt idx="77">
                <c:v>2024.58333333</c:v>
              </c:pt>
              <c:pt idx="78">
                <c:v>2024.66666667</c:v>
              </c:pt>
              <c:pt idx="79">
                <c:v>2024.75</c:v>
              </c:pt>
              <c:pt idx="80">
                <c:v>2024.83333333</c:v>
              </c:pt>
              <c:pt idx="81">
                <c:v>2024.91666667</c:v>
              </c:pt>
              <c:pt idx="82">
                <c:v>2025</c:v>
              </c:pt>
              <c:pt idx="83">
                <c:v>2025.08333333</c:v>
              </c:pt>
              <c:pt idx="84">
                <c:v>2025.16666667</c:v>
              </c:pt>
              <c:pt idx="85">
                <c:v>2025.25</c:v>
              </c:pt>
              <c:pt idx="86">
                <c:v>2025.33333333</c:v>
              </c:pt>
              <c:pt idx="87">
                <c:v>2025.41666667</c:v>
              </c:pt>
              <c:pt idx="88">
                <c:v>2025.5</c:v>
              </c:pt>
              <c:pt idx="89">
                <c:v>2025.58333333</c:v>
              </c:pt>
              <c:pt idx="90">
                <c:v>2025.66666667</c:v>
              </c:pt>
              <c:pt idx="91">
                <c:v>2025.75</c:v>
              </c:pt>
              <c:pt idx="92">
                <c:v>2025.83333333</c:v>
              </c:pt>
              <c:pt idx="93">
                <c:v>2025.91666667</c:v>
              </c:pt>
              <c:pt idx="94">
                <c:v>2026</c:v>
              </c:pt>
              <c:pt idx="95">
                <c:v>2026.08333333</c:v>
              </c:pt>
              <c:pt idx="96">
                <c:v>2026.16666667</c:v>
              </c:pt>
              <c:pt idx="97">
                <c:v>2026.25</c:v>
              </c:pt>
              <c:pt idx="98">
                <c:v>2026.33333333</c:v>
              </c:pt>
              <c:pt idx="99">
                <c:v>2026.41666667</c:v>
              </c:pt>
              <c:pt idx="100">
                <c:v>2026.5</c:v>
              </c:pt>
              <c:pt idx="101">
                <c:v>2026.58333333</c:v>
              </c:pt>
            </c:numLit>
          </c:xVal>
          <c:yVal>
            <c:numLit>
              <c:formatCode>0.00</c:formatCode>
              <c:ptCount val="102"/>
              <c:pt idx="0">
                <c:v>0</c:v>
              </c:pt>
              <c:pt idx="1">
                <c:v>0</c:v>
              </c:pt>
              <c:pt idx="2">
                <c:v>-0.39421046</c:v>
              </c:pt>
              <c:pt idx="3">
                <c:v>-1.01405100318</c:v>
              </c:pt>
              <c:pt idx="4">
                <c:v>-0.3432227418</c:v>
              </c:pt>
              <c:pt idx="5">
                <c:v>-1.45392322583</c:v>
              </c:pt>
              <c:pt idx="6">
                <c:v>-0.590807166033</c:v>
              </c:pt>
              <c:pt idx="7">
                <c:v>0</c:v>
              </c:pt>
              <c:pt idx="8">
                <c:v>-1.38527003</c:v>
              </c:pt>
              <c:pt idx="9">
                <c:v>-2.32071051322</c:v>
              </c:pt>
              <c:pt idx="10">
                <c:v>0</c:v>
              </c:pt>
              <c:pt idx="11">
                <c:v>0</c:v>
              </c:pt>
              <c:pt idx="12">
                <c:v>-0.44615871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-1.24515063</c:v>
              </c:pt>
              <c:pt idx="18">
                <c:v>-0.542737753547</c:v>
              </c:pt>
              <c:pt idx="19">
                <c:v>-0.0999979224617</c:v>
              </c:pt>
              <c:pt idx="20">
                <c:v>-1.35687353488</c:v>
              </c:pt>
              <c:pt idx="21">
                <c:v>-0.460692839494</c:v>
              </c:pt>
              <c:pt idx="22">
                <c:v>-0.771272260162</c:v>
              </c:pt>
              <c:pt idx="23">
                <c:v>-1.79018093817</c:v>
              </c:pt>
              <c:pt idx="24">
                <c:v>-6.35833247717</c:v>
              </c:pt>
              <c:pt idx="25">
                <c:v>-6.6812417401</c:v>
              </c:pt>
              <c:pt idx="26">
                <c:v>-6.67253855275</c:v>
              </c:pt>
              <c:pt idx="27">
                <c:v>-6.97307074816</c:v>
              </c:pt>
              <c:pt idx="28">
                <c:v>-7.12835013563</c:v>
              </c:pt>
              <c:pt idx="29">
                <c:v>-7.51084856376</c:v>
              </c:pt>
              <c:pt idx="30">
                <c:v>-8.61113379498</c:v>
              </c:pt>
              <c:pt idx="31">
                <c:v>-9.09281056692</c:v>
              </c:pt>
              <c:pt idx="32">
                <c:v>-7.03580408356</c:v>
              </c:pt>
              <c:pt idx="33">
                <c:v>-6.93172922529</c:v>
              </c:pt>
              <c:pt idx="34">
                <c:v>-7.60079498569</c:v>
              </c:pt>
              <c:pt idx="35">
                <c:v>-6.98173589984</c:v>
              </c:pt>
              <c:pt idx="36">
                <c:v>-6.17248093684</c:v>
              </c:pt>
              <c:pt idx="37">
                <c:v>-4.82975892256</c:v>
              </c:pt>
              <c:pt idx="38">
                <c:v>-3.93242518629</c:v>
              </c:pt>
              <c:pt idx="39">
                <c:v>-2.35801227379</c:v>
              </c:pt>
              <c:pt idx="40">
                <c:v>-3.24993701254</c:v>
              </c:pt>
              <c:pt idx="41">
                <c:v>-3.67573043097</c:v>
              </c:pt>
              <c:pt idx="42">
                <c:v>-3.85746749171</c:v>
              </c:pt>
              <c:pt idx="43">
                <c:v>-3.70945111157</c:v>
              </c:pt>
              <c:pt idx="44">
                <c:v>-3.86938855779</c:v>
              </c:pt>
              <c:pt idx="45">
                <c:v>-2.8533037891</c:v>
              </c:pt>
              <c:pt idx="46">
                <c:v>-1.46469696692</c:v>
              </c:pt>
              <c:pt idx="47">
                <c:v>-0.282838312248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-0.17425084</c:v>
              </c:pt>
              <c:pt idx="52">
                <c:v>0</c:v>
              </c:pt>
              <c:pt idx="53">
                <c:v>0</c:v>
              </c:pt>
              <c:pt idx="54">
                <c:v>-0.15981095</c:v>
              </c:pt>
              <c:pt idx="55">
                <c:v>0</c:v>
              </c:pt>
              <c:pt idx="56">
                <c:v>-1.99762113</c:v>
              </c:pt>
              <c:pt idx="57">
                <c:v>-3.36852881806</c:v>
              </c:pt>
              <c:pt idx="58">
                <c:v>-2.394838342</c:v>
              </c:pt>
              <c:pt idx="59">
                <c:v>-0.801886194803</c:v>
              </c:pt>
              <c:pt idx="60">
                <c:v>-0.711636832122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-0.08315167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-0.97454657</c:v>
              </c:pt>
              <c:pt idx="77">
                <c:v>-1.03026430094</c:v>
              </c:pt>
              <c:pt idx="78">
                <c:v>0</c:v>
              </c:pt>
              <c:pt idx="79">
                <c:v>0</c:v>
              </c:pt>
              <c:pt idx="80">
                <c:v>-1.06834318</c:v>
              </c:pt>
              <c:pt idx="81">
                <c:v>0</c:v>
              </c:pt>
              <c:pt idx="82">
                <c:v>0</c:v>
              </c:pt>
              <c:pt idx="83">
                <c:v>-0.36391016</c:v>
              </c:pt>
              <c:pt idx="84">
                <c:v>-0.829846606969</c:v>
              </c:pt>
              <c:pt idx="85">
                <c:v>-0.760459174541</c:v>
              </c:pt>
              <c:pt idx="86">
                <c:v>-0.204539551399</c:v>
              </c:pt>
              <c:pt idx="87">
                <c:v>0</c:v>
              </c:pt>
              <c:pt idx="88">
                <c:v>0</c:v>
              </c:pt>
              <c:pt idx="89">
                <c:v>0</c:v>
              </c:pt>
              <c:pt idx="90">
                <c:v>0</c:v>
              </c:pt>
              <c:pt idx="91">
                <c:v>0</c:v>
              </c:pt>
              <c:pt idx="92">
                <c:v>0</c:v>
              </c:pt>
              <c:pt idx="93">
                <c:v>-0.21151084</c:v>
              </c:pt>
              <c:pt idx="94">
                <c:v>0</c:v>
              </c:pt>
              <c:pt idx="95">
                <c:v>0</c:v>
              </c:pt>
              <c:pt idx="96">
                <c:v>0</c:v>
              </c:pt>
              <c:pt idx="97">
                <c:v>0</c:v>
              </c:pt>
              <c:pt idx="98">
                <c:v>0</c:v>
              </c:pt>
              <c:pt idx="99">
                <c:v>0</c:v>
              </c:pt>
              <c:pt idx="100">
                <c:v>0</c:v>
              </c:pt>
              <c:pt idx="101">
                <c:v>0</c:v>
              </c:pt>
            </c:numLit>
          </c:yVal>
        </c:ser>
        <c:ser>
          <c:idx val="1"/>
          <c:order val="1"/>
          <c:tx>
            <c:v>Combinação</c:v>
          </c:tx>
          <c:spPr>
            <a:ln xmlns:a="http://schemas.openxmlformats.org/drawingml/2006/main" w="25718">
              <a:solidFill>
                <a:srgbClr val="007F7B"/>
              </a:solidFill>
            </a:ln>
          </c:spPr>
          <c:marker>
            <c:symbol val="none"/>
          </c:marker>
          <c:xVal>
            <c:numLit>
              <c:formatCode>General</c:formatCode>
              <c:ptCount val="102"/>
              <c:pt idx="0">
                <c:v>2018.16666667</c:v>
              </c:pt>
              <c:pt idx="1">
                <c:v>2018.25</c:v>
              </c:pt>
              <c:pt idx="2">
                <c:v>2018.33333333</c:v>
              </c:pt>
              <c:pt idx="3">
                <c:v>2018.41666667</c:v>
              </c:pt>
              <c:pt idx="4">
                <c:v>2018.5</c:v>
              </c:pt>
              <c:pt idx="5">
                <c:v>2018.58333333</c:v>
              </c:pt>
              <c:pt idx="6">
                <c:v>2018.66666667</c:v>
              </c:pt>
              <c:pt idx="7">
                <c:v>2018.75</c:v>
              </c:pt>
              <c:pt idx="8">
                <c:v>2018.83333333</c:v>
              </c:pt>
              <c:pt idx="9">
                <c:v>2018.91666667</c:v>
              </c:pt>
              <c:pt idx="10">
                <c:v>2019</c:v>
              </c:pt>
              <c:pt idx="11">
                <c:v>2019.08333333</c:v>
              </c:pt>
              <c:pt idx="12">
                <c:v>2019.16666667</c:v>
              </c:pt>
              <c:pt idx="13">
                <c:v>2019.25</c:v>
              </c:pt>
              <c:pt idx="14">
                <c:v>2019.33333333</c:v>
              </c:pt>
              <c:pt idx="15">
                <c:v>2019.41666667</c:v>
              </c:pt>
              <c:pt idx="16">
                <c:v>2019.5</c:v>
              </c:pt>
              <c:pt idx="17">
                <c:v>2019.58333333</c:v>
              </c:pt>
              <c:pt idx="18">
                <c:v>2019.66666667</c:v>
              </c:pt>
              <c:pt idx="19">
                <c:v>2019.75</c:v>
              </c:pt>
              <c:pt idx="20">
                <c:v>2019.83333333</c:v>
              </c:pt>
              <c:pt idx="21">
                <c:v>2019.91666667</c:v>
              </c:pt>
              <c:pt idx="22">
                <c:v>2020</c:v>
              </c:pt>
              <c:pt idx="23">
                <c:v>2020.08333333</c:v>
              </c:pt>
              <c:pt idx="24">
                <c:v>2020.16666667</c:v>
              </c:pt>
              <c:pt idx="25">
                <c:v>2020.25</c:v>
              </c:pt>
              <c:pt idx="26">
                <c:v>2020.33333333</c:v>
              </c:pt>
              <c:pt idx="27">
                <c:v>2020.41666667</c:v>
              </c:pt>
              <c:pt idx="28">
                <c:v>2020.5</c:v>
              </c:pt>
              <c:pt idx="29">
                <c:v>2020.58333333</c:v>
              </c:pt>
              <c:pt idx="30">
                <c:v>2020.66666667</c:v>
              </c:pt>
              <c:pt idx="31">
                <c:v>2020.75</c:v>
              </c:pt>
              <c:pt idx="32">
                <c:v>2020.83333333</c:v>
              </c:pt>
              <c:pt idx="33">
                <c:v>2020.91666667</c:v>
              </c:pt>
              <c:pt idx="34">
                <c:v>2021</c:v>
              </c:pt>
              <c:pt idx="35">
                <c:v>2021.08333333</c:v>
              </c:pt>
              <c:pt idx="36">
                <c:v>2021.16666667</c:v>
              </c:pt>
              <c:pt idx="37">
                <c:v>2021.25</c:v>
              </c:pt>
              <c:pt idx="38">
                <c:v>2021.33333333</c:v>
              </c:pt>
              <c:pt idx="39">
                <c:v>2021.41666667</c:v>
              </c:pt>
              <c:pt idx="40">
                <c:v>2021.5</c:v>
              </c:pt>
              <c:pt idx="41">
                <c:v>2021.58333333</c:v>
              </c:pt>
              <c:pt idx="42">
                <c:v>2021.66666667</c:v>
              </c:pt>
              <c:pt idx="43">
                <c:v>2021.75</c:v>
              </c:pt>
              <c:pt idx="44">
                <c:v>2021.83333333</c:v>
              </c:pt>
              <c:pt idx="45">
                <c:v>2021.91666667</c:v>
              </c:pt>
              <c:pt idx="46">
                <c:v>2022</c:v>
              </c:pt>
              <c:pt idx="47">
                <c:v>2022.08333333</c:v>
              </c:pt>
              <c:pt idx="48">
                <c:v>2022.16666667</c:v>
              </c:pt>
              <c:pt idx="49">
                <c:v>2022.25</c:v>
              </c:pt>
              <c:pt idx="50">
                <c:v>2022.33333333</c:v>
              </c:pt>
              <c:pt idx="51">
                <c:v>2022.41666667</c:v>
              </c:pt>
              <c:pt idx="52">
                <c:v>2022.5</c:v>
              </c:pt>
              <c:pt idx="53">
                <c:v>2022.58333333</c:v>
              </c:pt>
              <c:pt idx="54">
                <c:v>2022.66666667</c:v>
              </c:pt>
              <c:pt idx="55">
                <c:v>2022.75</c:v>
              </c:pt>
              <c:pt idx="56">
                <c:v>2022.83333333</c:v>
              </c:pt>
              <c:pt idx="57">
                <c:v>2022.91666667</c:v>
              </c:pt>
              <c:pt idx="58">
                <c:v>2023</c:v>
              </c:pt>
              <c:pt idx="59">
                <c:v>2023.08333333</c:v>
              </c:pt>
              <c:pt idx="60">
                <c:v>2023.16666667</c:v>
              </c:pt>
              <c:pt idx="61">
                <c:v>2023.25</c:v>
              </c:pt>
              <c:pt idx="62">
                <c:v>2023.33333333</c:v>
              </c:pt>
              <c:pt idx="63">
                <c:v>2023.41666667</c:v>
              </c:pt>
              <c:pt idx="64">
                <c:v>2023.5</c:v>
              </c:pt>
              <c:pt idx="65">
                <c:v>2023.58333333</c:v>
              </c:pt>
              <c:pt idx="66">
                <c:v>2023.66666667</c:v>
              </c:pt>
              <c:pt idx="67">
                <c:v>2023.75</c:v>
              </c:pt>
              <c:pt idx="68">
                <c:v>2023.83333333</c:v>
              </c:pt>
              <c:pt idx="69">
                <c:v>2023.91666667</c:v>
              </c:pt>
              <c:pt idx="70">
                <c:v>2024</c:v>
              </c:pt>
              <c:pt idx="71">
                <c:v>2024.08333333</c:v>
              </c:pt>
              <c:pt idx="72">
                <c:v>2024.16666667</c:v>
              </c:pt>
              <c:pt idx="73">
                <c:v>2024.25</c:v>
              </c:pt>
              <c:pt idx="74">
                <c:v>2024.33333333</c:v>
              </c:pt>
              <c:pt idx="75">
                <c:v>2024.41666667</c:v>
              </c:pt>
              <c:pt idx="76">
                <c:v>2024.5</c:v>
              </c:pt>
              <c:pt idx="77">
                <c:v>2024.58333333</c:v>
              </c:pt>
              <c:pt idx="78">
                <c:v>2024.66666667</c:v>
              </c:pt>
              <c:pt idx="79">
                <c:v>2024.75</c:v>
              </c:pt>
              <c:pt idx="80">
                <c:v>2024.83333333</c:v>
              </c:pt>
              <c:pt idx="81">
                <c:v>2024.91666667</c:v>
              </c:pt>
              <c:pt idx="82">
                <c:v>2025</c:v>
              </c:pt>
              <c:pt idx="83">
                <c:v>2025.08333333</c:v>
              </c:pt>
              <c:pt idx="84">
                <c:v>2025.16666667</c:v>
              </c:pt>
              <c:pt idx="85">
                <c:v>2025.25</c:v>
              </c:pt>
              <c:pt idx="86">
                <c:v>2025.33333333</c:v>
              </c:pt>
              <c:pt idx="87">
                <c:v>2025.41666667</c:v>
              </c:pt>
              <c:pt idx="88">
                <c:v>2025.5</c:v>
              </c:pt>
              <c:pt idx="89">
                <c:v>2025.58333333</c:v>
              </c:pt>
              <c:pt idx="90">
                <c:v>2025.66666667</c:v>
              </c:pt>
              <c:pt idx="91">
                <c:v>2025.75</c:v>
              </c:pt>
              <c:pt idx="92">
                <c:v>2025.83333333</c:v>
              </c:pt>
              <c:pt idx="93">
                <c:v>2025.91666667</c:v>
              </c:pt>
              <c:pt idx="94">
                <c:v>2026</c:v>
              </c:pt>
              <c:pt idx="95">
                <c:v>2026.08333333</c:v>
              </c:pt>
              <c:pt idx="96">
                <c:v>2026.16666667</c:v>
              </c:pt>
              <c:pt idx="97">
                <c:v>2026.25</c:v>
              </c:pt>
              <c:pt idx="98">
                <c:v>2026.33333333</c:v>
              </c:pt>
              <c:pt idx="99">
                <c:v>2026.41666667</c:v>
              </c:pt>
              <c:pt idx="100">
                <c:v>2026.5</c:v>
              </c:pt>
              <c:pt idx="101">
                <c:v>2026.58333333</c:v>
              </c:pt>
            </c:numLit>
          </c:xVal>
          <c:yVal>
            <c:numLit>
              <c:formatCode>0.00</c:formatCode>
              <c:ptCount val="102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-0.48473118</c:v>
              </c:pt>
              <c:pt idx="25">
                <c:v>-0.416803321347</c:v>
              </c:pt>
              <c:pt idx="26">
                <c:v>-0.278069379269</c:v>
              </c:pt>
              <c:pt idx="27">
                <c:v>-0.235880520691</c:v>
              </c:pt>
              <c:pt idx="28">
                <c:v>-0.311790779816</c:v>
              </c:pt>
              <c:pt idx="29">
                <c:v>-0.0711234552725</c:v>
              </c:pt>
              <c:pt idx="30">
                <c:v>-0.514187198744</c:v>
              </c:pt>
              <c:pt idx="31">
                <c:v>-0.811669964691</c:v>
              </c:pt>
              <c:pt idx="32">
                <c:v>0</c:v>
              </c:pt>
              <c:pt idx="33">
                <c:v>0</c:v>
              </c:pt>
              <c:pt idx="34">
                <c:v>-0.36077752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-0.60554827</c:v>
              </c:pt>
              <c:pt idx="41">
                <c:v>-0.888160967475</c:v>
              </c:pt>
              <c:pt idx="42">
                <c:v>-1.00989010835</c:v>
              </c:pt>
              <c:pt idx="43">
                <c:v>-0.90487158986</c:v>
              </c:pt>
              <c:pt idx="44">
                <c:v>-1.01115736798</c:v>
              </c:pt>
              <c:pt idx="45">
                <c:v>-0.310183657705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-0.19390579</c:v>
              </c:pt>
              <c:pt idx="52">
                <c:v>0</c:v>
              </c:pt>
              <c:pt idx="53">
                <c:v>0</c:v>
              </c:pt>
              <c:pt idx="54">
                <c:v>-0.01346617</c:v>
              </c:pt>
              <c:pt idx="55">
                <c:v>0</c:v>
              </c:pt>
              <c:pt idx="56">
                <c:v>-0.90367675</c:v>
              </c:pt>
              <c:pt idx="57">
                <c:v>-1.42745572765</c:v>
              </c:pt>
              <c:pt idx="58">
                <c:v>-0.410501704462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-0.40293896</c:v>
              </c:pt>
              <c:pt idx="77">
                <c:v>-0.327603563755</c:v>
              </c:pt>
              <c:pt idx="78">
                <c:v>0</c:v>
              </c:pt>
              <c:pt idx="79">
                <c:v>0</c:v>
              </c:pt>
              <c:pt idx="80">
                <c:v>-0.6487001</c:v>
              </c:pt>
              <c:pt idx="81">
                <c:v>0</c:v>
              </c:pt>
              <c:pt idx="82">
                <c:v>0</c:v>
              </c:pt>
              <c:pt idx="83">
                <c:v>0</c:v>
              </c:pt>
              <c:pt idx="84">
                <c:v>0</c:v>
              </c:pt>
              <c:pt idx="85">
                <c:v>0</c:v>
              </c:pt>
              <c:pt idx="86">
                <c:v>0</c:v>
              </c:pt>
              <c:pt idx="87">
                <c:v>0</c:v>
              </c:pt>
              <c:pt idx="88">
                <c:v>0</c:v>
              </c:pt>
              <c:pt idx="89">
                <c:v>0</c:v>
              </c:pt>
              <c:pt idx="90">
                <c:v>0</c:v>
              </c:pt>
              <c:pt idx="91">
                <c:v>0</c:v>
              </c:pt>
              <c:pt idx="92">
                <c:v>0</c:v>
              </c:pt>
              <c:pt idx="93">
                <c:v>-0.04376616</c:v>
              </c:pt>
              <c:pt idx="94">
                <c:v>0</c:v>
              </c:pt>
              <c:pt idx="95">
                <c:v>0</c:v>
              </c:pt>
              <c:pt idx="96">
                <c:v>0</c:v>
              </c:pt>
              <c:pt idx="97">
                <c:v>0</c:v>
              </c:pt>
              <c:pt idx="98">
                <c:v>0</c:v>
              </c:pt>
              <c:pt idx="99">
                <c:v>0</c:v>
              </c:pt>
              <c:pt idx="100">
                <c:v>0</c:v>
              </c:pt>
              <c:pt idx="101">
                <c:v>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1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Perda do pico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2027"/>
          <c:min val="2018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Carry por juros</c:v>
          </c:tx>
          <c:spPr>
            <a:solidFill xmlns:a="http://schemas.openxmlformats.org/drawingml/2006/main">
              <a:srgbClr val="15354D"/>
            </a:solidFill>
          </c:spPr>
          <c:cat>
            <c:strLit>
              <c:ptCount val="2"/>
              <c:pt idx="0">
                <c:v>Câmbio</c:v>
              </c:pt>
              <c:pt idx="1">
                <c:v>Juros</c:v>
              </c:pt>
            </c:strLit>
          </c:cat>
          <c:val>
            <c:numLit>
              <c:formatCode>0.00</c:formatCode>
              <c:ptCount val="2"/>
              <c:pt idx="0">
                <c:v>0.74073898</c:v>
              </c:pt>
              <c:pt idx="1">
                <c:v>2.61915404</c:v>
              </c:pt>
            </c:numLit>
          </c:val>
        </c:ser>
        <c:ser>
          <c:idx val="1"/>
          <c:order val="1"/>
          <c:tx>
            <c:v>Combinação</c:v>
          </c:tx>
          <c:spPr>
            <a:solidFill xmlns:a="http://schemas.openxmlformats.org/drawingml/2006/main">
              <a:srgbClr val="007F7B"/>
            </a:solidFill>
          </c:spPr>
          <c:cat>
            <c:strLit>
              <c:ptCount val="2"/>
              <c:pt idx="0">
                <c:v>Câmbio</c:v>
              </c:pt>
              <c:pt idx="1">
                <c:v>Juros</c:v>
              </c:pt>
            </c:strLit>
          </c:cat>
          <c:val>
            <c:numLit>
              <c:formatCode>0.00</c:formatCode>
              <c:ptCount val="2"/>
              <c:pt idx="0">
                <c:v>1.81617676</c:v>
              </c:pt>
              <c:pt idx="1">
                <c:v>1.5005359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5354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.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Pontos percentuais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4080F-3A1C-4B71-A346-D678748B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Câmbio real</a:t>
            </a:r>
          </a:p>
          <a:p xmlns:a="http://schemas.openxmlformats.org/drawingml/2006/main">
            <a:pPr>
              <a:defRPr sz="480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 carry trade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80CC5-B7B4-464C-BB9A-FEB5BE76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Replicação de Eichenbaum, Johannsen e Rebelo (2021) e extensões empíricas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DD7E5-47F1-414E-8EAF-BD43BDB6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01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7F7B"/>
                </a:solidFill>
                <a:latin typeface="Arial"/>
                <a:ea typeface="Arial"/>
                <a:cs typeface="Arial"/>
              </a:rPr>
              <a:t>Macroeconomia Aplicada · EPGE/FGV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7817B-4473-4F32-ADBC-3AFD0BE0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38594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5F60A-CF1B-4B9E-8062-054C0ED9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ideia econômica do artigo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3E78F-105F-47B0-A539-C512DD0E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Eichenbaum, Johannsen e Rebelo (EJR, 2021), Review of Economic Studies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211D4-BA78-41FE-8846-51D71114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4F542-26C4-45B5-831D-B2A8B968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Câmbio real = cotação × preços dos EUA / preços locais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8E750-AF6E-4AB8-96C2-F01A7101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Uma moeda relativamente barata pode se ajustar pela cotação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ou pela inflação relativa.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12FB2-01FE-408C-B9DF-64E2D26B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Nos países com metas de inflação do artigo, o câmbio real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ajuda a prever o nominal futuro e prevê pouco a inflação.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FA0B1-4875-4782-A0A1-88F043CE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EJR, seção 3.3: ganho agregado acima de 2 anos; destaque para 4 e 6 anos. Replicação parcial da relação preditiva, sem o DSGE.</a:t>
            </a:r>
          </a:p>
        </p:txBody>
      </p:sp>
    </p:spTree>
    <p:extLst>
      <p:ext uri="{BB962C8B-B14F-4D97-AF65-F5344CB8AC3E}">
        <p14:creationId xmlns:p14="http://schemas.microsoft.com/office/powerpoint/2010/main" val="9278452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CF7C0-F6DE-428F-8A59-24C736A8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relação da aula aparece na replicação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143BD-8A2A-4712-BC2E-76325BF5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Brasil, horizonte de oito anos. Ajuste dentro da amostra.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83A97-6817-4695-BE40-3AD18FBB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14350" y="2000250"/>
          <a:ext xmlns:a="http://schemas.openxmlformats.org/drawingml/2006/main" cx="7953375" cy="3495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3b050e017c420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97257-86A5-4433-82B6-A116EE39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3837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Inclinação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3B86F-1180-4837-AD54-19906E03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67000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-1,808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A5CEB-FCA0-4E18-86B9-A1B49E60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63855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R² do ajuste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CEC57-FA7A-4279-B5FF-7E55813D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067175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0,883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33A72-01B0-407F-B6C4-7F6961A6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Replicar uma relação histórica ainda não prova capacidade de previsão.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A2F1D-E5A6-48E1-8E59-708CC335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replicação da aula 8. 280 origens, jan/1995–abr/2018. Resultados até abr/2026. Horizontes sobrepostos.</a:t>
            </a:r>
          </a:p>
        </p:txBody>
      </p:sp>
    </p:spTree>
    <p:extLst>
      <p:ext uri="{BB962C8B-B14F-4D97-AF65-F5344CB8AC3E}">
        <p14:creationId xmlns:p14="http://schemas.microsoft.com/office/powerpoint/2010/main" val="13110835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75DA2-8E0C-47CD-9001-FFFB5AC3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previsão varia por país e horizonte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1E250-779C-4618-BD3B-62498253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Erro relativo a nenhuma mudança. Abaixo de 1, a previsão melhora.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0D9E5-B0E6-4E4D-9BF0-87805B42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10972800" cy="3057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238250"/>
                <a:gridCol w="1238250"/>
                <a:gridCol w="1238250"/>
                <a:gridCol w="1238250"/>
                <a:gridCol w="1238250"/>
                <a:gridCol w="1238250"/>
                <a:gridCol w="1733550"/>
              </a:tblGrid>
              <a:tr h="43678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Horizonte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BRL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EUR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JPY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GBP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SEK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Agregado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 ano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0,964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0,948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1,239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1,038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1,026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1,066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1,039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 anos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0,916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0,917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1,344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1,178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0,991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1,194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1,076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 anos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0,884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0,993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1,345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1,361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0,920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1,362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1,096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 anos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0,792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0,899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1,537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0,709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1,434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1,037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7 anos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0,793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1,302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1,700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1,563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0,859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1,441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1,072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8 anos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0,816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1,226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1,869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1,445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1,161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1,482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1,115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67A13-E6DF-4571-8D52-B4317664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Origens — 1 ano: jan/2010–ago/2025; 2 anos: jan/2010–ago/2024; 3 anos: jan/2010–ago/2023.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5 anos: jan/2010–ago/2021; 7 anos: nov/2011–ago/2019; 8 anos: nov/2012–ago/2018.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expansivo desde out/1999; mínimo 60 origens maduras por moeda; alvos de treino até t−1.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Alvos avaliados até ago/2026. Inclinação comum às moedas; agregado reúne os erros do painel.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0F350-B6B7-4934-8EC7-3AAF3959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forecast_accuracy.csv e timing_audit.csv. EJR agrupado; moedas contra USD. Erro relativo = RMSE / RMSE de nenhuma mudança.</a:t>
            </a:r>
          </a:p>
        </p:txBody>
      </p:sp>
    </p:spTree>
    <p:extLst>
      <p:ext uri="{BB962C8B-B14F-4D97-AF65-F5344CB8AC3E}">
        <p14:creationId xmlns:p14="http://schemas.microsoft.com/office/powerpoint/2010/main" val="12713531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13235-0A33-4E61-AD68-8C565A6C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proposta inicial para o carry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B3D4C-1360-41DC-A48B-3CF09EED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Aplicação própria: previsão de 60 meses convertida em sinal mensal. Não é uma carteira do artigo.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7E512-C93D-4AF2-80A9-0001EC69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52650"/>
          <a:ext xmlns:a="http://schemas.openxmlformats.org/drawingml/2006/main" cx="1097280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924550"/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com previsão cambial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Diferencial de juros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Diferencial de juros</a:t>
                      </a:r>
                    </a:p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+ valorização prevista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B5E3C-5872-4065-BFB3-80EE0C9B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Retorno aproximado = diferencial de juros + valorização cambial − custos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998DC-3AEA-4366-946E-C51FC99D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Exemplo: ativo +10%, financiamento 3%, moeda −8%.</a:t>
            </a:r>
          </a:p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Resultado exato antes de custos: 1,10 × 0,92 − 1,03 = −1,8%.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3A4E4-F14B-4EA7-B97E-7A821370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Exemplo hipotético. Simulação com aplicações curtas e financiamento. O cálculo exato inclui interação entre juros e câmbio.</a:t>
            </a:r>
          </a:p>
        </p:txBody>
      </p:sp>
    </p:spTree>
    <p:extLst>
      <p:ext uri="{BB962C8B-B14F-4D97-AF65-F5344CB8AC3E}">
        <p14:creationId xmlns:p14="http://schemas.microsoft.com/office/powerpoint/2010/main" val="126725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2D9CA-A5E2-4692-84E6-9BD851DB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Aplicação mensal de uma previsão de cinco anos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340A0-C10A-4A57-A267-484528A2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Mar/2010–ago/2026. Este backtest testa a aplicação mensal; não rejeita a previsão de longo prazo.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1F88E-1ABD-464E-88E3-99DD5416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2905125"/>
                <a:gridCol w="2876550"/>
              </a:tblGrid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+ previsão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 composto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2,73%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 anual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4,16%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0,31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-7,01%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EE4AE-60BD-40C9-9951-AA88317A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97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Ranking com 2 compras e 2 vendas, 25% por ponta. Sem otimização de Markowitz.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 60m; revisão mensal; execução t+1. Backtest: mar/2010–ago/2026.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inicial: origens out/1999–dez/2004, alvos até dez/2009. Depois, expansivo mensal.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Custos: BRL 10 pb, SEK 3 pb, demais 2 pb por notional; spread extra na venda 50 pb a.a.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22D46-5765-433B-A2A9-6F8F6841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portfolio_metrics.csv, timing_audit.csv e src/models.py. Custos em entrada, rebalanceamento e saída. Caixa USD incluído.</a:t>
            </a:r>
          </a:p>
        </p:txBody>
      </p:sp>
    </p:spTree>
    <p:extLst>
      <p:ext uri="{BB962C8B-B14F-4D97-AF65-F5344CB8AC3E}">
        <p14:creationId xmlns:p14="http://schemas.microsoft.com/office/powerpoint/2010/main" val="13047355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8CFD6-8B8C-4A03-AAB9-86EE08B3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Patrimônio da aplicação mensal do sinal de cinco anos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A06E9-B84B-47CF-A749-80661D50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Patrimônio líquido em USD, base 100. Sem permanência obrigatória de cinco 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7E3B7-F8FA-4288-86BE-A680F65C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23875" y="1952625"/>
          <a:ext xmlns:a="http://schemas.openxmlformats.org/drawingml/2006/main" cx="111442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afb90420c045e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E315F-3A0E-4280-BE75-401DA012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mar/2010–ago/2026. Treino EJR expansivo desde out/1999, só com alvos maduros.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Horizonte da previsão: 60 meses. Revisão das posições: mensal. Custos iguais aos do slide 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D9023-C48A-4FEF-B180-DA869BDA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portfolio_returns.csv. 198 retornos líquidos mensais. A previsão de cinco anos não fixa cinco anos de permanência.</a:t>
            </a:r>
          </a:p>
        </p:txBody>
      </p:sp>
    </p:spTree>
    <p:extLst>
      <p:ext uri="{BB962C8B-B14F-4D97-AF65-F5344CB8AC3E}">
        <p14:creationId xmlns:p14="http://schemas.microsoft.com/office/powerpoint/2010/main" val="19490008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37740-4712-4B95-B658-FC298C9C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 exploratória: regras de exposição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4A158-610C-41AF-9C33-304ACB2C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Regras próprias: decisões mensais e risco de 12m. Não validam a convergência prevista em 60m.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C16F4-3728-4F42-AD61-B2BC54A6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71800"/>
                <a:gridCol w="8001000"/>
              </a:tblGrid>
              <a:tr h="7715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Regra econômica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Quanto investir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Reduzir tamanho se a previsão for fraca.</a:t>
                      </a:r>
                    </a:p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Evitar mudanças comerciais extremas.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Quando entrar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Exigir retorno previsto mínimo.</a:t>
                      </a:r>
                    </a:p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Evitar preços comerciais adversos.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Quando sair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Abrir parcelas com prazo de até 12 meses.</a:t>
                      </a:r>
                    </a:p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Sair se o comércio indicar risco adicional.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B0993-4184-4F91-A985-960ECB5C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expansivo: EJR desde out/1999; risco comercial desde jan/2011.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Horizontes: câmbio nominal 60m; risco de consumo dos juros 12m. Backtest: abr/2018–ago/2026.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Risco adicional compara modelo com comércio à base. Limiares usam só história passada.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83ADE-A5F6-4CB0-AD52-F27CE8A7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synthesis/model.py. Pesos 1/3 por módulo. Mínimos: 60 origens EJR, 36 risco e 36 meses de histórico dos limiares.</a:t>
            </a:r>
          </a:p>
        </p:txBody>
      </p:sp>
    </p:spTree>
    <p:extLst>
      <p:ext uri="{BB962C8B-B14F-4D97-AF65-F5344CB8AC3E}">
        <p14:creationId xmlns:p14="http://schemas.microsoft.com/office/powerpoint/2010/main" val="2961710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DCC87-2CDA-43CC-B0C0-6449F095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 exploratória: resultado da combinação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CDA20-55FC-4501-A2B7-BCC3C200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Abr/2018–ago/2026. Resultado histórico das regras próprias; não é validação econômica do artigo.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6E2FB-0384-4300-9B70-62B70384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2905125"/>
                <a:gridCol w="2876550"/>
              </a:tblGrid>
              <a:tr h="558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Combinação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 composto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 anual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0,75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Exposição bruta média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7BDCC-D12E-422A-BF21-CEAF1D6F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Primeiro sinal: fev/2018. Treino EJR: out/1999–jan/2013; risco: jan/2011–dez/2016.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Alvos disponíveis até jan/2018. Depois, reestimação expansiva mensal.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 comum: abr/2018–ago/2026, 101 retornos mensais líquidos.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7C71DD-B12E-4AF0-BA96-FA8E5DAB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metrics.csv, common/all. Exposição líquida zero. Resultado exploratório, sem prova de ganho de retorno médio.</a:t>
            </a:r>
          </a:p>
        </p:txBody>
      </p:sp>
    </p:spTree>
    <p:extLst>
      <p:ext uri="{BB962C8B-B14F-4D97-AF65-F5344CB8AC3E}">
        <p14:creationId xmlns:p14="http://schemas.microsoft.com/office/powerpoint/2010/main" val="19248118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C3C63-E3CA-4814-92C7-784889FC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 exploratória: prazo dos lotes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14D5A-2491-4292-9E0A-645D0BC4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Sensibilidade de regras próprias: lotes de 6–24m. Não é um teste de convergência em cinco 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25248-58E5-4309-AC7E-8B1A1289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2175"/>
                <a:gridCol w="1762125"/>
                <a:gridCol w="1762125"/>
                <a:gridCol w="1666875"/>
                <a:gridCol w="1857375"/>
                <a:gridCol w="1762125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Prazo máximo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Retorno a.a.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Vol. a.a.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Queda máx.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Exp. média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 meses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5,96%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2,40%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1,33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-1,69%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51%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48%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24 meses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5,77%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1,35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-1,30%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31EAA-9189-4AA7-B00D-73A9E11D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A exposição é contínua. O prazo dos lotes muda quanto e por quanto tempo carregar.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55919-A0E1-44D7-97C8-9A0C5300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Mesmo backtest: abr/2018–ago/2026; custos e treinamento expansivo iguais ao slide anterior.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Muda somente o máximo do lote e o orçamento mensal 1/H. Há saída antecipada.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previsão de risco continua em 12m. Estes testes não identificam um prazo ótimo.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1DA04-C919-40A9-B354-5F73D0C7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robustness.csv (Base, Tenure6, Tenure24), make_policies. Outros dois módulos continuam com revisão mensal.</a:t>
            </a:r>
          </a:p>
        </p:txBody>
      </p:sp>
    </p:spTree>
    <p:extLst>
      <p:ext uri="{BB962C8B-B14F-4D97-AF65-F5344CB8AC3E}">
        <p14:creationId xmlns:p14="http://schemas.microsoft.com/office/powerpoint/2010/main" val="12913183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4F534-706B-48A3-997B-D7C45537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 exploratória: trajetória da combinação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B3E9D-0870-4B22-A496-3DBF6501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Abr/2018–ago/2026. Patrimônio líquido em USD. Referência das regras próprias de exposição.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4BA9C-C3D8-45DB-8AA9-06F28FCC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23875" y="1857375"/>
          <a:ext xmlns:a="http://schemas.openxmlformats.org/drawingml/2006/main" cx="11144250" cy="2181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49e8e130da4b1c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23875" y="4086225"/>
          <a:ext xmlns:a="http://schemas.openxmlformats.org/drawingml/2006/main" cx="11144250" cy="1495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656fb166d049d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F734C-972D-4D54-93EB-9D9BC4AF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no 1º sinal (fev/2018): EJR out/1999–jan/2013; risco jan/2011–dez/2016.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Alvos disponíveis até jan/2018. Janelas expansivas. Backtest: abr/2018–ago/2026.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9493E-274F-4BCB-97AE-8CF51735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returns.csv.gz; timing_audit.csv e extensão comercial, audit.csv. Lotes de até 12m no módulo C.</a:t>
            </a:r>
          </a:p>
        </p:txBody>
      </p:sp>
    </p:spTree>
    <p:extLst>
      <p:ext uri="{BB962C8B-B14F-4D97-AF65-F5344CB8AC3E}">
        <p14:creationId xmlns:p14="http://schemas.microsoft.com/office/powerpoint/2010/main" val="18387506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63EAB-3874-46A0-BAD1-2A32AEBC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 exploratória: decomposição do resultado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1A71B-DC7C-49DD-8BA8-632E6063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Contribuição ao excesso médio anual, em pontos percentuais. Abril/2018–agosto/2026.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16E2B-9A22-44DE-ADCC-EC745A91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0075" y="2028825"/>
          <a:ext xmlns:a="http://schemas.openxmlformats.org/drawingml/2006/main" cx="733425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a3583ec363461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5A06A-247C-4B29-A02C-A3DB0A94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621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Custo de ficar de fora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43A35-5054-47FB-B8F9-9727C3D3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0375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Em 2019, excesso anual: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Carry: 3,83%</a:t>
            </a:r>
          </a:p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Combinação: 0,40%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46A0B-20D5-4142-A939-E7D1A99B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Atribuição do backtest abr/2018–ago/2026. Mesmos modelos e treino expansivo da combinação.</a:t>
            </a:r>
          </a:p>
          <a:p xmlns:a="http://schemas.openxmlformats.org/drawingml/2006/main">
            <a:pPr>
              <a:defRPr sz="15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 filtro protegeu em alguns episódios e deixou ganhos para trás em outros.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91BB7-CE9E-4BAC-8682-5DF8039A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attribution.csv e episodes.csv. Média aritmética anualizada. Componentes não somam o CAGR. Custos e interação completam a conta.</a:t>
            </a:r>
          </a:p>
        </p:txBody>
      </p:sp>
    </p:spTree>
    <p:extLst>
      <p:ext uri="{BB962C8B-B14F-4D97-AF65-F5344CB8AC3E}">
        <p14:creationId xmlns:p14="http://schemas.microsoft.com/office/powerpoint/2010/main" val="3683805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FF79A-E554-43C7-9CC6-EF0F17CB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resultado ainda exige validação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6777D-2C40-4BE4-8529-C40392B0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Melhora histórica de risco não basta para estabelecer uma vantagem de mercado.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70187-38E4-4CC3-9215-92078115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FF65A-A600-449A-ABA6-98BF3AD2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Decisões mensais não validam o ajuste previsto em cinco anos.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5D726-D713-4D63-B8AE-D3035B8D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Menor exposição explica parte da redução do risco.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DFFA6-06F4-4C55-B951-2528D18B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Resultados dependem bastante de BRL e JPY.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68DD0-6843-495C-80CF-8FED9070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Dados revisados e taxas aproximadas limitam a execução real.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F3C08-B2BA-4AE8-8BD7-E1C72AF7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 teste corrigido para 14 alternativas principais não estabelece ganho de retorno médio. Calendário controlado não elimina seleção histórica.</a:t>
            </a:r>
          </a:p>
        </p:txBody>
      </p:sp>
    </p:spTree>
    <p:extLst>
      <p:ext uri="{BB962C8B-B14F-4D97-AF65-F5344CB8AC3E}">
        <p14:creationId xmlns:p14="http://schemas.microsoft.com/office/powerpoint/2010/main" val="19119621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75F532-4D1C-4F40-BE64-6BFA15DE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que o trabalho permite concluir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A0A99-9239-410C-AC0E-9227EE9E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680DD-184D-4883-AF7E-272E4CEA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relação histórica da aula foi parcialmente replicada.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479DA-19DA-4F8E-BF22-FD9FCAB4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previsão varia por moeda, horizonte e período.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A19EC-C9A1-44AC-AE29-B2933571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As carteiras posteriores são referências exploratórias.</a:t>
            </a:r>
          </a:p>
          <a:p xmlns:a="http://schemas.openxmlformats.org/drawingml/2006/main">
            <a: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Falta validar o investimento no horizonte previsto.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F75D7-41AB-4AA8-B7B7-168F9487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Próxima validação: regras congeladas, dados futuros e custos executáveis. Resultados exploratórios, sem arbitragem demonstrada.</a:t>
            </a:r>
          </a:p>
        </p:txBody>
      </p:sp>
    </p:spTree>
    <p:extLst>
      <p:ext uri="{BB962C8B-B14F-4D97-AF65-F5344CB8AC3E}">
        <p14:creationId xmlns:p14="http://schemas.microsoft.com/office/powerpoint/2010/main" val="16259148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867B3-3373-46D7-A20C-FEB5346D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equações e informação disponível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50FF2-C122-4989-96BC-1A7486F4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Regressões nominais. Índices de país omitidos para facilitar a leitura.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4F6EF-2146-49D8-AB9D-A05CF33C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15 apoio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AFABB-222A-436E-BFA1-85470D9C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Base: Δs(t, t+h) = β × desvio real + erro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62A2C-41FD-4F17-9467-89BF7997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Desvio real = q(t) − média histórica disponível de 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833AA-E6F7-4542-ABB8-971B742C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Em t, o treinamento só inclui alvos terminados até t−1.</a:t>
            </a:r>
          </a:p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O CPI entra com dois meses de atraso.</a:t>
            </a:r>
          </a:p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previsão de 60 meses / 60 é um ritmo médio aproximado.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83E9F-3096-457B-B01F-D85B24F7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src/models.py. Regressão preditiva agrupada. Sem identificação causal ou estimação completa do DSGE do artigo.</a:t>
            </a:r>
          </a:p>
        </p:txBody>
      </p:sp>
    </p:spTree>
    <p:extLst>
      <p:ext uri="{BB962C8B-B14F-4D97-AF65-F5344CB8AC3E}">
        <p14:creationId xmlns:p14="http://schemas.microsoft.com/office/powerpoint/2010/main" val="14900868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524EC-4029-4312-861B-B573D698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exposição, custos e interpretação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F7D0A-2888-42C2-9908-F6DA7390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Comparação na mesma janela de 2018–2026. Controle de exposição retrospectivo.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8428C-3004-4A77-9089-BADBF198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16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43375"/>
                <a:gridCol w="2276475"/>
                <a:gridCol w="2276475"/>
                <a:gridCol w="2276475"/>
              </a:tblGrid>
              <a:tr h="6572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a 48%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Combinação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2,04%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-4,02%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CBC09-B26F-49B5-8D31-BA511ADC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72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Sinal no mês t. Execução em t+1. Primeiro retorno em t+2.</a:t>
            </a:r>
          </a:p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Custos e financiamento entram nos retornos das duas regras.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36CA6-E257-4647-8CE5-6D95108B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média de 48% só é conhecida ao final. Controle diagnóstico, sem regra executável ex ante. Fonte: exposure_controls.csv.</a:t>
            </a:r>
          </a:p>
        </p:txBody>
      </p:sp>
    </p:spTree>
    <p:extLst>
      <p:ext uri="{BB962C8B-B14F-4D97-AF65-F5344CB8AC3E}">
        <p14:creationId xmlns:p14="http://schemas.microsoft.com/office/powerpoint/2010/main" val="3997381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2026-09-15T20:13:26.4870000Z</dcterms:created>
  <dcterms:modified xsi:type="dcterms:W3CDTF">2026-09-15T20:13:26.4870000Z</dcterms:modified>
</coreProperties>
</file>