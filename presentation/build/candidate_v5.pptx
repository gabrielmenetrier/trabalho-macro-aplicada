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8b774637504bb9" /><Relationship Type="http://schemas.openxmlformats.org/officeDocument/2006/relationships/extended-properties" Target="/docProps/app.xml" Id="Ra43714f585fc4414" /><Relationship Type="http://schemas.openxmlformats.org/officeDocument/2006/relationships/officeDocument" Target="/ppt/presentation.xml" Id="Rf19b3fa21e9f4e82" /></Relationships>
</file>

<file path=ppt/presentation.xml><?xml version="1.0" encoding="utf-8"?>
<p:presentation xmlns:p="http://schemas.openxmlformats.org/presentationml/2006/main">
  <p:sldMasterIdLst>
    <p:sldMasterId xmlns:r="http://schemas.openxmlformats.org/officeDocument/2006/relationships" id="2147483648" r:id="R66cab45bafe14678"/>
  </p:sldMasterIdLst>
  <p:notesMasterIdLst>
    <p:notesMasterId xmlns:r="http://schemas.openxmlformats.org/officeDocument/2006/relationships" r:id="R393fb16e02fb49cc"/>
  </p:notesMasterIdLst>
  <p:sldIdLst>
    <p:sldId xmlns:r="http://schemas.openxmlformats.org/officeDocument/2006/relationships" id="256" r:id="R9191b4608176469d"/>
    <p:sldId xmlns:r="http://schemas.openxmlformats.org/officeDocument/2006/relationships" id="257" r:id="Re5af514411af494f"/>
    <p:sldId xmlns:r="http://schemas.openxmlformats.org/officeDocument/2006/relationships" id="258" r:id="Rcd02522d1aaa48f5"/>
    <p:sldId xmlns:r="http://schemas.openxmlformats.org/officeDocument/2006/relationships" id="259" r:id="R41b9134648084e60"/>
    <p:sldId xmlns:r="http://schemas.openxmlformats.org/officeDocument/2006/relationships" id="260" r:id="R20c92eabff184144"/>
    <p:sldId xmlns:r="http://schemas.openxmlformats.org/officeDocument/2006/relationships" id="261" r:id="Ra4ba0c01ae7641df"/>
    <p:sldId xmlns:r="http://schemas.openxmlformats.org/officeDocument/2006/relationships" id="262" r:id="Rbf6802abc4054f4b"/>
    <p:sldId xmlns:r="http://schemas.openxmlformats.org/officeDocument/2006/relationships" id="263" r:id="R7a7f306e2a5c41e1"/>
    <p:sldId xmlns:r="http://schemas.openxmlformats.org/officeDocument/2006/relationships" id="264" r:id="R726c4539531c4692"/>
    <p:sldId xmlns:r="http://schemas.openxmlformats.org/officeDocument/2006/relationships" id="265" r:id="R40a6892029f84033"/>
    <p:sldId xmlns:r="http://schemas.openxmlformats.org/officeDocument/2006/relationships" id="266" r:id="Re8c6817e10454be7"/>
    <p:sldId xmlns:r="http://schemas.openxmlformats.org/officeDocument/2006/relationships" id="267" r:id="R93d2e44c20ca4778"/>
    <p:sldId xmlns:r="http://schemas.openxmlformats.org/officeDocument/2006/relationships" id="268" r:id="R1d4724c8527d4c75"/>
    <p:sldId xmlns:r="http://schemas.openxmlformats.org/officeDocument/2006/relationships" id="269" r:id="R940cca49f5704f83"/>
    <p:sldId xmlns:r="http://schemas.openxmlformats.org/officeDocument/2006/relationships" id="270" r:id="R2260507bf0714abc"/>
    <p:sldId xmlns:r="http://schemas.openxmlformats.org/officeDocument/2006/relationships" id="271" r:id="Ra051a268ef204f0f"/>
    <p:sldId xmlns:r="http://schemas.openxmlformats.org/officeDocument/2006/relationships" id="272" r:id="Rc9238d0643e74967"/>
    <p:sldId xmlns:r="http://schemas.openxmlformats.org/officeDocument/2006/relationships" id="273" r:id="Rba40fd90efda48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a752ad49b64ee2" /><Relationship Type="http://schemas.openxmlformats.org/officeDocument/2006/relationships/slideMaster" Target="/ppt/slideMasters/slideMaster1.xml" Id="R66cab45bafe14678" /><Relationship Type="http://schemas.openxmlformats.org/officeDocument/2006/relationships/notesMaster" Target="/ppt/notesMasters/notesMaster1.xml" Id="R393fb16e02fb49cc" /><Relationship Type="http://schemas.openxmlformats.org/officeDocument/2006/relationships/presProps" Target="/ppt/presProps.xml" Id="Rb300f57bebfa48ba" /><Relationship Type="http://schemas.openxmlformats.org/officeDocument/2006/relationships/tableStyles" Target="/ppt/tableStyles.xml" Id="R1efe1c0610334a92" /><Relationship Type="http://schemas.openxmlformats.org/officeDocument/2006/relationships/slide" Target="/ppt/slides/slide1.xml" Id="R9191b4608176469d" /><Relationship Type="http://schemas.openxmlformats.org/officeDocument/2006/relationships/slide" Target="/ppt/slides/slide2.xml" Id="Re5af514411af494f" /><Relationship Type="http://schemas.openxmlformats.org/officeDocument/2006/relationships/slide" Target="/ppt/slides/slide3.xml" Id="Rcd02522d1aaa48f5" /><Relationship Type="http://schemas.openxmlformats.org/officeDocument/2006/relationships/slide" Target="/ppt/slides/slide4.xml" Id="R41b9134648084e60" /><Relationship Type="http://schemas.openxmlformats.org/officeDocument/2006/relationships/slide" Target="/ppt/slides/slide5.xml" Id="R20c92eabff184144" /><Relationship Type="http://schemas.openxmlformats.org/officeDocument/2006/relationships/slide" Target="/ppt/slides/slide6.xml" Id="Ra4ba0c01ae7641df" /><Relationship Type="http://schemas.openxmlformats.org/officeDocument/2006/relationships/slide" Target="/ppt/slides/slide7.xml" Id="Rbf6802abc4054f4b" /><Relationship Type="http://schemas.openxmlformats.org/officeDocument/2006/relationships/slide" Target="/ppt/slides/slide8.xml" Id="R7a7f306e2a5c41e1" /><Relationship Type="http://schemas.openxmlformats.org/officeDocument/2006/relationships/slide" Target="/ppt/slides/slide9.xml" Id="R726c4539531c4692" /><Relationship Type="http://schemas.openxmlformats.org/officeDocument/2006/relationships/slide" Target="/ppt/slides/slide10.xml" Id="R40a6892029f84033" /><Relationship Type="http://schemas.openxmlformats.org/officeDocument/2006/relationships/slide" Target="/ppt/slides/slide11.xml" Id="Re8c6817e10454be7" /><Relationship Type="http://schemas.openxmlformats.org/officeDocument/2006/relationships/slide" Target="/ppt/slides/slide12.xml" Id="R93d2e44c20ca4778" /><Relationship Type="http://schemas.openxmlformats.org/officeDocument/2006/relationships/slide" Target="/ppt/slides/slide13.xml" Id="R1d4724c8527d4c75" /><Relationship Type="http://schemas.openxmlformats.org/officeDocument/2006/relationships/slide" Target="/ppt/slides/slide14.xml" Id="R940cca49f5704f83" /><Relationship Type="http://schemas.openxmlformats.org/officeDocument/2006/relationships/slide" Target="/ppt/slides/slide15.xml" Id="R2260507bf0714abc" /><Relationship Type="http://schemas.openxmlformats.org/officeDocument/2006/relationships/slide" Target="/ppt/slides/slide16.xml" Id="Ra051a268ef204f0f" /><Relationship Type="http://schemas.openxmlformats.org/officeDocument/2006/relationships/slide" Target="/ppt/slides/slide17.xml" Id="Rc9238d0643e74967" /><Relationship Type="http://schemas.openxmlformats.org/officeDocument/2006/relationships/slide" Target="/ppt/slides/slide18.xml" Id="Rba40fd90efda48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8a72d117641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a2872abd5c4dc3" /><Relationship Type="http://schemas.openxmlformats.org/officeDocument/2006/relationships/notesMaster" Target="/ppt/notesMasters/notesMaster1.xml" Id="R7d941dfb6d7b48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6e51385a9b4179" /><Relationship Type="http://schemas.openxmlformats.org/officeDocument/2006/relationships/notesMaster" Target="/ppt/notesMasters/notesMaster1.xml" Id="Rfc07bed056aa49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b4319cc2fb4e1d" /><Relationship Type="http://schemas.openxmlformats.org/officeDocument/2006/relationships/notesMaster" Target="/ppt/notesMasters/notesMaster1.xml" Id="R556d7345da4a43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d47cdde56c4ef6" /><Relationship Type="http://schemas.openxmlformats.org/officeDocument/2006/relationships/notesMaster" Target="/ppt/notesMasters/notesMaster1.xml" Id="Rcb0dbde7c4fe4f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3405d46b4e4665" /><Relationship Type="http://schemas.openxmlformats.org/officeDocument/2006/relationships/notesMaster" Target="/ppt/notesMasters/notesMaster1.xml" Id="R65aa28f04cbc48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ff9dd7a000499d" /><Relationship Type="http://schemas.openxmlformats.org/officeDocument/2006/relationships/notesMaster" Target="/ppt/notesMasters/notesMaster1.xml" Id="Rf4ef9fe621e6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597700244f4f73" /><Relationship Type="http://schemas.openxmlformats.org/officeDocument/2006/relationships/notesMaster" Target="/ppt/notesMasters/notesMaster1.xml" Id="R43c93f1d7ba840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4d2c58de714fc2" /><Relationship Type="http://schemas.openxmlformats.org/officeDocument/2006/relationships/notesMaster" Target="/ppt/notesMasters/notesMaster1.xml" Id="R4567b6a7b4f344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3936dc355d440c" /><Relationship Type="http://schemas.openxmlformats.org/officeDocument/2006/relationships/notesMaster" Target="/ppt/notesMasters/notesMaster1.xml" Id="R3c2fe5f9be854c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60f13cb4ad4160" /><Relationship Type="http://schemas.openxmlformats.org/officeDocument/2006/relationships/notesMaster" Target="/ppt/notesMasters/notesMaster1.xml" Id="R2e6c04af7e244b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d929c4d14f441b" /><Relationship Type="http://schemas.openxmlformats.org/officeDocument/2006/relationships/notesMaster" Target="/ppt/notesMasters/notesMaster1.xml" Id="R4b22a309524a44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a4842890cb4a91" /><Relationship Type="http://schemas.openxmlformats.org/officeDocument/2006/relationships/notesMaster" Target="/ppt/notesMasters/notesMaster1.xml" Id="Rba242a91d2324e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81b1ebad994216" /><Relationship Type="http://schemas.openxmlformats.org/officeDocument/2006/relationships/notesMaster" Target="/ppt/notesMasters/notesMaster1.xml" Id="R6c1372fbbe6548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e89a2950a348d2" /><Relationship Type="http://schemas.openxmlformats.org/officeDocument/2006/relationships/notesMaster" Target="/ppt/notesMasters/notesMaster1.xml" Id="R361d163534cc46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c69f4959f8451b" /><Relationship Type="http://schemas.openxmlformats.org/officeDocument/2006/relationships/notesMaster" Target="/ppt/notesMasters/notesMaster1.xml" Id="R508b92e7587046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8ed8892e9c4629" /><Relationship Type="http://schemas.openxmlformats.org/officeDocument/2006/relationships/notesMaster" Target="/ppt/notesMasters/notesMaster1.xml" Id="Ra0e79154faf04b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c999650c244529" /><Relationship Type="http://schemas.openxmlformats.org/officeDocument/2006/relationships/notesMaster" Target="/ppt/notesMasters/notesMaster1.xml" Id="Rc28685a859454d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e32fb3634b44f7" /><Relationship Type="http://schemas.openxmlformats.org/officeDocument/2006/relationships/notesMaster" Target="/ppt/notesMasters/notesMaster1.xml" Id="R5231b9de5c0c4c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O trabalho parte da previsibilidade cambial de médio e longo prazo estudada por Eichenbaum, Johannsen e Rebelo. Apresento uma replicação parcial da relação da aula e testes de previsão nominal com e sem commodities. Depois mostro, apenas como referência exploratória, aplicações mensais e filtros de exposição. Esses resultados de carteira não demonstram a exploração do ajuste de longo prazo do artigo.</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Explique a relação entre câmbio real e nominal. A seção 3.3 do artigo encontra ganho agregado fora da amostra em horizontes acima de dois anos, destacando quatro e seis anos. Isso não demonstra previsão do caminho mensal. O artigo não propõe as regras de carteira posteriores deste trabalho.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indicadas no rodapé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mostra cada moeda e o agregado das seis moedas, usando a mesma especificação EJR agrupada. BRL é real, EUR euro, JPY iene, GBP libra, CAD dólar canadense e SEK coroa sueca. Todas são avaliadas contra USD. Valores abaixo de 1 aparecem em verde e indicam menor RMSE que prever nenhuma mudança. O agregado reúne os erros do painel; não é uma soma nem uma média simples das razões individuais. Em cinco anos, o Brasil tem 0,792 e o agregado 1,037. Em oito anos, 0,816 e 1,115. Os períodos de origem de cada horizonte estão no rodapé e são diferentes entre as linhas.</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e alvos de treino até t−1. Origens avaliadas: 1 ano jan/2010–ago/2025; 2 anos jan/2010–ago/2024; 3 anos jan/2010–ago/2023; 5 anos jan/2010–ago/2021; 7 anos nov/2011–ago/2019; 8 anos nov/2012–ago/2018.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Aplicação própria: convertemos a previsão de 60 meses em ritmo mensal dividindo por 60. Isso não estima uma trajetória mensal nem replica uma estratégia de investimento do artigo.</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ranking mensal com sinal de cinco anos perdeu para o carry. Esse resultado avalia esta implementação, não rejeita a previsibilidade de longo prazo.</a:t>
            </a:r>
          </a:p>
          <a:p xmlns:a="http://schemas.openxmlformats.org/drawingml/2006/main">
            <a:r>
              <a:t/>
            </a:r>
          </a:p>
          <a:p xmlns:a="http://schemas.openxmlformats.org/drawingml/2006/main">
            <a:r>
              <a:t>FALA</a:t>
            </a:r>
          </a:p>
          <a:p xmlns:a="http://schemas.openxmlformats.org/drawingml/2006/main">
            <a:r>
              <a:t>Esta é uma aplicação própria, não uma carteira do artigo. Usamos previsão cambial de cinco anos, dividida por sessenta para formar um sinal mensal. Compramos duas moedas e vendemos duas, com pesos iguais, revistos mensalmente. Não houve Markowitz. O resultado foi pior que o carry por juros. Isso não prova que a previsão de longo prazo falhou: o backtest testa uma tradução específica da previsão em decisões mensais, sem manter obrigatoriamente as posições até o horizonte previsto.</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Qual prazo foi usado? Previsão de 60 meses, revisão mensal e nenhum prazo máximo de permanência no ranking. A dispersão da aula usa oito anos. São objetos distintos. A rotina inicial também calculou coortes de 60 meses, ausentes deste gráfico, mas não uma otimização de Markowitz.</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Este gráfico não representa posições obrigatoriamente mantidas por cinco anos e não demonstra captura da convergência de longo prazo.</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A seguir, mantenho apenas como referência os resultados exploratórios de regras de exposição. Eles não validam uma estratégia de investimento de longo prazo baseada no artigo.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Este bloco fica apenas como referência exploratória. Combinamos três regras próprias, com pesos iguais: ajuste de tamanho, permissão de entrada e saída de lotes. O sinal EJR olha cinco anos, mas as decisões são mensais e o modelo adicional de risco olha doze meses. Nenhuma dessas regras foi derivada como estratégia de longo prazo no artigo. O resultado serve para documentar o que testamos, sem substituir a avaliação econômica no horizonte previsto.</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As carteiras são referências exploratórias: falta validar a ligação entre previsão de longo prazo e execução econômica.</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histórica foi parcialmente replicada. As aplicações mensais posteriores não validam uma estratégia no horizonte do artigo.</a:t>
            </a:r>
          </a:p>
          <a:p xmlns:a="http://schemas.openxmlformats.org/drawingml/2006/main">
            <a:r>
              <a:t/>
            </a:r>
          </a:p>
          <a:p xmlns:a="http://schemas.openxmlformats.org/drawingml/2006/main">
            <a:r>
              <a:t>FALA</a:t>
            </a:r>
          </a:p>
          <a:p xmlns:a="http://schemas.openxmlformats.org/drawingml/2006/main">
            <a:r>
              <a:t>A relação histórica da aula aparece na replicação parcial, e os testes preditivos variam por moeda e horizonte. As carteiras posteriores ficam como referências exploratórias. A conversão de uma previsão de cinco anos em sinal mensal e os filtros de doze meses não demonstram a captura do ajuste de longo prazo. Portanto, o trabalho ainda não estabelece uma estratégia econômica validada no horizonte do artigo.</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Separe a evidência preditiva do resultado das carteiras. Encerre sem apresentar os filtros mensais como a conclusão econômica do artigo.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16. Os slides 17 e 18 são apoio para perguntas e ficam fora dos 17 minutos e 55 segundos.</a:t>
            </a:r>
          </a:p>
          <a:p xmlns:a="http://schemas.openxmlformats.org/drawingml/2006/main">
            <a:r>
              <a:t/>
            </a:r>
          </a:p>
          <a:p xmlns:a="http://schemas.openxmlformats.org/drawingml/2006/main">
            <a:r>
              <a:t>PERGUNTA</a:t>
            </a:r>
          </a:p>
          <a:p xmlns:a="http://schemas.openxmlformats.org/drawingml/2006/main">
            <a:r>
              <a:t>O que falta para a conclusão econômica? Um desenho de investimento explicitamente alinhado ao horizonte previsto, com regras de manutenção e saída justificadas, financiamento, custos e comparação adequada.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d62b8623764d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78d677f6994218" /><Relationship Type="http://schemas.openxmlformats.org/officeDocument/2006/relationships/slideLayout" Target="/ppt/slideLayouts/slideLayout1.xml" Id="R2e3ae01d2d834b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3ae01d2d834b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86a1c9b724c38" /><Relationship Type="http://schemas.openxmlformats.org/officeDocument/2006/relationships/notesSlide" Target="/ppt/notesSlides/notesSlide1.xml" Id="Rba0d23b2491e45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72c1a65ed04b0c" /><Relationship Type="http://schemas.openxmlformats.org/officeDocument/2006/relationships/notesSlide" Target="/ppt/notesSlides/notesSlide2.xml" Id="R39011d75805e4c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6960ba0094455f" /><Relationship Type="http://schemas.openxmlformats.org/officeDocument/2006/relationships/chart" Target="/ppt/slides/charts/chart1.xml" Id="R8ebd3791637b4ae9" /><Relationship Type="http://schemas.openxmlformats.org/officeDocument/2006/relationships/notesSlide" Target="/ppt/notesSlides/notesSlide3.xml" Id="Ra6620bb108c044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e4df8a989d4de3" /><Relationship Type="http://schemas.openxmlformats.org/officeDocument/2006/relationships/notesSlide" Target="/ppt/notesSlides/notesSlide4.xml" Id="R7bdca157d84c46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f48e9be2ed4db4" /><Relationship Type="http://schemas.openxmlformats.org/officeDocument/2006/relationships/notesSlide" Target="/ppt/notesSlides/notesSlide5.xml" Id="Rf5c6a898387247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60585c11024a05" /><Relationship Type="http://schemas.openxmlformats.org/officeDocument/2006/relationships/notesSlide" Target="/ppt/notesSlides/notesSlide6.xml" Id="Rb66c1531a7e04f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494ebdccd84a42" /><Relationship Type="http://schemas.openxmlformats.org/officeDocument/2006/relationships/chart" Target="/ppt/slides/charts/chart2.xml" Id="R7264868772b74aaa" /><Relationship Type="http://schemas.openxmlformats.org/officeDocument/2006/relationships/notesSlide" Target="/ppt/notesSlides/notesSlide7.xml" Id="Rf45408b744c242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fe9be33eac42d4" /><Relationship Type="http://schemas.openxmlformats.org/officeDocument/2006/relationships/notesSlide" Target="/ppt/notesSlides/notesSlide8.xml" Id="Rde62bad691c546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59542732de4621" /><Relationship Type="http://schemas.openxmlformats.org/officeDocument/2006/relationships/notesSlide" Target="/ppt/notesSlides/notesSlide9.xml" Id="R06bf5d0f1ca146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f8876a4c334949" /><Relationship Type="http://schemas.openxmlformats.org/officeDocument/2006/relationships/notesSlide" Target="/ppt/notesSlides/notesSlide10.xml" Id="R3352cc88562542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da97aa8eb64560" /><Relationship Type="http://schemas.openxmlformats.org/officeDocument/2006/relationships/notesSlide" Target="/ppt/notesSlides/notesSlide11.xml" Id="Rb358df06fe704d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7ca6aec0ca420a" /><Relationship Type="http://schemas.openxmlformats.org/officeDocument/2006/relationships/notesSlide" Target="/ppt/notesSlides/notesSlide12.xml" Id="R5c0f0dcc724a4a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4596990189413c" /><Relationship Type="http://schemas.openxmlformats.org/officeDocument/2006/relationships/chart" Target="/ppt/slides/charts/chart3.xml" Id="Ra7bffd58947e4e9f" /><Relationship Type="http://schemas.openxmlformats.org/officeDocument/2006/relationships/chart" Target="/ppt/slides/charts/chart4.xml" Id="R8dd5d519139b4b6b" /><Relationship Type="http://schemas.openxmlformats.org/officeDocument/2006/relationships/notesSlide" Target="/ppt/notesSlides/notesSlide13.xml" Id="Rc259fd3553a64d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ae8fcf2c49042fc" /><Relationship Type="http://schemas.openxmlformats.org/officeDocument/2006/relationships/chart" Target="/ppt/slides/charts/chart5.xml" Id="R7c4a0a9a08f946bb" /><Relationship Type="http://schemas.openxmlformats.org/officeDocument/2006/relationships/notesSlide" Target="/ppt/notesSlides/notesSlide14.xml" Id="Rae8ca1cd8bc24f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8b4f008c3ec412a" /><Relationship Type="http://schemas.openxmlformats.org/officeDocument/2006/relationships/notesSlide" Target="/ppt/notesSlides/notesSlide15.xml" Id="R7f4e8a30931f46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68c6982720c45d1" /><Relationship Type="http://schemas.openxmlformats.org/officeDocument/2006/relationships/notesSlide" Target="/ppt/notesSlides/notesSlide16.xml" Id="Rfdd7535a139e4f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2b82fab8664ada" /><Relationship Type="http://schemas.openxmlformats.org/officeDocument/2006/relationships/notesSlide" Target="/ppt/notesSlides/notesSlide17.xml" Id="Rbc758cd984a543c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e7be331d4cd4a65" /><Relationship Type="http://schemas.openxmlformats.org/officeDocument/2006/relationships/notesSlide" Target="/ppt/notesSlides/notesSlide18.xml" Id="R81141622f6cd4428" /></Relationships>
</file>

<file path=ppt/slides/charts/chart1.xml><?xml version="1.0" encoding="utf-8"?>
<c:chartSpace xmlns:c="http://schemas.openxmlformats.org/drawingml/2006/chart">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Lit>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Lit>
          </c:xVal>
          <c:yVal>
            <c:numLit>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Lit>
          </c:yVal>
        </c:ser>
        <c:ser>
          <c:idx val="1"/>
          <c:order val="1"/>
          <c:tx>
            <c:v>Ajuste linear</c:v>
          </c:tx>
          <c:spPr>
            <a:ln xmlns:a="http://schemas.openxmlformats.org/drawingml/2006/main" w="28575">
              <a:solidFill>
                <a:srgbClr val="A14338"/>
              </a:solidFill>
            </a:ln>
          </c:spPr>
          <c:marker>
            <c:symbol val="none"/>
          </c:marker>
          <c:xVal>
            <c:numLit>
              <c:formatCode>General</c:formatCode>
              <c:ptCount val="2"/>
              <c:pt idx="0">
                <c:v>-0.510556339017</c:v>
              </c:pt>
              <c:pt idx="1">
                <c:v>0.699692549821</c:v>
              </c:pt>
            </c:numLit>
          </c:xVal>
          <c:yVal>
            <c:numLit>
              <c:formatCode>0.00</c:formatCode>
              <c:ptCount val="2"/>
              <c:pt idx="0">
                <c:v>1.17038886821</c:v>
              </c:pt>
              <c:pt idx="1">
                <c:v>-1.01785312326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Lit>
          </c:yVal>
        </c:ser>
        <c:ser>
          <c:idx val="1"/>
          <c:order val="1"/>
          <c:tx>
            <c:v>Carry + previsão</c:v>
          </c:tx>
          <c:spPr>
            <a:ln xmlns:a="http://schemas.openxmlformats.org/drawingml/2006/main" w="28575">
              <a:solidFill>
                <a:srgbClr val="007F7B"/>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Lit>
          </c:yVal>
        </c:ser>
        <c:ser>
          <c:idx val="1"/>
          <c:order val="1"/>
          <c:tx>
            <c:v>Combinação</c:v>
          </c:tx>
          <c:spPr>
            <a:ln xmlns:a="http://schemas.openxmlformats.org/drawingml/2006/main" w="28575">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Lit>
          </c:yVal>
        </c:ser>
        <c:ser>
          <c:idx val="1"/>
          <c:order val="1"/>
          <c:tx>
            <c:v>Combinação</c:v>
          </c:tx>
          <c:spPr>
            <a:ln xmlns:a="http://schemas.openxmlformats.org/drawingml/2006/main" w="25718">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Carry por juros</c:v>
          </c:tx>
          <c:spPr>
            <a:solidFill xmlns:a="http://schemas.openxmlformats.org/drawingml/2006/main">
              <a:srgbClr val="15354D"/>
            </a:solidFill>
          </c:spPr>
          <c:cat>
            <c:strLit>
              <c:ptCount val="2"/>
              <c:pt idx="0">
                <c:v>Câmbio</c:v>
              </c:pt>
              <c:pt idx="1">
                <c:v>Juros</c:v>
              </c:pt>
            </c:strLit>
          </c:cat>
          <c:val>
            <c:numLit>
              <c:formatCode>0.00</c:formatCode>
              <c:ptCount val="2"/>
              <c:pt idx="0">
                <c:v>0.74073898</c:v>
              </c:pt>
              <c:pt idx="1">
                <c:v>2.61915404</c:v>
              </c:pt>
            </c:numLit>
          </c:val>
        </c:ser>
        <c:ser>
          <c:idx val="1"/>
          <c:order val="1"/>
          <c:tx>
            <c:v>Combinação</c:v>
          </c:tx>
          <c:spPr>
            <a:solidFill xmlns:a="http://schemas.openxmlformats.org/drawingml/2006/main">
              <a:srgbClr val="007F7B"/>
            </a:solidFill>
          </c:spPr>
          <c:cat>
            <c:strLit>
              <c:ptCount val="2"/>
              <c:pt idx="0">
                <c:v>Câmbio</c:v>
              </c:pt>
              <c:pt idx="1">
                <c:v>Juros</c:v>
              </c:pt>
            </c:strLit>
          </c:cat>
          <c:val>
            <c:numLit>
              <c:formatCode>0.00</c:formatCode>
              <c:ptCount val="2"/>
              <c:pt idx="0">
                <c:v>1.81617676</c:v>
              </c:pt>
              <c:pt idx="1">
                <c:v>1.5005359</c:v>
              </c:pt>
            </c:numLit>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8330B3-030A-458D-A359-082C53F7106C}"/>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23820DA8-40F4-4774-A204-D34FB66BD7C5}"/>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EC2CA15C-CADC-4FAD-BA37-292307050455}"/>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2C44E20C-2AF0-45E3-82B0-753F3629DA83}"/>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1717227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B1BFAB-5016-4AC6-BF39-7927EC56FAC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1AFB9995-0CB3-4395-BEC7-F93FE0E6EBE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C67AC7FD-16A2-46A6-86F8-0F4D62A5BDC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1358189-3D7C-4512-8C7D-4D474B858DF7}"/>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D3D1EDF5-09E1-4F4B-9484-8AF786C8B2EB}"/>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5D891BF6-CCEF-4BFC-A6EF-7779419A1761}"/>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DE3EC9EA-3266-44E2-A5BE-FDCAB2890FF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EJR, seção 3.3: ganho agregado acima de 2 anos; destaque para 4 e 6 anos. Replicação parcial da relação preditiva, sem o DSGE.</a:t>
            </a:r>
          </a:p>
        </p:txBody>
      </p:sp>
    </p:spTree>
    <p:extLst>
      <p:ext uri="{BB962C8B-B14F-4D97-AF65-F5344CB8AC3E}">
        <p14:creationId xmlns:p14="http://schemas.microsoft.com/office/powerpoint/2010/main" val="14346056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33E017-0790-46AA-8AD2-FCAA6F44DEF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BCD18222-0D4E-4A2C-955A-E5535F1B558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3B03E4BE-C052-4131-93A3-85D5BBF3BB3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8ebd3791637b4ae9"/>
          </a:graphicData>
        </a:graphic>
      </p:graphicFrame>
      <p:sp>
        <p:nvSpPr>
          <p:cNvPr id="5" name="">
            <a:extLst xmlns:a="http://schemas.openxmlformats.org/drawingml/2006/main">
              <a:ext uri="{FF2B5EF4-FFF2-40B4-BE49-F238E27FC236}">
                <a16:creationId xmlns:a16="http://schemas.microsoft.com/office/drawing/2014/main" id="{E4C20DE6-B5C9-4919-85C7-AB1AC76DAF52}"/>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34654CB2-36C5-47E9-A07D-8A5108D55FA3}"/>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6E8DA290-3029-4BC6-B361-326EF6817AD6}"/>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A6E6B78D-977D-4FD0-8E57-1727E242EED2}"/>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5C9AD47A-CB22-4F43-BF85-1ED93403E3FA}"/>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E6ADD90B-9DE7-473E-B174-1282823F4F2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4330129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FF87C3-A653-4DAF-8AE8-E1B2156EE0D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0E7676E6-E7E0-4714-AB4F-2F46EE25E30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5C0FA840-A0FD-4CF3-B37B-BD1FD90E826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1238250"/>
                <a:gridCol w="1238250"/>
                <a:gridCol w="1238250"/>
                <a:gridCol w="1238250"/>
                <a:gridCol w="1238250"/>
                <a:gridCol w="1238250"/>
                <a:gridCol w="1733550"/>
              </a:tblGrid>
              <a:tr h="436789">
                <a:tc>
                  <a:txBody>
                    <a:bodyPr/>
                    <a:lstStyle/>
                    <a:p>
                      <a:r>
                        <a:rPr sz="1875" b="1">
                          <a:solidFill>
                            <a:srgbClr val="FFFFFF"/>
                          </a:solidFill>
                          <a:latin typeface="Arial"/>
                          <a:ea typeface="Arial"/>
                          <a:cs typeface="Arial"/>
                        </a:rPr>
                        <a:t>Horizonte</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BRL</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EUR</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JPY</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GBP</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CAD</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SEK</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Agregado</a:t>
                      </a:r>
                    </a:p>
                  </a:txBody>
                  <a:tcPr marL="114300" marR="762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0,964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0,948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1,239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1,038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1,026</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1,066</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1,039</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0,916</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0,917</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1,344</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1,178</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0,991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1,194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1,076</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0,884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1,345</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1,361</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0,920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1,362</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1,096</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0,792</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0,899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1,379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1,537</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0,709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1,434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1,037</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0,793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1,302</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1,700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1,563</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0,859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1,441</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1,072</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0,816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1,226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1,869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1,445</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1,161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1,482</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1,115</a:t>
                      </a:r>
                    </a:p>
                  </a:txBody>
                  <a:tcPr marL="114300" marR="762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82389A75-C808-4BC8-95E2-CB150196FB47}"/>
              </a:ext>
            </a:extLst>
          </p:cNvPr>
          <p:cNvSpPr>
            <a:spLocks xmlns:a="http://schemas.openxmlformats.org/drawingml/2006/main" noGrp="1"/>
          </p:cNvSpPr>
          <p:nvPr/>
        </p:nvSpPr>
        <p:spPr>
          <a:xfrm xmlns:a="http://schemas.openxmlformats.org/drawingml/2006/main">
            <a:off x="609600" y="52197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Origens — 1 ano: jan/2010–ago/2025; 2 anos: jan/2010–ago/2024; 3 anos: jan/2010–ago/2023.</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5 anos: jan/2010–ago/2021; 7 anos: nov/2011–ago/2019; 8 anos: nov/2012–ago/2018.</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expansivo desde out/1999; mínimo 60 origens maduras por moeda; alvos de treino até t−1.</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avaliados até ago/2026. Inclinação comum às moedas; agregado reúne os erros do painel.</a:t>
            </a:r>
          </a:p>
        </p:txBody>
      </p:sp>
      <p:sp>
        <p:nvSpPr>
          <p:cNvPr id="6" name="">
            <a:extLst xmlns:a="http://schemas.openxmlformats.org/drawingml/2006/main">
              <a:ext uri="{FF2B5EF4-FFF2-40B4-BE49-F238E27FC236}">
                <a16:creationId xmlns:a16="http://schemas.microsoft.com/office/drawing/2014/main" id="{5BF4BE64-BAC5-4BBA-B375-3FE55E8301C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EJR agrupado; moedas contra USD. Erro relativo = RMSE / RMSE de nenhuma mudança.</a:t>
            </a:r>
          </a:p>
        </p:txBody>
      </p:sp>
    </p:spTree>
    <p:extLst>
      <p:ext uri="{BB962C8B-B14F-4D97-AF65-F5344CB8AC3E}">
        <p14:creationId xmlns:p14="http://schemas.microsoft.com/office/powerpoint/2010/main" val="21385789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471D74-23FF-4D47-9937-FE2B20B8BD0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4BFF769D-9C34-4871-AA42-851AD89C242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Aplicação própria: previsão de 60 meses convertida em sinal mensal. Não é uma carteira do artigo.</a:t>
            </a:r>
          </a:p>
        </p:txBody>
      </p:sp>
      <p:sp>
        <p:nvSpPr>
          <p:cNvPr id="3" name="">
            <a:extLst xmlns:a="http://schemas.openxmlformats.org/drawingml/2006/main">
              <a:ext uri="{FF2B5EF4-FFF2-40B4-BE49-F238E27FC236}">
                <a16:creationId xmlns:a16="http://schemas.microsoft.com/office/drawing/2014/main" id="{8967CEA9-B1C4-47E1-9536-93EAF7F591D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8C8E298-CF8B-46AA-B755-F1609D66ECCE}"/>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97FE6494-CAC3-4B93-8268-3FE56638B222}"/>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421D345F-E7EB-4192-9140-06BD2F00E65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9120077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A00AFB-460C-458E-ADBB-A5369CE2FE1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Aplicação mensal de uma previsão de cinco anos</a:t>
            </a:r>
          </a:p>
        </p:txBody>
      </p:sp>
      <p:sp>
        <p:nvSpPr>
          <p:cNvPr id="2" name="">
            <a:extLst xmlns:a="http://schemas.openxmlformats.org/drawingml/2006/main">
              <a:ext uri="{FF2B5EF4-FFF2-40B4-BE49-F238E27FC236}">
                <a16:creationId xmlns:a16="http://schemas.microsoft.com/office/drawing/2014/main" id="{DC77BF77-BA51-41F2-9464-79093DDB064B}"/>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Mar/2010–ago/2026. Este backtest testa a aplicação mensal; não rejeita a previsão de longo prazo.</a:t>
            </a:r>
          </a:p>
        </p:txBody>
      </p:sp>
      <p:sp>
        <p:nvSpPr>
          <p:cNvPr id="3" name="">
            <a:extLst xmlns:a="http://schemas.openxmlformats.org/drawingml/2006/main">
              <a:ext uri="{FF2B5EF4-FFF2-40B4-BE49-F238E27FC236}">
                <a16:creationId xmlns:a16="http://schemas.microsoft.com/office/drawing/2014/main" id="{5C5C553E-295A-4121-9A46-BC6EC13F21C0}"/>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3BAB0848-67FE-4278-8CFE-B64A22B3AF55}"/>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83C013D4-A49E-4D8A-9875-817A6C0F1FE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2190033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12916C-A2A6-468C-A48D-F81B2571F3A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Patrimônio da aplicação mensal do sinal de cinco anos</a:t>
            </a:r>
          </a:p>
        </p:txBody>
      </p:sp>
      <p:sp>
        <p:nvSpPr>
          <p:cNvPr id="2" name="">
            <a:extLst xmlns:a="http://schemas.openxmlformats.org/drawingml/2006/main">
              <a:ext uri="{FF2B5EF4-FFF2-40B4-BE49-F238E27FC236}">
                <a16:creationId xmlns:a16="http://schemas.microsoft.com/office/drawing/2014/main" id="{0A279013-0A27-42BE-A2EC-345D2BF49FF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USD, base 100. Sem permanência obrigatória de cinco anos.</a:t>
            </a:r>
          </a:p>
        </p:txBody>
      </p:sp>
      <p:sp>
        <p:nvSpPr>
          <p:cNvPr id="3" name="">
            <a:extLst xmlns:a="http://schemas.openxmlformats.org/drawingml/2006/main">
              <a:ext uri="{FF2B5EF4-FFF2-40B4-BE49-F238E27FC236}">
                <a16:creationId xmlns:a16="http://schemas.microsoft.com/office/drawing/2014/main" id="{F6D2A390-4667-423D-8F68-81EAE8B48E4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7264868772b74aaa"/>
          </a:graphicData>
        </a:graphic>
      </p:graphicFrame>
      <p:sp>
        <p:nvSpPr>
          <p:cNvPr id="5" name="">
            <a:extLst xmlns:a="http://schemas.openxmlformats.org/drawingml/2006/main">
              <a:ext uri="{FF2B5EF4-FFF2-40B4-BE49-F238E27FC236}">
                <a16:creationId xmlns:a16="http://schemas.microsoft.com/office/drawing/2014/main" id="{54D94772-D373-47C5-AC57-64A7F599318A}"/>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05CB3126-6546-4D4C-B572-FCAE57D32E4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12220422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958640-FF68-4E44-8BA3-A69EF5883D5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B3D96A60-1979-4E6D-A5B3-1B01452A800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87640407-96D8-4B90-8124-7C17603DE0B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F410A9E-3FD9-4C4D-94CC-9AB80D1A7EEB}"/>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3C910B0B-9BE0-40F6-82D8-918F9B5DA208}"/>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FC08545B-FF9D-4560-9B6E-AD3E9AAE88B0}"/>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0614D53F-38EC-4BBD-BF13-E48F046B0A9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21255651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F95AF3-5D96-4DA9-BF2E-4C01B0AB7E1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333BAC5E-0E41-4B79-9C8E-B097F70A486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3C03F120-06A8-4128-83EC-8DEBACC1164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E73F961-1494-4AFE-9A52-52B2A996FF29}"/>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34E7ACC9-AFA1-4174-9F7F-60C51BCF8D22}"/>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ACEFCC08-8280-44B7-8BDE-AABC40C0FE9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15913684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7031C4-84FE-4123-8241-D6DF4BF22C6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regras de exposição</a:t>
            </a:r>
          </a:p>
        </p:txBody>
      </p:sp>
      <p:sp>
        <p:nvSpPr>
          <p:cNvPr id="2" name="">
            <a:extLst xmlns:a="http://schemas.openxmlformats.org/drawingml/2006/main">
              <a:ext uri="{FF2B5EF4-FFF2-40B4-BE49-F238E27FC236}">
                <a16:creationId xmlns:a16="http://schemas.microsoft.com/office/drawing/2014/main" id="{E27F6F33-6813-4CFC-981A-C66E426588F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Regras próprias: decisões mensais e risco de 12m. Não validam a convergência prevista em 60m.</a:t>
            </a:r>
          </a:p>
        </p:txBody>
      </p:sp>
      <p:sp>
        <p:nvSpPr>
          <p:cNvPr id="3" name="">
            <a:extLst xmlns:a="http://schemas.openxmlformats.org/drawingml/2006/main">
              <a:ext uri="{FF2B5EF4-FFF2-40B4-BE49-F238E27FC236}">
                <a16:creationId xmlns:a16="http://schemas.microsoft.com/office/drawing/2014/main" id="{7D50AC2D-4E17-4F8B-9A44-96E80C5DDA7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E1F7F38-E6CE-4D62-AA44-73FD214C8004}"/>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A49EA809-6C2C-4BFF-BB7F-0DE815BF4EA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8995827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AB0B86-B1F6-4430-A926-1AEB1D666B7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resultado da combinação</a:t>
            </a:r>
          </a:p>
        </p:txBody>
      </p:sp>
      <p:sp>
        <p:nvSpPr>
          <p:cNvPr id="2" name="">
            <a:extLst xmlns:a="http://schemas.openxmlformats.org/drawingml/2006/main">
              <a:ext uri="{FF2B5EF4-FFF2-40B4-BE49-F238E27FC236}">
                <a16:creationId xmlns:a16="http://schemas.microsoft.com/office/drawing/2014/main" id="{F3E90CA0-4224-47A9-9557-9F19FD8E03A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Abr/2018–ago/2026. Resultado histórico das regras próprias; não é validação econômica do artigo.</a:t>
            </a:r>
          </a:p>
        </p:txBody>
      </p:sp>
      <p:sp>
        <p:nvSpPr>
          <p:cNvPr id="3" name="">
            <a:extLst xmlns:a="http://schemas.openxmlformats.org/drawingml/2006/main">
              <a:ext uri="{FF2B5EF4-FFF2-40B4-BE49-F238E27FC236}">
                <a16:creationId xmlns:a16="http://schemas.microsoft.com/office/drawing/2014/main" id="{E5427A50-DC16-430F-8BFD-FB18099D6BB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632CC3-4E26-4CC5-8A46-9C7125782836}"/>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9BD9C2CE-3285-4BA9-9446-12F4C443EA2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17348531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AF0E69-689F-42BB-965D-37FE00284C7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prazo dos lotes</a:t>
            </a:r>
          </a:p>
        </p:txBody>
      </p:sp>
      <p:sp>
        <p:nvSpPr>
          <p:cNvPr id="2" name="">
            <a:extLst xmlns:a="http://schemas.openxmlformats.org/drawingml/2006/main">
              <a:ext uri="{FF2B5EF4-FFF2-40B4-BE49-F238E27FC236}">
                <a16:creationId xmlns:a16="http://schemas.microsoft.com/office/drawing/2014/main" id="{0C712E46-4DC4-449A-96A3-0B9362658B7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Sensibilidade de regras próprias: lotes de 6–24m. Não é um teste de convergência em cinco anos.</a:t>
            </a:r>
          </a:p>
        </p:txBody>
      </p:sp>
      <p:sp>
        <p:nvSpPr>
          <p:cNvPr id="3" name="">
            <a:extLst xmlns:a="http://schemas.openxmlformats.org/drawingml/2006/main">
              <a:ext uri="{FF2B5EF4-FFF2-40B4-BE49-F238E27FC236}">
                <a16:creationId xmlns:a16="http://schemas.microsoft.com/office/drawing/2014/main" id="{9E568E09-66D0-4C21-B6F1-9E434901085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33521E-2C1B-4402-AE1E-580F9E1BB42C}"/>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B70DA057-B75E-4589-8893-92F9B542362F}"/>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9DAE054F-5917-4DA5-87EA-530EEBE10EB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8883340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4AD83-CBE1-487F-B9F2-98E0519D130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trajetória da combinação</a:t>
            </a:r>
          </a:p>
        </p:txBody>
      </p:sp>
      <p:sp>
        <p:nvSpPr>
          <p:cNvPr id="2" name="">
            <a:extLst xmlns:a="http://schemas.openxmlformats.org/drawingml/2006/main">
              <a:ext uri="{FF2B5EF4-FFF2-40B4-BE49-F238E27FC236}">
                <a16:creationId xmlns:a16="http://schemas.microsoft.com/office/drawing/2014/main" id="{C7A632FC-84C9-4B76-B2CC-2AB53EFB518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Abr/2018–ago/2026. Patrimônio líquido em USD. Referência das regras próprias de exposição.</a:t>
            </a:r>
          </a:p>
        </p:txBody>
      </p:sp>
      <p:sp>
        <p:nvSpPr>
          <p:cNvPr id="3" name="">
            <a:extLst xmlns:a="http://schemas.openxmlformats.org/drawingml/2006/main">
              <a:ext uri="{FF2B5EF4-FFF2-40B4-BE49-F238E27FC236}">
                <a16:creationId xmlns:a16="http://schemas.microsoft.com/office/drawing/2014/main" id="{0E983898-164D-49F5-BCAC-36E2EC9EE48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a7bffd58947e4e9f"/>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8dd5d519139b4b6b"/>
          </a:graphicData>
        </a:graphic>
      </p:graphicFrame>
      <p:sp>
        <p:nvSpPr>
          <p:cNvPr id="6" name="">
            <a:extLst xmlns:a="http://schemas.openxmlformats.org/drawingml/2006/main">
              <a:ext uri="{FF2B5EF4-FFF2-40B4-BE49-F238E27FC236}">
                <a16:creationId xmlns:a16="http://schemas.microsoft.com/office/drawing/2014/main" id="{D30810A5-686B-466E-A069-1CE3D49A882E}"/>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3D509E40-D0F0-4861-ACF9-69B6FF96B41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5415541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BFD397-4BAC-415D-A7B7-060A707C964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decomposição do resultado</a:t>
            </a:r>
          </a:p>
        </p:txBody>
      </p:sp>
      <p:sp>
        <p:nvSpPr>
          <p:cNvPr id="2" name="">
            <a:extLst xmlns:a="http://schemas.openxmlformats.org/drawingml/2006/main">
              <a:ext uri="{FF2B5EF4-FFF2-40B4-BE49-F238E27FC236}">
                <a16:creationId xmlns:a16="http://schemas.microsoft.com/office/drawing/2014/main" id="{8B9D9315-F0A5-4D8E-9BFD-8BA7E75AF30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E078E313-19B2-45EE-8733-0A5F0567D30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7c4a0a9a08f946bb"/>
          </a:graphicData>
        </a:graphic>
      </p:graphicFrame>
      <p:sp>
        <p:nvSpPr>
          <p:cNvPr id="5" name="">
            <a:extLst xmlns:a="http://schemas.openxmlformats.org/drawingml/2006/main">
              <a:ext uri="{FF2B5EF4-FFF2-40B4-BE49-F238E27FC236}">
                <a16:creationId xmlns:a16="http://schemas.microsoft.com/office/drawing/2014/main" id="{714E3D6F-0A33-49E8-BB8D-81F2F0645B69}"/>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0590A71E-ACF3-4623-9857-1E3F5153BB3F}"/>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D2D834CB-343A-4528-B563-AD88EA2CE245}"/>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B87E63FC-9B35-48F9-B871-E18798145AB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18270105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FE2714-16C5-4DA3-BBD5-1892493798D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4853A085-7975-40D6-AAFD-C055015C31B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1B003143-5552-455A-9153-8A276F0E0A4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4716C09F-5C72-4F65-97B7-B69F225A2413}"/>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Decisões mensais não validam o ajuste previsto em cinco anos.</a:t>
            </a:r>
          </a:p>
        </p:txBody>
      </p:sp>
      <p:sp>
        <p:nvSpPr>
          <p:cNvPr id="5" name="">
            <a:extLst xmlns:a="http://schemas.openxmlformats.org/drawingml/2006/main">
              <a:ext uri="{FF2B5EF4-FFF2-40B4-BE49-F238E27FC236}">
                <a16:creationId xmlns:a16="http://schemas.microsoft.com/office/drawing/2014/main" id="{10202708-41CB-45CC-A267-98A43BFB9AD1}"/>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100C2A6B-4510-40D6-978E-D0BC085F1E67}"/>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20D5D696-1620-4F80-8332-2340603CD15A}"/>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71C63B48-3833-4067-9302-F941279C99A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238033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D23EE1-7B3A-434C-9B0A-D9E5931445B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AAEDA3F3-345A-4370-92D0-9C9014BEC45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415AAD69-4592-443F-846D-3724BDEBD43D}"/>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foi parcialmente replicada.</a:t>
            </a:r>
          </a:p>
        </p:txBody>
      </p:sp>
      <p:sp>
        <p:nvSpPr>
          <p:cNvPr id="4" name="">
            <a:extLst xmlns:a="http://schemas.openxmlformats.org/drawingml/2006/main">
              <a:ext uri="{FF2B5EF4-FFF2-40B4-BE49-F238E27FC236}">
                <a16:creationId xmlns:a16="http://schemas.microsoft.com/office/drawing/2014/main" id="{55564C03-6580-4D60-B279-0CD863679128}"/>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A previsão varia por moeda, horizonte e período.</a:t>
            </a:r>
          </a:p>
        </p:txBody>
      </p:sp>
      <p:sp>
        <p:nvSpPr>
          <p:cNvPr id="5" name="">
            <a:extLst xmlns:a="http://schemas.openxmlformats.org/drawingml/2006/main">
              <a:ext uri="{FF2B5EF4-FFF2-40B4-BE49-F238E27FC236}">
                <a16:creationId xmlns:a16="http://schemas.microsoft.com/office/drawing/2014/main" id="{34156662-58B4-4B13-BB34-FE3917DE9B03}"/>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As carteiras posteriores são referências exploratórias.</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Falta validar o investimento no horizonte previsto.</a:t>
            </a:r>
          </a:p>
        </p:txBody>
      </p:sp>
      <p:sp>
        <p:nvSpPr>
          <p:cNvPr id="6" name="">
            <a:extLst xmlns:a="http://schemas.openxmlformats.org/drawingml/2006/main">
              <a:ext uri="{FF2B5EF4-FFF2-40B4-BE49-F238E27FC236}">
                <a16:creationId xmlns:a16="http://schemas.microsoft.com/office/drawing/2014/main" id="{195962EF-FF96-43DF-B3F8-C29F8490F3F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1189402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33CDBF-CFFB-4F70-9310-829BCD6942C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629A076E-F9E3-4420-8AFF-5E20F8C80CF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62C20515-44E7-4C29-AB2A-31757122133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 apoio</a:t>
            </a:r>
          </a:p>
        </p:txBody>
      </p:sp>
      <p:sp>
        <p:nvSpPr>
          <p:cNvPr id="4" name="">
            <a:extLst xmlns:a="http://schemas.openxmlformats.org/drawingml/2006/main">
              <a:ext uri="{FF2B5EF4-FFF2-40B4-BE49-F238E27FC236}">
                <a16:creationId xmlns:a16="http://schemas.microsoft.com/office/drawing/2014/main" id="{E985ECC8-25FC-4159-A91B-E4CBC21BDD8C}"/>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FA9EC42F-DDC5-4230-AA85-B881623F88FA}"/>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A3F5CBFB-EE33-4CC8-A33C-262943C4801E}"/>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B6EFD46C-3F0F-4499-8B14-7A83544A784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8578498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F6D32C-FB65-4F4B-8C93-04ED49224A5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50BDECD3-0E37-4990-82F3-326EA962A0B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117450F7-8D17-49CC-B51A-3A273C3E60D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27F5ACF-F0CE-470E-88C6-282637BEB493}"/>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8009B61B-B24C-4D4A-AA77-51E45862126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601610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2026-09-15T19:46:15.0680000Z</dcterms:created>
  <dcterms:modified xsi:type="dcterms:W3CDTF">2026-09-15T19:46:15.0680000Z</dcterms:modified>
</coreProperties>
</file>