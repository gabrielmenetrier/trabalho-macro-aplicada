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4120034c7a4d59" /><Relationship Type="http://schemas.openxmlformats.org/officeDocument/2006/relationships/extended-properties" Target="/docProps/app.xml" Id="Rb81d2748f26d4b33" /><Relationship Type="http://schemas.openxmlformats.org/officeDocument/2006/relationships/officeDocument" Target="/ppt/presentation.xml" Id="Re091144240184a67" /></Relationships>
</file>

<file path=ppt/presentation.xml><?xml version="1.0" encoding="utf-8"?>
<p:presentation xmlns:p="http://schemas.openxmlformats.org/presentationml/2006/main">
  <p:sldMasterIdLst>
    <p:sldMasterId xmlns:r="http://schemas.openxmlformats.org/officeDocument/2006/relationships" id="2147483648" r:id="R9c8aaaf684d64f8f"/>
  </p:sldMasterIdLst>
  <p:notesMasterIdLst>
    <p:notesMasterId xmlns:r="http://schemas.openxmlformats.org/officeDocument/2006/relationships" r:id="R85937d387fdc44cc"/>
  </p:notesMasterIdLst>
  <p:sldIdLst>
    <p:sldId xmlns:r="http://schemas.openxmlformats.org/officeDocument/2006/relationships" id="256" r:id="R9b13c5e59bd64f65"/>
    <p:sldId xmlns:r="http://schemas.openxmlformats.org/officeDocument/2006/relationships" id="257" r:id="R5b336bff21a04c57"/>
    <p:sldId xmlns:r="http://schemas.openxmlformats.org/officeDocument/2006/relationships" id="258" r:id="R57d9c87e08eb4e80"/>
    <p:sldId xmlns:r="http://schemas.openxmlformats.org/officeDocument/2006/relationships" id="259" r:id="R6991b723b2a34532"/>
    <p:sldId xmlns:r="http://schemas.openxmlformats.org/officeDocument/2006/relationships" id="260" r:id="R25ec417a5b1f4b70"/>
    <p:sldId xmlns:r="http://schemas.openxmlformats.org/officeDocument/2006/relationships" id="261" r:id="R8a8e63272ec34aa8"/>
    <p:sldId xmlns:r="http://schemas.openxmlformats.org/officeDocument/2006/relationships" id="262" r:id="R3a8144fe874049a6"/>
    <p:sldId xmlns:r="http://schemas.openxmlformats.org/officeDocument/2006/relationships" id="263" r:id="R7680ab58355a48d4"/>
    <p:sldId xmlns:r="http://schemas.openxmlformats.org/officeDocument/2006/relationships" id="264" r:id="Ra8c12bc87a574559"/>
    <p:sldId xmlns:r="http://schemas.openxmlformats.org/officeDocument/2006/relationships" id="265" r:id="R124c7c9030ab464b"/>
    <p:sldId xmlns:r="http://schemas.openxmlformats.org/officeDocument/2006/relationships" id="266" r:id="R71d47346b13948b3"/>
    <p:sldId xmlns:r="http://schemas.openxmlformats.org/officeDocument/2006/relationships" id="267" r:id="R2e6e815477dc423a"/>
    <p:sldId xmlns:r="http://schemas.openxmlformats.org/officeDocument/2006/relationships" id="268" r:id="Rc9a47ab9298a4423"/>
    <p:sldId xmlns:r="http://schemas.openxmlformats.org/officeDocument/2006/relationships" id="269" r:id="Rf32544b1d0ee41a3"/>
    <p:sldId xmlns:r="http://schemas.openxmlformats.org/officeDocument/2006/relationships" id="270" r:id="R6978a96827884ff7"/>
    <p:sldId xmlns:r="http://schemas.openxmlformats.org/officeDocument/2006/relationships" id="271" r:id="R8b07359f68334c2f"/>
    <p:sldId xmlns:r="http://schemas.openxmlformats.org/officeDocument/2006/relationships" id="272" r:id="Re96e109e890d4295"/>
    <p:sldId xmlns:r="http://schemas.openxmlformats.org/officeDocument/2006/relationships" id="273" r:id="R0ba05ba29d4f496e"/>
    <p:sldId xmlns:r="http://schemas.openxmlformats.org/officeDocument/2006/relationships" id="274" r:id="Rb97f25b14b234f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09dc9976ac4041" /><Relationship Type="http://schemas.openxmlformats.org/officeDocument/2006/relationships/slideMaster" Target="/ppt/slideMasters/slideMaster1.xml" Id="R9c8aaaf684d64f8f" /><Relationship Type="http://schemas.openxmlformats.org/officeDocument/2006/relationships/notesMaster" Target="/ppt/notesMasters/notesMaster1.xml" Id="R85937d387fdc44cc" /><Relationship Type="http://schemas.openxmlformats.org/officeDocument/2006/relationships/presProps" Target="/ppt/presProps.xml" Id="R82631f734b8d4c2c" /><Relationship Type="http://schemas.openxmlformats.org/officeDocument/2006/relationships/tableStyles" Target="/ppt/tableStyles.xml" Id="R3d6d1c8803be4165" /><Relationship Type="http://schemas.openxmlformats.org/officeDocument/2006/relationships/slide" Target="/ppt/slides/slide1.xml" Id="R9b13c5e59bd64f65" /><Relationship Type="http://schemas.openxmlformats.org/officeDocument/2006/relationships/slide" Target="/ppt/slides/slide2.xml" Id="R5b336bff21a04c57" /><Relationship Type="http://schemas.openxmlformats.org/officeDocument/2006/relationships/slide" Target="/ppt/slides/slide3.xml" Id="R57d9c87e08eb4e80" /><Relationship Type="http://schemas.openxmlformats.org/officeDocument/2006/relationships/slide" Target="/ppt/slides/slide4.xml" Id="R6991b723b2a34532" /><Relationship Type="http://schemas.openxmlformats.org/officeDocument/2006/relationships/slide" Target="/ppt/slides/slide5.xml" Id="R25ec417a5b1f4b70" /><Relationship Type="http://schemas.openxmlformats.org/officeDocument/2006/relationships/slide" Target="/ppt/slides/slide6.xml" Id="R8a8e63272ec34aa8" /><Relationship Type="http://schemas.openxmlformats.org/officeDocument/2006/relationships/slide" Target="/ppt/slides/slide7.xml" Id="R3a8144fe874049a6" /><Relationship Type="http://schemas.openxmlformats.org/officeDocument/2006/relationships/slide" Target="/ppt/slides/slide8.xml" Id="R7680ab58355a48d4" /><Relationship Type="http://schemas.openxmlformats.org/officeDocument/2006/relationships/slide" Target="/ppt/slides/slide9.xml" Id="Ra8c12bc87a574559" /><Relationship Type="http://schemas.openxmlformats.org/officeDocument/2006/relationships/slide" Target="/ppt/slides/slide10.xml" Id="R124c7c9030ab464b" /><Relationship Type="http://schemas.openxmlformats.org/officeDocument/2006/relationships/slide" Target="/ppt/slides/slide11.xml" Id="R71d47346b13948b3" /><Relationship Type="http://schemas.openxmlformats.org/officeDocument/2006/relationships/slide" Target="/ppt/slides/slide12.xml" Id="R2e6e815477dc423a" /><Relationship Type="http://schemas.openxmlformats.org/officeDocument/2006/relationships/slide" Target="/ppt/slides/slide13.xml" Id="Rc9a47ab9298a4423" /><Relationship Type="http://schemas.openxmlformats.org/officeDocument/2006/relationships/slide" Target="/ppt/slides/slide14.xml" Id="Rf32544b1d0ee41a3" /><Relationship Type="http://schemas.openxmlformats.org/officeDocument/2006/relationships/slide" Target="/ppt/slides/slide15.xml" Id="R6978a96827884ff7" /><Relationship Type="http://schemas.openxmlformats.org/officeDocument/2006/relationships/slide" Target="/ppt/slides/slide16.xml" Id="R8b07359f68334c2f" /><Relationship Type="http://schemas.openxmlformats.org/officeDocument/2006/relationships/slide" Target="/ppt/slides/slide17.xml" Id="Re96e109e890d4295" /><Relationship Type="http://schemas.openxmlformats.org/officeDocument/2006/relationships/slide" Target="/ppt/slides/slide18.xml" Id="R0ba05ba29d4f496e" /><Relationship Type="http://schemas.openxmlformats.org/officeDocument/2006/relationships/slide" Target="/ppt/slides/slide19.xml" Id="Rb97f25b14b234f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180cb8b8e44d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bf938ed6f04c48" /><Relationship Type="http://schemas.openxmlformats.org/officeDocument/2006/relationships/notesMaster" Target="/ppt/notesMasters/notesMaster1.xml" Id="Rf395f1d6aabf41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4eac51f6224133" /><Relationship Type="http://schemas.openxmlformats.org/officeDocument/2006/relationships/notesMaster" Target="/ppt/notesMasters/notesMaster1.xml" Id="R9ec90bf732bc48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0822c1793d4f06" /><Relationship Type="http://schemas.openxmlformats.org/officeDocument/2006/relationships/notesMaster" Target="/ppt/notesMasters/notesMaster1.xml" Id="R034d3e2fb5eb48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c9e936d9dd4e37" /><Relationship Type="http://schemas.openxmlformats.org/officeDocument/2006/relationships/notesMaster" Target="/ppt/notesMasters/notesMaster1.xml" Id="R837c83da30a141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e6a7cdec174aa4" /><Relationship Type="http://schemas.openxmlformats.org/officeDocument/2006/relationships/notesMaster" Target="/ppt/notesMasters/notesMaster1.xml" Id="R274b886b317349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90eb8fd2d54e31" /><Relationship Type="http://schemas.openxmlformats.org/officeDocument/2006/relationships/notesMaster" Target="/ppt/notesMasters/notesMaster1.xml" Id="Ra141235a7af243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2f00f1b240426a" /><Relationship Type="http://schemas.openxmlformats.org/officeDocument/2006/relationships/notesMaster" Target="/ppt/notesMasters/notesMaster1.xml" Id="Ra26c61da8e1b4b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9236fc9ef246b7" /><Relationship Type="http://schemas.openxmlformats.org/officeDocument/2006/relationships/notesMaster" Target="/ppt/notesMasters/notesMaster1.xml" Id="R8f98ca5635c149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11586c2f834d56" /><Relationship Type="http://schemas.openxmlformats.org/officeDocument/2006/relationships/notesMaster" Target="/ppt/notesMasters/notesMaster1.xml" Id="Rb21177e144d549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39e94267084235" /><Relationship Type="http://schemas.openxmlformats.org/officeDocument/2006/relationships/notesMaster" Target="/ppt/notesMasters/notesMaster1.xml" Id="Re0305be97b034d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fde86e30c240b9" /><Relationship Type="http://schemas.openxmlformats.org/officeDocument/2006/relationships/notesMaster" Target="/ppt/notesMasters/notesMaster1.xml" Id="R485663c7b2d74a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69a3b5047c4b51" /><Relationship Type="http://schemas.openxmlformats.org/officeDocument/2006/relationships/notesMaster" Target="/ppt/notesMasters/notesMaster1.xml" Id="Re53b7012513941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85e9ff3a2d4906" /><Relationship Type="http://schemas.openxmlformats.org/officeDocument/2006/relationships/notesMaster" Target="/ppt/notesMasters/notesMaster1.xml" Id="Rec18ced6273e4f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be7a911e394b10" /><Relationship Type="http://schemas.openxmlformats.org/officeDocument/2006/relationships/notesMaster" Target="/ppt/notesMasters/notesMaster1.xml" Id="R54a427b9e73342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aa8fb2b08645b1" /><Relationship Type="http://schemas.openxmlformats.org/officeDocument/2006/relationships/notesMaster" Target="/ppt/notesMasters/notesMaster1.xml" Id="R7120ec130dbc4d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5983f5a4904f97" /><Relationship Type="http://schemas.openxmlformats.org/officeDocument/2006/relationships/notesMaster" Target="/ppt/notesMasters/notesMaster1.xml" Id="R0699461966aa4f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99c54937d54fd0" /><Relationship Type="http://schemas.openxmlformats.org/officeDocument/2006/relationships/notesMaster" Target="/ppt/notesMasters/notesMaster1.xml" Id="Rd6b3779f607944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ddfdc3db964ae9" /><Relationship Type="http://schemas.openxmlformats.org/officeDocument/2006/relationships/notesMaster" Target="/ppt/notesMasters/notesMaster1.xml" Id="R6f816e4258c440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5ca9f36525408a" /><Relationship Type="http://schemas.openxmlformats.org/officeDocument/2006/relationships/notesMaster" Target="/ppt/notesMasters/notesMaster1.xml" Id="Rcedbd7eb5f524c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da última coluna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compara o erro do modelo EJR agrupado com o erro de prever nenhuma mudança nominal. A coluna Brasil usa a mesma inclinação estimada para as seis moedas, avaliando somente os erros brasileiros. Abaixo de 1 há melhora. Em cinco anos, o Brasil tem 0,792 e o painel tem 1,037. Em oito anos, 0,816 e 1,115. A última coluna informa as datas de origem avaliadas. As janelas mudam porque alvos mais longos exigem mais história de treinamento e só podem ser avaliados quando terminam.</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Alvos de treino até t−1. A tabela mostra origens de avaliação, com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Também testei uma pergunta diferente: prever o próprio câmbio real de longo prazo.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informação comercial melhora um pouco a regressão de câmbio real, mas não supera a previsão de nenhuma mudança.</a:t>
            </a:r>
          </a:p>
          <a:p xmlns:a="http://schemas.openxmlformats.org/drawingml/2006/main">
            <a:r>
              <a:t/>
            </a:r>
          </a:p>
          <a:p xmlns:a="http://schemas.openxmlformats.org/drawingml/2006/main">
            <a:r>
              <a:t>FALA</a:t>
            </a:r>
          </a:p>
          <a:p xmlns:a="http://schemas.openxmlformats.org/drawingml/2006/main">
            <a:r>
              <a:t>Aqui eu mudo a pergunta. Em vez de prever o câmbio nominal, tento prever a mudança do câmbio real em cinco anos. A informação comercial reduz o erro da regressão base de 2,20 para 2,08. É uma pequena melhora relativa, mas ambos os modelos perdem bastante para nenhuma mudança, que vale um. Os testes com termos de troca agregados anuais também não estabeleceram uma solução robusta e têm uma amostra ainda menor. Assim, não consigo defender que aprendi a prever de forma confiável uma nova referência real de longo prazo. Esse resultado negativo ajuda a limitar o que posso dizer sobre os fundamentos.</a:t>
            </a:r>
          </a:p>
          <a:p xmlns:a="http://schemas.openxmlformats.org/drawingml/2006/main">
            <a:r>
              <a:t/>
            </a:r>
          </a:p>
          <a:p xmlns:a="http://schemas.openxmlformats.org/drawingml/2006/main">
            <a:r>
              <a:t>CONCEITOS</a:t>
            </a:r>
          </a:p>
          <a:p xmlns:a="http://schemas.openxmlformats.org/drawingml/2006/main">
            <a:r>
              <a:t>Agora o alvo muda: antes era a cotação nominal, agora é q daqui a cinco anos menos q hoje. A regressão base contém nível real centrado e sua mudança passada. A extensão adiciona o índice de preços comerciais com pesos que se atualizam usando informações históricas defasadas, além da variação passada desse índice. Para comparar modelos, a base é reestimada nas mesmas observações disponíveis para a extensão. Esse cuidado evita atribuir às novas variáveis uma melhora causada apenas por mudança de amostra.</a:t>
            </a:r>
          </a:p>
          <a:p xmlns:a="http://schemas.openxmlformats.org/drawingml/2006/main">
            <a:r>
              <a:t/>
            </a:r>
          </a:p>
          <a:p xmlns:a="http://schemas.openxmlformats.org/drawingml/2006/main">
            <a:r>
              <a:t>LEITURA</a:t>
            </a:r>
          </a:p>
          <a:p xmlns:a="http://schemas.openxmlformats.org/drawingml/2006/main">
            <a:r>
              <a:t>A previsão de nenhuma mudança real tem erro relativo 1. A base tem 2,20 e a extensão com preços e pesos comerciais tem 2,08. São 104 origens de janeiro de 2013 a agosto de 2021. A redução em relação à regressão base é aproximadamente 5%, mas o erro continua mais que o dobro do benchmark simples. Não compare esses níveis de erro diretamente aos do slide anterior: o alvo e a amostra são diferentes.</a:t>
            </a:r>
          </a:p>
          <a:p xmlns:a="http://schemas.openxmlformats.org/drawingml/2006/main">
            <a:r>
              <a:t/>
            </a:r>
          </a:p>
          <a:p xmlns:a="http://schemas.openxmlformats.org/drawingml/2006/main">
            <a:r>
              <a:t>TREINO E AVALIAÇÃO</a:t>
            </a:r>
          </a:p>
          <a:p xmlns:a="http://schemas.openxmlformats.org/drawingml/2006/main">
            <a:r>
              <a:t>Primeira origem avaliada: jan/2013. Treino da extensão e da base pareada: dez/2000–out/2007, com disponibilidade dos alvos até dez/2012. Expansivo, mínimo 60 origens. Alvo de cinco anos, com CPI defasado dois meses. Avaliação: jan/2013–ago/2021, alvos até ago/2026.</a:t>
            </a:r>
          </a:p>
          <a:p xmlns:a="http://schemas.openxmlformats.org/drawingml/2006/main">
            <a:r>
              <a:t/>
            </a:r>
          </a:p>
          <a:p xmlns:a="http://schemas.openxmlformats.org/drawingml/2006/main">
            <a:r>
              <a:t>CUIDADO</a:t>
            </a:r>
          </a:p>
          <a:p xmlns:a="http://schemas.openxmlformats.org/drawingml/2006/main">
            <a:r>
              <a:t>O número 2,08 é razão de erro, não previsão de depreciação de 208%. A proxy comercial mensal e os termos de troca agregados anuais são testes distintos.</a:t>
            </a:r>
          </a:p>
          <a:p xmlns:a="http://schemas.openxmlformats.org/drawingml/2006/main">
            <a:r>
              <a:t/>
            </a:r>
          </a:p>
          <a:p xmlns:a="http://schemas.openxmlformats.org/drawingml/2006/main">
            <a:r>
              <a:t>PERGUNTA</a:t>
            </a:r>
          </a:p>
          <a:p xmlns:a="http://schemas.openxmlformats.org/drawingml/2006/main">
            <a:r>
              <a:t>E a hipótese de mudança no equilíbrio? Continua economicamente plausível, mas estes resultados preditivos não a estabelecem nem identificam um novo valor de equilíbrio.</a:t>
            </a:r>
          </a:p>
          <a:p xmlns:a="http://schemas.openxmlformats.org/drawingml/2006/main">
            <a:r>
              <a:t/>
            </a:r>
          </a:p>
          <a:p xmlns:a="http://schemas.openxmlformats.org/drawingml/2006/main">
            <a:r>
              <a:t>TRANSIÇÃO</a:t>
            </a:r>
          </a:p>
          <a:p xmlns:a="http://schemas.openxmlformats.org/drawingml/2006/main">
            <a:r>
              <a:t>Com previsões frágeis, eu passei a testar decisões de exposição mais específicas.</a:t>
            </a:r>
          </a:p>
          <a:p xmlns:a="http://schemas.openxmlformats.org/drawingml/2006/main">
            <a:r>
              <a:t/>
            </a:r>
          </a:p>
          <a:p xmlns:a="http://schemas.openxmlformats.org/drawingml/2006/main">
            <a:r>
              <a:t>FONTES</a:t>
            </a:r>
          </a:p>
          <a:p xmlns:a="http://schemas.openxmlformats.org/drawingml/2006/main">
            <a:r>
              <a:t>trade_extension/tables/prediction_metrics.csv: real_60</a:t>
            </a:r>
          </a:p>
          <a:p xmlns:a="http://schemas.openxmlformats.org/drawingml/2006/main">
            <a:r>
              <a:t>trade_extension/analyze.py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e prever a mudança real continua difícil.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17. Os slides 18 e 19 são apoio para perguntas e ficam fora dos 19 minutos.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9336aa0f824e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22e5042db248f4" /><Relationship Type="http://schemas.openxmlformats.org/officeDocument/2006/relationships/slideLayout" Target="/ppt/slideLayouts/slideLayout1.xml" Id="R369dfbb457504e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9dfbb457504e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6d3a8d22fc4e8f" /><Relationship Type="http://schemas.openxmlformats.org/officeDocument/2006/relationships/notesSlide" Target="/ppt/notesSlides/notesSlide1.xml" Id="R68ca24522dc544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a5ca83417c4840" /><Relationship Type="http://schemas.openxmlformats.org/officeDocument/2006/relationships/notesSlide" Target="/ppt/notesSlides/notesSlide2.xml" Id="Re05fcb8975dc42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cfe8a1314b4a34" /><Relationship Type="http://schemas.openxmlformats.org/officeDocument/2006/relationships/chart" Target="/ppt/slides/charts/chart1.xml" Id="R9a70407e3cee4adc" /><Relationship Type="http://schemas.openxmlformats.org/officeDocument/2006/relationships/notesSlide" Target="/ppt/notesSlides/notesSlide3.xml" Id="Rd2e4124d2a6445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8618a29fb04025" /><Relationship Type="http://schemas.openxmlformats.org/officeDocument/2006/relationships/notesSlide" Target="/ppt/notesSlides/notesSlide4.xml" Id="Ra269f9fa998b4c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6b4ace4f6d4eaf" /><Relationship Type="http://schemas.openxmlformats.org/officeDocument/2006/relationships/notesSlide" Target="/ppt/notesSlides/notesSlide5.xml" Id="R26b9ed981c4a47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8b90f89b2d45d9" /><Relationship Type="http://schemas.openxmlformats.org/officeDocument/2006/relationships/notesSlide" Target="/ppt/notesSlides/notesSlide6.xml" Id="R772a7c3bb0444d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a8ab1df4d04fe8" /><Relationship Type="http://schemas.openxmlformats.org/officeDocument/2006/relationships/chart" Target="/ppt/slides/charts/chart2.xml" Id="R0c63070d1bbe425d" /><Relationship Type="http://schemas.openxmlformats.org/officeDocument/2006/relationships/notesSlide" Target="/ppt/notesSlides/notesSlide7.xml" Id="R5dac6480944c4b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cb2406a4b3498a" /><Relationship Type="http://schemas.openxmlformats.org/officeDocument/2006/relationships/notesSlide" Target="/ppt/notesSlides/notesSlide8.xml" Id="Ra127f4ee3723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30ac0974e14d4b" /><Relationship Type="http://schemas.openxmlformats.org/officeDocument/2006/relationships/notesSlide" Target="/ppt/notesSlides/notesSlide9.xml" Id="R2ca6860840f04c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485134415c468a" /><Relationship Type="http://schemas.openxmlformats.org/officeDocument/2006/relationships/notesSlide" Target="/ppt/notesSlides/notesSlide10.xml" Id="R52a30e7371464d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7698ea3ec44b86" /><Relationship Type="http://schemas.openxmlformats.org/officeDocument/2006/relationships/notesSlide" Target="/ppt/notesSlides/notesSlide11.xml" Id="R691e33b0e1ec44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183edc44e646bf" /><Relationship Type="http://schemas.openxmlformats.org/officeDocument/2006/relationships/notesSlide" Target="/ppt/notesSlides/notesSlide12.xml" Id="Rd3b484d305a142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bb5edb396149df" /><Relationship Type="http://schemas.openxmlformats.org/officeDocument/2006/relationships/notesSlide" Target="/ppt/notesSlides/notesSlide13.xml" Id="R9b3b3cb147544a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adbd35945844e6" /><Relationship Type="http://schemas.openxmlformats.org/officeDocument/2006/relationships/chart" Target="/ppt/slides/charts/chart3.xml" Id="R269a6ef6edf34c0a" /><Relationship Type="http://schemas.openxmlformats.org/officeDocument/2006/relationships/chart" Target="/ppt/slides/charts/chart4.xml" Id="Rb7ba7c4be1ac49ab" /><Relationship Type="http://schemas.openxmlformats.org/officeDocument/2006/relationships/notesSlide" Target="/ppt/notesSlides/notesSlide14.xml" Id="R0afc90338cfe42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1eac82843148ee" /><Relationship Type="http://schemas.openxmlformats.org/officeDocument/2006/relationships/chart" Target="/ppt/slides/charts/chart5.xml" Id="R40fc3b3e86d34efc" /><Relationship Type="http://schemas.openxmlformats.org/officeDocument/2006/relationships/notesSlide" Target="/ppt/notesSlides/notesSlide15.xml" Id="Rc9595dbcdf6340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16eaa94d2148f8" /><Relationship Type="http://schemas.openxmlformats.org/officeDocument/2006/relationships/notesSlide" Target="/ppt/notesSlides/notesSlide16.xml" Id="Rd5ba0ed8b13b4c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15a83a5f7b466e" /><Relationship Type="http://schemas.openxmlformats.org/officeDocument/2006/relationships/notesSlide" Target="/ppt/notesSlides/notesSlide17.xml" Id="Rb2b42722370248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c11a45d7b1471c" /><Relationship Type="http://schemas.openxmlformats.org/officeDocument/2006/relationships/notesSlide" Target="/ppt/notesSlides/notesSlide18.xml" Id="R091a4f1ccb0c4e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348285e6afa4ade" /><Relationship Type="http://schemas.openxmlformats.org/officeDocument/2006/relationships/notesSlide" Target="/ppt/notesSlides/notesSlide19.xml" Id="R6c4f67fd5b9c4a38" /></Relationships>
</file>

<file path=ppt/slides/charts/chart1.xml><?xml version="1.0" encoding="utf-8"?>
<c:chartSpace xmlns:c="http://schemas.openxmlformats.org/drawingml/2006/chart">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Lit>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Lit>
          </c:xVal>
          <c:yVal>
            <c:numLit>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Lit>
          </c:yVal>
        </c:ser>
        <c:ser>
          <c:idx val="1"/>
          <c:order val="1"/>
          <c:tx>
            <c:v>Ajuste linear</c:v>
          </c:tx>
          <c:spPr>
            <a:ln xmlns:a="http://schemas.openxmlformats.org/drawingml/2006/main" w="28575">
              <a:solidFill>
                <a:srgbClr val="A14338"/>
              </a:solidFill>
            </a:ln>
          </c:spPr>
          <c:marker>
            <c:symbol val="none"/>
          </c:marker>
          <c:xVal>
            <c:numLit>
              <c:formatCode>General</c:formatCode>
              <c:ptCount val="2"/>
              <c:pt idx="0">
                <c:v>-0.510556339017</c:v>
              </c:pt>
              <c:pt idx="1">
                <c:v>0.699692549821</c:v>
              </c:pt>
            </c:numLit>
          </c:xVal>
          <c:yVal>
            <c:numLit>
              <c:formatCode>0.00</c:formatCode>
              <c:ptCount val="2"/>
              <c:pt idx="0">
                <c:v>1.17038886821</c:v>
              </c:pt>
              <c:pt idx="1">
                <c:v>-1.01785312326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Lit>
          </c:yVal>
        </c:ser>
        <c:ser>
          <c:idx val="1"/>
          <c:order val="1"/>
          <c:tx>
            <c:v>Carry + previsão</c:v>
          </c:tx>
          <c:spPr>
            <a:ln xmlns:a="http://schemas.openxmlformats.org/drawingml/2006/main" w="28575">
              <a:solidFill>
                <a:srgbClr val="007F7B"/>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Lit>
          </c:xVal>
          <c:yVal>
            <c:numLit>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Lit>
          </c:yVal>
        </c:ser>
        <c:ser>
          <c:idx val="1"/>
          <c:order val="1"/>
          <c:tx>
            <c:v>Combinação</c:v>
          </c:tx>
          <c:spPr>
            <a:ln xmlns:a="http://schemas.openxmlformats.org/drawingml/2006/main" w="28575">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Lit>
          </c:yVal>
        </c:ser>
        <c:ser>
          <c:idx val="2"/>
          <c:order val="2"/>
          <c:tx>
            <c:v>Caixa USD</c:v>
          </c:tx>
          <c:spPr>
            <a:ln xmlns:a="http://schemas.openxmlformats.org/drawingml/2006/main" w="19050">
              <a:solidFill>
                <a:srgbClr val="9DA8AF"/>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Lit>
          </c:yVal>
        </c:ser>
        <c:ser>
          <c:idx val="1"/>
          <c:order val="1"/>
          <c:tx>
            <c:v>Combinação</c:v>
          </c:tx>
          <c:spPr>
            <a:ln xmlns:a="http://schemas.openxmlformats.org/drawingml/2006/main" w="25718">
              <a:solidFill>
                <a:srgbClr val="007F7B"/>
              </a:solidFill>
            </a:ln>
          </c:spPr>
          <c:marker>
            <c:symbol val="none"/>
          </c:marker>
          <c:xVal>
            <c:numLit>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Lit>
          </c:xVal>
          <c:yVal>
            <c:numLit>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Carry por juros</c:v>
          </c:tx>
          <c:spPr>
            <a:solidFill xmlns:a="http://schemas.openxmlformats.org/drawingml/2006/main">
              <a:srgbClr val="15354D"/>
            </a:solidFill>
          </c:spPr>
          <c:cat>
            <c:strLit>
              <c:ptCount val="2"/>
              <c:pt idx="0">
                <c:v>Câmbio</c:v>
              </c:pt>
              <c:pt idx="1">
                <c:v>Juros</c:v>
              </c:pt>
            </c:strLit>
          </c:cat>
          <c:val>
            <c:numLit>
              <c:formatCode>0.00</c:formatCode>
              <c:ptCount val="2"/>
              <c:pt idx="0">
                <c:v>0.74073898</c:v>
              </c:pt>
              <c:pt idx="1">
                <c:v>2.61915404</c:v>
              </c:pt>
            </c:numLit>
          </c:val>
        </c:ser>
        <c:ser>
          <c:idx val="1"/>
          <c:order val="1"/>
          <c:tx>
            <c:v>Combinação</c:v>
          </c:tx>
          <c:spPr>
            <a:solidFill xmlns:a="http://schemas.openxmlformats.org/drawingml/2006/main">
              <a:srgbClr val="007F7B"/>
            </a:solidFill>
          </c:spPr>
          <c:cat>
            <c:strLit>
              <c:ptCount val="2"/>
              <c:pt idx="0">
                <c:v>Câmbio</c:v>
              </c:pt>
              <c:pt idx="1">
                <c:v>Juros</c:v>
              </c:pt>
            </c:strLit>
          </c:cat>
          <c:val>
            <c:numLit>
              <c:formatCode>0.00</c:formatCode>
              <c:ptCount val="2"/>
              <c:pt idx="0">
                <c:v>1.81617676</c:v>
              </c:pt>
              <c:pt idx="1">
                <c:v>1.5005359</c:v>
              </c:pt>
            </c:numLit>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1D067F-355F-4569-A2DD-389488282F23}"/>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4E1030C7-BE02-41F4-8236-ADF71151A477}"/>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A75EA54F-C3DB-40D1-8868-6954AB6745B7}"/>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0B9D6E0E-275B-429E-BD18-E2314E85EFB0}"/>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660473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D6227C-1454-467F-BB34-985A79877EC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320D9CA2-0920-480A-89FA-E574A452F78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FCADFC29-0E4C-4C7C-B58F-E551E6A06FC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1FCFBF0-CC6B-45DC-AB75-8B47EB644C2A}"/>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243E8281-8F75-46BA-AE8E-2F1790129FD7}"/>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1AEC5AA8-3886-466A-8640-13D22EF8186F}"/>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93F7BF9E-00D0-48C4-9DD1-ABC24A0290D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556240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E1289E-1CFE-4CCB-8590-074E79AD606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3B4C584E-7BEC-43FD-88F0-DA9BFBA5BE2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A85874A0-8DFB-474D-AD6E-2B2F7D9E4ED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9a70407e3cee4adc"/>
          </a:graphicData>
        </a:graphic>
      </p:graphicFrame>
      <p:sp>
        <p:nvSpPr>
          <p:cNvPr id="5" name="">
            <a:extLst xmlns:a="http://schemas.openxmlformats.org/drawingml/2006/main">
              <a:ext uri="{FF2B5EF4-FFF2-40B4-BE49-F238E27FC236}">
                <a16:creationId xmlns:a16="http://schemas.microsoft.com/office/drawing/2014/main" id="{000FD015-7EC4-4AA2-9E4A-C7C75B96DDED}"/>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35AF144E-8B6F-4280-9362-13FB4520B4B1}"/>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9C117217-760D-4605-8AEB-84FE9854B36D}"/>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2190D984-4834-4FA5-9B4A-1D8E6DD218E7}"/>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A23FC5D4-B931-463F-951E-691874DD2DDF}"/>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0096969B-61DE-42E5-AD3E-2F3ACB2DB0B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6487062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BEE09D-6B52-4B8C-8864-E7DE6CD9C6E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EDC829B0-F3B3-4AC2-8AF2-51D0406323F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C8E6FA71-01B0-4159-8667-E685CF9D2937}"/>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2905125"/>
                <a:gridCol w="1905000"/>
                <a:gridCol w="4352925"/>
              </a:tblGrid>
              <a:tr h="436789">
                <a:tc>
                  <a:txBody>
                    <a:bodyPr/>
                    <a:lstStyle/>
                    <a:p>
                      <a:r>
                        <a:rPr sz="1875" b="1">
                          <a:solidFill>
                            <a:srgbClr val="FFFFFF"/>
                          </a:solidFill>
                          <a:latin typeface="Arial"/>
                          <a:ea typeface="Arial"/>
                          <a:cs typeface="Arial"/>
                        </a:rPr>
                        <a:t>Horizonte</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Painel: 6 moedas</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Brasil¹</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Origens avaliadas</a:t>
                      </a:r>
                    </a:p>
                  </a:txBody>
                  <a:tcPr marL="152400" marR="1143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1,039</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0,964</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jan/2010–ago/2025</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1,076</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0,916</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jan/2010–ago/2024</a:t>
                      </a:r>
                    </a:p>
                  </a:txBody>
                  <a:tcPr marL="152400" marR="1143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1,096</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0,884</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jan/2010–ago/2023</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1,037</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0,792</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jan/2010–ago/2021</a:t>
                      </a:r>
                    </a:p>
                  </a:txBody>
                  <a:tcPr marL="152400" marR="1143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1,072</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0,793</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nov/2011–ago/2019</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1,115</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0,816</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nov/2012–ago/2018</a:t>
                      </a:r>
                    </a:p>
                  </a:txBody>
                  <a:tcPr marL="152400" marR="1143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681AAB7A-40D8-46B9-A4BC-905E2B92157C}"/>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out/1999: mínimo 60 origens maduras por moeda; alvos até t−1.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As janelas avaliadas variam por horizonte. Resultados dos alvos disponíveis até 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¹ Brasil usa a mesma inclinação agrupada. Ganho no país não implica ganho no painel.</a:t>
            </a:r>
          </a:p>
        </p:txBody>
      </p:sp>
      <p:sp>
        <p:nvSpPr>
          <p:cNvPr id="6" name="">
            <a:extLst xmlns:a="http://schemas.openxmlformats.org/drawingml/2006/main">
              <a:ext uri="{FF2B5EF4-FFF2-40B4-BE49-F238E27FC236}">
                <a16:creationId xmlns:a16="http://schemas.microsoft.com/office/drawing/2014/main" id="{08CA2489-93F2-486E-975D-711D510CF9C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Painel: BRL, EUR, JPY, GBP, CAD, SEK. Erro relativo = RMSE / RMSE de nenhuma mudança.</a:t>
            </a:r>
          </a:p>
        </p:txBody>
      </p:sp>
    </p:spTree>
    <p:extLst>
      <p:ext uri="{BB962C8B-B14F-4D97-AF65-F5344CB8AC3E}">
        <p14:creationId xmlns:p14="http://schemas.microsoft.com/office/powerpoint/2010/main" val="8785131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71B49D-93E5-4B48-A775-83E081BC8E2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7588B059-3724-4607-8898-3A56EEC4471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36594D1F-4B6A-4633-A4F7-610E5C497C2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C63E1B0-66B2-400B-8208-7BE3223248CD}"/>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FB3A8CA8-191D-48A7-A7B9-954EE94B6CC6}"/>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C72C6CE3-5BD8-4C40-820D-06537C0EAF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15814341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5C37EE-0D6C-4AFA-BAA1-74825C4A120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6643F2FD-08D5-4F41-868D-E7F58F3E43C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985307E8-CED5-42BE-9040-69EDF732814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105EC618-34B1-48BF-8267-E8C350D85670}"/>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914DDFCC-00AC-47A6-AF37-5B7A4AFD069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1952443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C5043B-DCA3-436B-92E7-52A2CC71649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CFB79E42-77E0-455F-9B67-BAEC34A1BAF8}"/>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DFD1CED0-59B6-4385-B08B-E73D8F9B85E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0c63070d1bbe425d"/>
          </a:graphicData>
        </a:graphic>
      </p:graphicFrame>
      <p:sp>
        <p:nvSpPr>
          <p:cNvPr id="5" name="">
            <a:extLst xmlns:a="http://schemas.openxmlformats.org/drawingml/2006/main">
              <a:ext uri="{FF2B5EF4-FFF2-40B4-BE49-F238E27FC236}">
                <a16:creationId xmlns:a16="http://schemas.microsoft.com/office/drawing/2014/main" id="{5C01D360-1047-4CD9-AB4F-23CBB11C9F84}"/>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58FBB627-6D8B-4B4C-A624-FF159BC3B2C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2660728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589EEF-BB4A-4540-A71A-FA298836591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F34CE51A-92F1-4E8B-92A7-C33C4C77979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19DA393C-5806-4C26-BE8C-0E4D619CC1E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61889B0-4E37-4DCA-BACD-040CEBA4E6A8}"/>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CE579193-89BA-4E59-95D3-A5A2E9F912C0}"/>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F3FAC475-E698-4082-B7CC-62085ECA0D57}"/>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F0E40105-E9BD-45B0-BC07-FFE121FF077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10557324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9B03C3-A9D8-49FC-A3C3-4EC2818FAD4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6897D611-4173-4B18-8C1E-CA58FEB34DA7}"/>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99E8C20C-4575-45BE-A153-E5D9D32A6F2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A23212-5C8D-4D65-BCEB-3989D319E58D}"/>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14A6C7CE-18DC-4218-BFBD-4D17EE321EA5}"/>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E1EEBB4E-20EC-4653-B8EF-891C7C94BC1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3556201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619295-0128-40CD-AC47-B5040EFFD68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Prever o câmbio real continuou difícil</a:t>
            </a:r>
          </a:p>
        </p:txBody>
      </p:sp>
      <p:sp>
        <p:nvSpPr>
          <p:cNvPr id="2" name="">
            <a:extLst xmlns:a="http://schemas.openxmlformats.org/drawingml/2006/main">
              <a:ext uri="{FF2B5EF4-FFF2-40B4-BE49-F238E27FC236}">
                <a16:creationId xmlns:a16="http://schemas.microsoft.com/office/drawing/2014/main" id="{EDADCA6E-7EAF-4A6F-95B5-62A18D3942E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Outro alvo: mudança do câmbio real em cinco anos.</a:t>
            </a:r>
          </a:p>
        </p:txBody>
      </p:sp>
      <p:sp>
        <p:nvSpPr>
          <p:cNvPr id="3" name="">
            <a:extLst xmlns:a="http://schemas.openxmlformats.org/drawingml/2006/main">
              <a:ext uri="{FF2B5EF4-FFF2-40B4-BE49-F238E27FC236}">
                <a16:creationId xmlns:a16="http://schemas.microsoft.com/office/drawing/2014/main" id="{434FDDE2-7936-4B87-98D1-CAB2DDF9BD9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1" name=""/>
          <p:cNvGraphicFramePr/>
          <p:nvPr/>
        </p:nvGraphicFramePr>
        <p:xfrm>
          <a:off xmlns:a="http://schemas.openxmlformats.org/drawingml/2006/main" x="609600" y="2000250"/>
          <a:ext xmlns:a="http://schemas.openxmlformats.org/drawingml/2006/main" cx="10972800" cy="2524125"/>
        </p:xfrm>
        <a:graphic xmlns:a="http://schemas.openxmlformats.org/drawingml/2006/main">
          <a:graphicData uri="http://schemas.openxmlformats.org/drawingml/2006/table">
            <a:tbl>
              <a:tblPr/>
              <a:tblGrid>
                <a:gridCol w="8382000"/>
                <a:gridCol w="2590800"/>
              </a:tblGrid>
              <a:tr h="631031">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Erro relativo</a:t>
                      </a:r>
                    </a:p>
                  </a:txBody>
                  <a:tcPr marL="152400" marR="114300" marT="95250" marB="95250" anchor="ctr">
                    <a:solidFill>
                      <a:srgbClr val="15354D"/>
                    </a:solidFill>
                  </a:tcPr>
                </a:tc>
              </a:tr>
              <a:tr h="631031">
                <a:tc>
                  <a:txBody>
                    <a:bodyPr/>
                    <a:lstStyle/>
                    <a:p>
                      <a:r>
                        <a:rPr sz="2025" b="1">
                          <a:solidFill>
                            <a:srgbClr val="15354D"/>
                          </a:solidFill>
                          <a:latin typeface="Arial"/>
                          <a:ea typeface="Arial"/>
                          <a:cs typeface="Arial"/>
                        </a:rPr>
                        <a:t>Nenhuma mudança real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r>
              <a:tr h="631031">
                <a:tc>
                  <a:txBody>
                    <a:bodyPr/>
                    <a:lstStyle/>
                    <a:p>
                      <a:r>
                        <a:rPr sz="2025" b="1">
                          <a:solidFill>
                            <a:srgbClr val="15354D"/>
                          </a:solidFill>
                          <a:latin typeface="Arial"/>
                          <a:ea typeface="Arial"/>
                          <a:cs typeface="Arial"/>
                        </a:rPr>
                        <a:t>Regressão base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2,20</a:t>
                      </a:r>
                    </a:p>
                  </a:txBody>
                  <a:tcPr marL="152400" marR="114300" marT="95250" marB="95250" anchor="ctr">
                    <a:solidFill>
                      <a:srgbClr val="E8EEF2"/>
                    </a:solidFill>
                  </a:tcPr>
                </a:tc>
              </a:tr>
              <a:tr h="631031">
                <a:tc>
                  <a:txBody>
                    <a:bodyPr/>
                    <a:lstStyle/>
                    <a:p>
                      <a:r>
                        <a:rPr sz="2025" b="1">
                          <a:solidFill>
                            <a:srgbClr val="15354D"/>
                          </a:solidFill>
                          <a:latin typeface="Arial"/>
                          <a:ea typeface="Arial"/>
                          <a:cs typeface="Arial"/>
                        </a:rPr>
                        <a:t>Base + preços e pesos comerciais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2,08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3D740F9-69F6-4B2D-AFA9-AE0C715FDE86}"/>
              </a:ext>
            </a:extLst>
          </p:cNvPr>
          <p:cNvSpPr>
            <a:spLocks xmlns:a="http://schemas.openxmlformats.org/drawingml/2006/main" noGrp="1"/>
          </p:cNvSpPr>
          <p:nvPr/>
        </p:nvSpPr>
        <p:spPr>
          <a:xfrm xmlns:a="http://schemas.openxmlformats.org/drawingml/2006/main">
            <a:off x="609600" y="4638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extensão melhora a base em 5%, mas perde para nenhuma mudança.</a:t>
            </a:r>
          </a:p>
        </p:txBody>
      </p:sp>
      <p:sp>
        <p:nvSpPr>
          <p:cNvPr id="6" name="">
            <a:extLst xmlns:a="http://schemas.openxmlformats.org/drawingml/2006/main">
              <a:ext uri="{FF2B5EF4-FFF2-40B4-BE49-F238E27FC236}">
                <a16:creationId xmlns:a16="http://schemas.microsoft.com/office/drawing/2014/main" id="{9E05D193-48B5-4FCA-A970-FACE42718FC3}"/>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dez/2000. Na origem jan/2013: treino até out/2007.</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disponíveis até dez/2012. Previsão: 60m; CPI com defasagem de 2 meses.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104 origens jan/2013–ago/2021, com alvos até ago/2026.</a:t>
            </a:r>
          </a:p>
        </p:txBody>
      </p:sp>
      <p:sp>
        <p:nvSpPr>
          <p:cNvPr id="7" name="">
            <a:extLst xmlns:a="http://schemas.openxmlformats.org/drawingml/2006/main">
              <a:ext uri="{FF2B5EF4-FFF2-40B4-BE49-F238E27FC236}">
                <a16:creationId xmlns:a16="http://schemas.microsoft.com/office/drawing/2014/main" id="{4B9EF27A-BE38-4AFB-9C2C-DAECBA6EB6A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extensão de termos de troca, real_60 e audit.csv. Base reestimada na mesma história da extensão comercial.</a:t>
            </a:r>
          </a:p>
        </p:txBody>
      </p:sp>
    </p:spTree>
    <p:extLst>
      <p:ext uri="{BB962C8B-B14F-4D97-AF65-F5344CB8AC3E}">
        <p14:creationId xmlns:p14="http://schemas.microsoft.com/office/powerpoint/2010/main" val="2118474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4951E9-B2C9-4D74-A35D-8E2D49C82C0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89D7E641-9227-4D9F-A050-553A4C48CD1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9B6450B4-18C9-4E47-94A0-C12632331577}"/>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4CD2B6-7464-40EB-A69C-8A5F232571F4}"/>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C35C6B79-9BF6-4E49-A14C-4FBF5E75E4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12145552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6B9201-D6F1-4852-8166-CD4DC20E0D7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D2E37DF0-AA4D-48D3-AE73-8661B8C53F7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C2006F28-F795-4061-B03F-412AFB4A25E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81F8A8D-E561-4114-A377-E584F43ABD64}"/>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64FAAD08-61E2-4134-81E7-E5A076E87A4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508555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56F8CB-941E-4798-A498-0D00D442CDD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D1054320-0669-48E3-925F-2A23684BE1E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6F1BDF37-34B7-45D8-AE59-C93E0BF333A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15B287-FE36-42E2-8FB3-4174FF359D08}"/>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A7C793E9-6DD2-4818-A871-77C0E27277E1}"/>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4122A5DF-93DC-48CB-BBA8-C47DF4C0053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7091771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2BA1E4-6125-4FB9-AA85-0755185167C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838F29A0-8173-4D00-8BCB-0BA20C1D089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BFD8B52F-197C-491A-974C-3ECACFA77BF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269a6ef6edf34c0a"/>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b7ba7c4be1ac49ab"/>
          </a:graphicData>
        </a:graphic>
      </p:graphicFrame>
      <p:sp>
        <p:nvSpPr>
          <p:cNvPr id="6" name="">
            <a:extLst xmlns:a="http://schemas.openxmlformats.org/drawingml/2006/main">
              <a:ext uri="{FF2B5EF4-FFF2-40B4-BE49-F238E27FC236}">
                <a16:creationId xmlns:a16="http://schemas.microsoft.com/office/drawing/2014/main" id="{CE2FD6CC-99B4-48C8-9FF2-5503E5E39D62}"/>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1A74F91F-47CC-4ED7-9756-90DCA2C2C89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4297594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1C5B16-8AB6-4C24-80A4-C2767374439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A2EF863A-093D-432B-9FFB-F1B0F4ED251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55226F2-6351-4B09-AC97-98ECFDE43BC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40fc3b3e86d34efc"/>
          </a:graphicData>
        </a:graphic>
      </p:graphicFrame>
      <p:sp>
        <p:nvSpPr>
          <p:cNvPr id="5" name="">
            <a:extLst xmlns:a="http://schemas.openxmlformats.org/drawingml/2006/main">
              <a:ext uri="{FF2B5EF4-FFF2-40B4-BE49-F238E27FC236}">
                <a16:creationId xmlns:a16="http://schemas.microsoft.com/office/drawing/2014/main" id="{846FEF93-D57B-4B78-8367-8B50094A043A}"/>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DE3C891D-06A5-4D46-AC23-F26A21A9E3F7}"/>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358CA0BF-E4C5-429D-A81E-AFA49167D3E3}"/>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D127D665-FBCC-429D-99A5-5BE06403FD7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5911612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561AFB-4AA8-4998-8A79-88D256AD7E9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4D3955C0-3BB1-470C-AD46-DAE83B22A63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55FC2D8C-EFC4-4BDA-B960-CF21590FA07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4DA89F91-5676-48C0-8D4F-635DB05E211A}"/>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3A38212C-4418-4D71-AF6C-88634C0E3A3E}"/>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BC90B864-E2BC-4322-98FB-2EE556DE862B}"/>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18C5BBB5-C5D1-49C6-AB53-3F0C11F9E9D2}"/>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532608D6-6DCF-46F4-8590-A287606ED5D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16732670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C6F4A7-6F8A-4D86-8D3F-4AD97F97362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2ACAE3CD-311F-4870-89C5-9E620156EF3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FE3CC25B-E79E-48FE-86AB-3198707570EF}"/>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EE828B97-40AA-4E3A-9786-559ECE058AA5}"/>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166B4946-57A5-4673-9643-E0C35E69EB17}"/>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B871F36F-F88C-44FE-A849-198F067F36C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7210269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5B2706-900F-4A4F-9DB9-AB192AEC55C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857ADD2F-DBAE-4EAD-B8CF-7A18F3C8F76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A3DC57E7-7C8B-4551-A36E-ECCC425606E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sp>
        <p:nvSpPr>
          <p:cNvPr id="4" name="">
            <a:extLst xmlns:a="http://schemas.openxmlformats.org/drawingml/2006/main">
              <a:ext uri="{FF2B5EF4-FFF2-40B4-BE49-F238E27FC236}">
                <a16:creationId xmlns:a16="http://schemas.microsoft.com/office/drawing/2014/main" id="{605CC646-9DB7-44C0-9C16-7A91B119A842}"/>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2166F716-C8A4-47B0-AEDB-53D3D6E51D34}"/>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97BD4EE8-D22F-41E8-BB15-656867ED9E81}"/>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D489D205-687A-4187-ABE8-0E28AEDC4B1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8239856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6B6547-D43A-4BAE-867E-F72FF53B6F6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46AD6B0B-1CE0-4561-8849-97C4D8E46E2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913A5A24-E145-4791-A9C7-4A27AD30422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19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744D792-C9E4-4036-AED4-D1313B48E388}"/>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700875E6-EED6-4F15-9FDC-07E710F8EF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1391198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2026-09-15T18:41:25.8860000Z</dcterms:created>
  <dcterms:modified xsi:type="dcterms:W3CDTF">2026-09-15T18:41:25.8860000Z</dcterms:modified>
</coreProperties>
</file>