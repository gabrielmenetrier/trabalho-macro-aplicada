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42fe9402694640" /><Relationship Type="http://schemas.openxmlformats.org/officeDocument/2006/relationships/extended-properties" Target="/docProps/app.xml" Id="R47f37c24bf45496e" /><Relationship Type="http://schemas.openxmlformats.org/officeDocument/2006/relationships/officeDocument" Target="/ppt/presentation.xml" Id="R9f2db5d68a624c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82d736e92d49b9"/>
  </p:sldMasterIdLst>
  <p:notesMasterIdLst>
    <p:notesMasterId xmlns:r="http://schemas.openxmlformats.org/officeDocument/2006/relationships" r:id="Rff80a0fb9f9742c7"/>
  </p:notesMasterIdLst>
  <p:sldIdLst>
    <p:sldId xmlns:r="http://schemas.openxmlformats.org/officeDocument/2006/relationships" id="256" r:id="R7c0f06c624b3460f"/>
    <p:sldId xmlns:r="http://schemas.openxmlformats.org/officeDocument/2006/relationships" id="257" r:id="Rb100da0fedc84257"/>
    <p:sldId xmlns:r="http://schemas.openxmlformats.org/officeDocument/2006/relationships" id="258" r:id="Rf1b151e2c4dc4671"/>
    <p:sldId xmlns:r="http://schemas.openxmlformats.org/officeDocument/2006/relationships" id="259" r:id="R02b564ce991d4346"/>
    <p:sldId xmlns:r="http://schemas.openxmlformats.org/officeDocument/2006/relationships" id="260" r:id="Rff4752a3840842d7"/>
    <p:sldId xmlns:r="http://schemas.openxmlformats.org/officeDocument/2006/relationships" id="261" r:id="R16e303e5afd34a09"/>
    <p:sldId xmlns:r="http://schemas.openxmlformats.org/officeDocument/2006/relationships" id="262" r:id="R5e70f18e3c1248b2"/>
    <p:sldId xmlns:r="http://schemas.openxmlformats.org/officeDocument/2006/relationships" id="263" r:id="R3aa78e47520447ae"/>
    <p:sldId xmlns:r="http://schemas.openxmlformats.org/officeDocument/2006/relationships" id="264" r:id="R9a33b91c96f645ab"/>
    <p:sldId xmlns:r="http://schemas.openxmlformats.org/officeDocument/2006/relationships" id="265" r:id="Rd55ad061047a4a93"/>
    <p:sldId xmlns:r="http://schemas.openxmlformats.org/officeDocument/2006/relationships" id="266" r:id="R52f4a5e27d874886"/>
    <p:sldId xmlns:r="http://schemas.openxmlformats.org/officeDocument/2006/relationships" id="267" r:id="Rb28eb7a87d9d45f9"/>
    <p:sldId xmlns:r="http://schemas.openxmlformats.org/officeDocument/2006/relationships" id="268" r:id="Rc6e5aca1c2ef4bf4"/>
    <p:sldId xmlns:r="http://schemas.openxmlformats.org/officeDocument/2006/relationships" id="269" r:id="R7e916ff718af49f7"/>
    <p:sldId xmlns:r="http://schemas.openxmlformats.org/officeDocument/2006/relationships" id="270" r:id="R76e57673795f4244"/>
    <p:sldId xmlns:r="http://schemas.openxmlformats.org/officeDocument/2006/relationships" id="271" r:id="R6a14f7a651ad4c4e"/>
    <p:sldId xmlns:r="http://schemas.openxmlformats.org/officeDocument/2006/relationships" id="272" r:id="R21c3ba054a0e45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ff82edbfd04c0f" /><Relationship Type="http://schemas.openxmlformats.org/officeDocument/2006/relationships/slideMaster" Target="/ppt/slideMasters/slideMaster1.xml" Id="Rf982d736e92d49b9" /><Relationship Type="http://schemas.openxmlformats.org/officeDocument/2006/relationships/notesMaster" Target="/ppt/notesMasters/notesMaster1.xml" Id="Rff80a0fb9f9742c7" /><Relationship Type="http://schemas.openxmlformats.org/officeDocument/2006/relationships/presProps" Target="/ppt/presProps.xml" Id="Rec7a14da909d4353" /><Relationship Type="http://schemas.openxmlformats.org/officeDocument/2006/relationships/tableStyles" Target="/ppt/tableStyles.xml" Id="R584228eab79f4640" /><Relationship Type="http://schemas.openxmlformats.org/officeDocument/2006/relationships/slide" Target="/ppt/slides/slide1.xml" Id="R7c0f06c624b3460f" /><Relationship Type="http://schemas.openxmlformats.org/officeDocument/2006/relationships/slide" Target="/ppt/slides/slide2.xml" Id="Rb100da0fedc84257" /><Relationship Type="http://schemas.openxmlformats.org/officeDocument/2006/relationships/slide" Target="/ppt/slides/slide3.xml" Id="Rf1b151e2c4dc4671" /><Relationship Type="http://schemas.openxmlformats.org/officeDocument/2006/relationships/slide" Target="/ppt/slides/slide4.xml" Id="R02b564ce991d4346" /><Relationship Type="http://schemas.openxmlformats.org/officeDocument/2006/relationships/slide" Target="/ppt/slides/slide5.xml" Id="Rff4752a3840842d7" /><Relationship Type="http://schemas.openxmlformats.org/officeDocument/2006/relationships/slide" Target="/ppt/slides/slide6.xml" Id="R16e303e5afd34a09" /><Relationship Type="http://schemas.openxmlformats.org/officeDocument/2006/relationships/slide" Target="/ppt/slides/slide7.xml" Id="R5e70f18e3c1248b2" /><Relationship Type="http://schemas.openxmlformats.org/officeDocument/2006/relationships/slide" Target="/ppt/slides/slide8.xml" Id="R3aa78e47520447ae" /><Relationship Type="http://schemas.openxmlformats.org/officeDocument/2006/relationships/slide" Target="/ppt/slides/slide9.xml" Id="R9a33b91c96f645ab" /><Relationship Type="http://schemas.openxmlformats.org/officeDocument/2006/relationships/slide" Target="/ppt/slides/slide10.xml" Id="Rd55ad061047a4a93" /><Relationship Type="http://schemas.openxmlformats.org/officeDocument/2006/relationships/slide" Target="/ppt/slides/slide11.xml" Id="R52f4a5e27d874886" /><Relationship Type="http://schemas.openxmlformats.org/officeDocument/2006/relationships/slide" Target="/ppt/slides/slide12.xml" Id="Rb28eb7a87d9d45f9" /><Relationship Type="http://schemas.openxmlformats.org/officeDocument/2006/relationships/slide" Target="/ppt/slides/slide13.xml" Id="Rc6e5aca1c2ef4bf4" /><Relationship Type="http://schemas.openxmlformats.org/officeDocument/2006/relationships/slide" Target="/ppt/slides/slide14.xml" Id="R7e916ff718af49f7" /><Relationship Type="http://schemas.openxmlformats.org/officeDocument/2006/relationships/slide" Target="/ppt/slides/slide15.xml" Id="R76e57673795f4244" /><Relationship Type="http://schemas.openxmlformats.org/officeDocument/2006/relationships/slide" Target="/ppt/slides/slide16.xml" Id="R6a14f7a651ad4c4e" /><Relationship Type="http://schemas.openxmlformats.org/officeDocument/2006/relationships/slide" Target="/ppt/slides/slide17.xml" Id="R21c3ba054a0e45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107aa2865d47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53d3ea71d04f14" /><Relationship Type="http://schemas.openxmlformats.org/officeDocument/2006/relationships/notesMaster" Target="/ppt/notesMasters/notesMaster1.xml" Id="Rbba83e3724de4a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5ee5f1297e45a4" /><Relationship Type="http://schemas.openxmlformats.org/officeDocument/2006/relationships/notesMaster" Target="/ppt/notesMasters/notesMaster1.xml" Id="R1f44b3743afc4e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26f6fde1954d0f" /><Relationship Type="http://schemas.openxmlformats.org/officeDocument/2006/relationships/notesMaster" Target="/ppt/notesMasters/notesMaster1.xml" Id="R920a0ada3bcd46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36bda836dc4c21" /><Relationship Type="http://schemas.openxmlformats.org/officeDocument/2006/relationships/notesMaster" Target="/ppt/notesMasters/notesMaster1.xml" Id="Rbc0d80268d6c4a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ae2bff8c844e19" /><Relationship Type="http://schemas.openxmlformats.org/officeDocument/2006/relationships/notesMaster" Target="/ppt/notesMasters/notesMaster1.xml" Id="R3dfb7dd0193b44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76a052b1d342f7" /><Relationship Type="http://schemas.openxmlformats.org/officeDocument/2006/relationships/notesMaster" Target="/ppt/notesMasters/notesMaster1.xml" Id="Rb1a5621c25664c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bbc851f0be4440" /><Relationship Type="http://schemas.openxmlformats.org/officeDocument/2006/relationships/notesMaster" Target="/ppt/notesMasters/notesMaster1.xml" Id="R7da5286b918b45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2f55bef74a4e7a" /><Relationship Type="http://schemas.openxmlformats.org/officeDocument/2006/relationships/notesMaster" Target="/ppt/notesMasters/notesMaster1.xml" Id="R290c35922f9c4e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c9a68a578b4cc7" /><Relationship Type="http://schemas.openxmlformats.org/officeDocument/2006/relationships/notesMaster" Target="/ppt/notesMasters/notesMaster1.xml" Id="Reae83758c4154e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aebccbaabb40e9" /><Relationship Type="http://schemas.openxmlformats.org/officeDocument/2006/relationships/notesMaster" Target="/ppt/notesMasters/notesMaster1.xml" Id="R234f42c889a343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92583bb2364db9" /><Relationship Type="http://schemas.openxmlformats.org/officeDocument/2006/relationships/notesMaster" Target="/ppt/notesMasters/notesMaster1.xml" Id="R5cb7bbd0d36d4a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e6e7990d354d56" /><Relationship Type="http://schemas.openxmlformats.org/officeDocument/2006/relationships/notesMaster" Target="/ppt/notesMasters/notesMaster1.xml" Id="Rdcfd9322924145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d2f011d10148f0" /><Relationship Type="http://schemas.openxmlformats.org/officeDocument/2006/relationships/notesMaster" Target="/ppt/notesMasters/notesMaster1.xml" Id="Ra9abfa34796f4b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64cfa602ce45bc" /><Relationship Type="http://schemas.openxmlformats.org/officeDocument/2006/relationships/notesMaster" Target="/ppt/notesMasters/notesMaster1.xml" Id="R42f8881a172840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636bba7fa84743" /><Relationship Type="http://schemas.openxmlformats.org/officeDocument/2006/relationships/notesMaster" Target="/ppt/notesMasters/notesMaster1.xml" Id="R5e52e0f6bbc54d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a9c77b8406471c" /><Relationship Type="http://schemas.openxmlformats.org/officeDocument/2006/relationships/notesMaster" Target="/ppt/notesMasters/notesMaster1.xml" Id="R5bf0aa0cbc3447f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009bd3884946d1" /><Relationship Type="http://schemas.openxmlformats.org/officeDocument/2006/relationships/notesMaster" Target="/ppt/notesMasters/notesMaster1.xml" Id="Rfa08903ba5b14a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30s</a:t>
            </a:r>
          </a:p>
          <a:p xmlns:a="http://schemas.openxmlformats.org/drawingml/2006/main">
            <a:r>
              <a:t>Meu trabalho parte de uma ideia do artigo de Eichenbaum, Johannsen e Rebelo: o câmbio real pode conter informação sobre o câmbio nominal futuro. Eu verifico a relação da aula, testo se ela melhora uma estratégia de carry e investigo o papel de commodities e do comércio. A tentativa mais direta de carteira falhou. Os resultados posteriores sugerem alguma utilidade para controlar a exposição, com limitações importantes.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três objetos diferentes ao longo da apresentação. A replicação procura reproduzir uma relação econômica do artigo. A previsão avalia erros em observações futuras. O backtest calcula o resultado de uma regra de investimento, incluindo juros e câmbio. Um sucesso no primeiro objeto não implica sucesso nos seguintes. O projeto percorreu essas etapas e encontrou tanto fracassos quanto resultados históricos promissores.</a:t>
            </a:r>
          </a:p>
          <a:p xmlns:a="http://schemas.openxmlformats.org/drawingml/2006/main">
            <a:r>
              <a:t>Fontes: Artigo EJR, introdução; synthesis/README.md</a:t>
            </a:r>
          </a:p>
          <a:p xmlns:a="http://schemas.openxmlformats.org/drawingml/2006/main">
            <a:r>
              <a:t>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Uma diferença persistente de preços relativos pode se ajustar pelo câmbio nominal ou pela inflação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Câmbio nominal é a cotação que vemos no mercado. Câmbio real também considera o que os preços fizeram nos dois países. Por exemplo, se os preços brasileiros sobem relativamente aos americanos e a cotação não muda, o real fica mais caro em termos reais. O artigo pergunta como esse tipo de diferença se ajusta. Nos países com metas de inflação estudados, o câmbio real ajuda a prever o nominal futuro, mas prevê pouco a inflação. A intuição é que, quando os preços estão mais ancorados, parte maior do ajuste pode aparecer na cotação. O artigo também estima um modelo estrutural. Meu exercício reproduz a parte preditiva e o exemplo da aula, sem reestimar esse modelo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Câmbio nominal S é o preço do dólar em moeda local. No Brasil, S = 5 significa R$ 5 por US$ 1. O câmbio real Q = S × P_US / P_local ajusta essa cotação pelos níveis de preços das duas economias. Trabalhamos com o logaritmo q. Quando q sobe, a moeda local sofre depreciação real, ficando relativamente barata. Essa classificação depende da referência histórica, não de um valor justo conhecido. A identidade implica que a mudança real soma a mudança nominal à inflação americana menos a inflação local. Se a inflação relativa responde pouco, o ajuste tende a aparecer mais no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fórmula em palavras, sem demonstrá-la. Depois explique os dois achados do artigo: capacidade preditiva para câmbio nominal em países com metas de inflação e pouca capacidade para inflação futura. EJR é apenas a sigla dos sobrenomes dos três autores.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identidade contábil não prova reversão à média nem identifica o efeito causal das metas de inflação. Não diga que toda moeda barata necessariamente valoriza.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Câmbio real é a cotação descontada do IPCA brasileiro? Não. Ele envolve preços relativos entre duas economias, com uma convenção definida para a cotação.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verificação foi reproduzir a relação mostrada na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Artigo EJR, resumo e introdução</a:t>
            </a:r>
          </a:p>
          <a:p xmlns:a="http://schemas.openxmlformats.org/drawingml/2006/main">
            <a:r>
              <a:t>src/models.py: features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A replicação brasileira recupera a inclinação de oito anos da aula, aproximadamente −1,808.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gráfico, cada ponto é um mês brasileiro. À direita estão momentos de maior depreciação real. Para baixo estão apreciações nominais nos oito anos seguintes. A relação é claramente negativa, e a inclinação de menos 1,808 praticamente reproduz o número da aula. O R² é alto, cerca de 88%. Mas esse resultado descreve o ajuste da relação na amostra histórica. Não significa que o modelo acerta 88% das operações. Além disso, previsões feitas em dois meses vizinhos usam quase os mesmos oito anos seguintes, então os pontos não são evidências independentes. A próxima etapa é perguntar se essa relação ajuda quando eu realmente escondo o futuro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relaciona o desvio do câmbio real em um mês à mudança do log da cotação nos oito anos seguintes. O eixo horizontal usa q menos sua média no exercício histórico. O eixo vertical usa log(S daqui a oito anos / S hoje). Um valor vertical negativo representa apreciação nominal da moeda local. A inclinação negativa indica que meses de real mais depreciado se associaram a apreciação posterior. O R² mede a fração da variação do alvo explicada pelo ajuste dentro da amostra. Não é a probabilidade de acertar uma previsão nem uma medida de rentabilidade.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Comece pelos eixos. Aponte a inclinação descendente. Só então diga que o coeficiente de −1,808 praticamente coincide com o valor da aula e que o R² é 0,883. Há 280 origens mensais, de janeiro de 1995 a abril de 2018, com resultados até abril de 2026. As observações compartilham muitos dos mesmos meses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usa ajuste dentro da amostra. Não o apresente como uma previsão produzida em tempo real ou como replicação integral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coeficiente é menor que −1? A regressão permite esse valor no horizonte longo. Isso não significa retorno mensal de 180% ou convergência garantida. É uma relação entre mudanças e desvios 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Reproduzir a relação histórica e prever dados futuros são testes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output/tables/classroom_replication.csv</a:t>
            </a:r>
          </a:p>
          <a:p xmlns:a="http://schemas.openxmlformats.org/drawingml/2006/main">
            <a:r>
              <a:t>data/processed/classroom.csv</a:t>
            </a:r>
          </a:p>
          <a:p xmlns:a="http://schemas.openxmlformats.org/drawingml/2006/main">
            <a:r>
              <a:t>Macro_Aplicada_2026_shared/Slides/Macro_Aplicada_aula_8.pdf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No painel de seis moedas, a previsão EJR de cinco anos não superou a previsão de nenhuma mudança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o modelo usa apenas a história admissível em cada data. Para avaliar uma previsão de cinco anos, também preciso esperar o alvo terminar antes de usá-lo no treinamento. A comparação é com uma regra muito simples: a cotação daqui a cinco anos será igual à de hoje. O erro dessa regra vale um na tabela. O erro do modelo EJR é 1,037, um pouco maior. Isso não contradiz mecanicamente o gráfico anterior: mudaram a pergunta, o horizonte e o universo, que agora reúne seis moedas. A conclusão é mais limitada: nesta implementação, a relação histórica forte não virou uma melhora agregada de previsão.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Fora da amostra significa estimar com informação admissível até a data da previsão e avaliar depois. O benchmark de nenhuma mudança prevê que a cotação futura será igual à atual. É o passeio aleatório sem drift para a previsão de nível. O erro usado é a raiz da média dos erros ao quadrado, RMSE. Dividir o erro do modelo pelo erro do benchmark permite uma leitura simples: abaixo de 1 melhora, acima de 1 piora. O resultado 1,037 corresponde a um erro aproximadamente 3,7% maior. A previsão é para cinco anos à frente, não para o próximo mês.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Mostre que o benchmark tem erro relativo 1 por definição e que EJR está ligeiramente acima. São BRL, EUR, JPY, GBP, CAD e SEK, sempre em relação ao dólar. As 140 datas de previsão vão de janeiro de 2010 a agosto de 2021, porque os últimos resultados de cinco anos terminam em agosto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Chamamos de pseudo fora da amostra: há defasagens e controles de calendário, mas as bases disponíveis contêm revisões históricas. Não prometa dados integralmente point-in-time.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840 observações não garantem precisão? São seis moedas em 140 datas com alvos sobrepostos de 60 meses. Há dependência entre datas e entre países.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Mesmo assim, uma previsão imperfeita pode ter valor econômico. Foi isso que eu testei com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output/tables/forecast_accuracy.csv</a:t>
            </a:r>
          </a:p>
          <a:p xmlns:a="http://schemas.openxmlformats.org/drawingml/2006/main">
            <a:r>
              <a:t>AUDITORIA.md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segundos.</a:t>
            </a:r>
          </a:p>
          <a:p xmlns:a="http://schemas.openxmlformats.org/drawingml/2006/main">
            <a:r>
              <a:t>Ideia central: Comparar escolher posições pelo diferencial de juros com escolher pelo diferencial de juros mais a valorização cambial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Eu comparei duas formas de escolher as posições. A primeira olha apenas para quais moedas pagam mais juros. A segunda acrescenta a valorização cambial prevista pelo modelo. Nas duas, o retorno realizado inclui tanto os juros quanto a mudança do câmbio. O que muda é a informação usada para escolher a carteira. O risco é que a desvalorização da moeda consuma o juro recebido. Neste exemplo, ganhar 10% no ativo e pagar 3% no financiamento parece oferecer uma folga de 7%, mas uma queda de 8% da moeda já produz perda. No backtest, calculo o retorno combinado de forma exata, incluindo a interação e os custos. A previsão de cinco anos apenas orienta a decisão, sem garantir o caminho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Carry ou carrego é a remuneração associada ao diferencial de juros de uma posição financiada em outra moeda. Comprar uma moeda envolve um ativo nessa moeda, como um depósito, enquanto a outra ponta financia a operação. O projeto usa proxies de aplicações de curto prazo, não retornos de bolsa ou títulos longos. Quem compra a moeda de juros altos ganha com apreciação dessa moeda e perde com sua depreciação. No painel, cada regra compra as duas moedas de maior sinal e vende as duas de menor sinal, com 25% de notional em cada ponta. A soma dos valores absolutos é 100% e a exposição líquida é zero. Há caixa em dólar como colateral.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aproximação de retorno: diferencial de juros mais valorização da moeda comprada, menos custos. O exemplo é hipotético: ativo rende 10%, financiamento custa 3% e a moeda comprada cai 8% em dólar. O resultado exato antes de custos é 1,10 × 0,92 − 1,03 = −1,8% sobre o notional. A soma simples daria −1%, pois ignora a interação entre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‘Carry sozinho’ significa sinal baseado só em juros. Não significa retorno sem câmbio. O retorno líquido não é apenas uma soma exata de duas parcelas.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estratégia compra dólar ou bolsa americana? Aqui o dólar é o numerário e o caixa de colateral. As posições cambiais usam aplicações curtas e financiamento nas moedas. Ações americanas seriam outro risco e outro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tentativa foi simples, e o resultado foi pior que o carry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src/models.py: run_book e rank_weights</a:t>
            </a:r>
          </a:p>
          <a:p xmlns:a="http://schemas.openxmlformats.org/drawingml/2006/main">
            <a:r>
              <a:t>report/relatorio.tex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O carry com previsão rendeu menos e teve Sharpe menor, apesar de alguma redução do drawdown.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resultado da primeira proposta foi negativo. O carry por juros rendeu 4,11% ao ano, enquanto o ranking que acrescentou a previsão rendeu 2,73%. O Sharpe caiu de 0,60 para 0,31. Houve alguma redução da queda máxima, mas acompanhada de uma perda grande de remuneração. Portanto, esta implementação não sustenta a ideia de que basta somar a previsão cambial ao diferencial de juros para melhorar a carteira. Isso me levou a duas perguntas: a referência do câmbio real pode mudar com o comércio? E a informação pode ajudar a decidir quanto risco assumir, mesmo sem melhorar o ranking dos países?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Retorno anual composto, ou CAGR, transforma o crescimento acumulado em uma taxa anual constante equivalente. Volatilidade mede a dispersão dos retornos mensais, anualizada. Sharpe divide o retorno médio em excesso do caixa pelo risco desses excessos. Queda máxima, ou drawdown máximo, é a maior perda do patrimônio em relação ao pico anterior. Uma carteira pode ter drawdown menor e ainda ser uma pior troca entre remuneração e risco. As carteiras desta tabela usam a mesma janela e custos compatíveis.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Priorize apenas duas linhas: retorno anual de 4,11% contra 2,73% e Sharpe de 0,60 contra 0,31. As demais ajudam se houver pergunta. A tabela cobre março de 2010 a agosto de 2026, com 198 retornos mensais líquidos em dólar. Esses números não devem ser comparados diretamente aos resultados de 2018–2026 sem ajustar a janela.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fracasso é da regra específica testada. Não prova que toda previsão cambial seja inútil ou que o artigo esteja errado.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Se houve menos queda, por que chamar de fracasso? A proposta era melhorar a relação econômica de retorno e risco. A redução modesta do risco veio com retorno e Sharpe substancialmente menores.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Antes de testar novas carteiras, eu voltei à pergunta de previsão.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Uma mesma alta de commodities pode beneficiar um exportador e prejudicar um importador, alterando a referência econômica da moeda.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média histórica do câmbio real pode ser uma referência limitada. Imagine uma alta persistente do petróleo: o efeito econômico é diferente para um exportador líquido e para um importador líquido. Os termos de troca resumem a relação entre os preços do que o país vende e do que compra. Eu acrescentei preços de commodities e informações sobre a exposição comercial às regressões. A hipótese é que parte do aparente desvio cambial reflita uma mudança nos fundamentos. Aqui é importante separar três medidas: preços de commodities, termos de troca agregados e composição do comércio. Elas são relacionadas, mas não são a mesma variável. Nesta etapa, o resultado avaliado é apenas a previsão.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Termos de troca são a razão entre preços das exportações e preços das importações. Sua melhora significa que uma dada quantidade exportada compra mais importações. Isso é diferente de saldo comercial, que também depende de quantidades, e de composição comercial, que descreve o que o país compra e vende. Um índice de preços de commodities ponderado pela exposição comercial é uma proxy parcial desses incentivos. Ele não é automaticamente o índice agregado de termos de troca do país. A hipótese é que o câmbio real compatível com os fundamentos possa mudar, tornando a média histórica uma referência incompleta.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O exemplo de petróleo é ilustrativo: a alta tende a favorecer o exportador líquido e a encarecer a conta do importador líquido. Diga ‘pode’ ao falar do efeito cambial. A resposta depende também de importações, quantidades, política econômica e outros choques. Os testes seguintes só preveem variáveis, sem construir carteiras de commodities.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chame toda alta de commodity de melhora nos termos de troca. Não interprete mudanças em pesos comerciais medidos em valor como prova de mudança estrutural de quantidades.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teste identifica o câmbio de equilíbrio? Não. Estima relações preditivas condicionais. Um equilíbrio estrutural exigiria hipóteses e identificação adicionais.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extensão manteve o alvo do artigo: a mudança futura do câmbio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third/README.md</a:t>
            </a:r>
          </a:p>
          <a:p xmlns:a="http://schemas.openxmlformats.org/drawingml/2006/main">
            <a:r>
              <a:t>third/data/trade_weights.csv</a:t>
            </a:r>
          </a:p>
          <a:p xmlns:a="http://schemas.openxmlformats.org/drawingml/2006/main">
            <a:r>
              <a:t>trade_extension/build_report.py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85 segundos.</a:t>
            </a:r>
          </a:p>
          <a:p xmlns:a="http://schemas.openxmlformats.org/drawingml/2006/main">
            <a:r>
              <a:t>Ideia central: A extensão nominal reduz o erro na janela completa, mas perde para nenhuma mudança nas origens mais recentes.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a extensão mais próxima do exercício original. O alvo continua sendo a mudança do câmbio nominal em cinco anos. Eu mantenho o desvio real e adiciono preços de commodities, separando o componente global da exposição específica do país. Na janela completa, o erro cai para 0,890, abaixo de um. Isso é um resultado preditivo interessante. Mas a conclusão muda no recorte recente: o erro sobe para 1,630. A extensão ainda melhora sobre o EJR, porém já perde para a previsão de nenhuma mudança. A vantagem sobre o benchmark também desaparece na sensibilidade sem o real brasileiro. Portanto, há informação potencial, mas ela depende bastante da amostra e do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extensão mantém a lógica da regressão EJR: prever a mudança do log da cotação em 60 meses a partir do desvio real. Acrescenta um componente global de preços reais de commodities e um componente específico da exposição comercial de cada país. Os pesos desse exercício usam 1994–1996, antes da avaliação, e os preços entram defasados. Energia, alimentos, matérias-primas e metais compõem os grupos. O modelo ampliado continua sendo uma regressão preditiva. Não atribui causalmente a cada commodity uma valorização da moeda.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Cada coluna normaliza o erro da previsão de nenhuma mudança para 1. Na janela completa, EJR tem 1,037 e EJR com commodities tem 0,890: queda de aproximadamente 11% frente ao benchmark e 14% frente ao EJR. Nas origens de 2019 a agosto de 2021, a extensão tem erro 1,630: melhora relativamente ao EJR, mas perde para nenhuma mudança. As colunas contêm 140 e 32 origens mensais, respectivamente, com alvos de cinco anos sobrepostos.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‘Reduziu o erro’ precisa sempre nomear o benchmark e a janela. Não use a melhora sobre um modelo fraco como prova de previsibilidade robusta.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ganho desaparece sem BRL? O resultado é heterogêneo e o Brasil contribui bastante para a melhora agregada. Isso pede validação externa, não escolha retrospectiva de países vencedores.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Também testei uma pergunta diferente: prever o próprio câmbio real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third/tables/metrics.csv: B_FX_60, REJR_Specific, benchmark EJR</a:t>
            </a:r>
          </a:p>
          <a:p xmlns:a="http://schemas.openxmlformats.org/drawingml/2006/main">
            <a:r>
              <a:t>third/tables/sensitivity.csv</a:t>
            </a:r>
          </a:p>
          <a:p xmlns:a="http://schemas.openxmlformats.org/drawingml/2006/main">
            <a:r>
              <a:t>third/engine.py: ejr_extension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A informação comercial melhora um pouco a regressão de câmbio real, mas não supera a previsão de nenhuma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eu mudo a pergunta. Em vez de prever o câmbio nominal, tento prever a mudança do câmbio real em cinco anos. A informação comercial reduz o erro da regressão base de 2,20 para 2,08. É uma pequena melhora relativa, mas ambos os modelos perdem bastante para nenhuma mudança, que vale um. Os testes com termos de troca agregados anuais também não estabeleceram uma solução robusta e têm uma amostra ainda menor. Assim, não consigo defender que aprendi a prever de forma confiável uma nova referência real de longo prazo. Esse resultado negativo ajuda a limitar o que posso dizer sobre os fundamentos.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Agora o alvo muda: antes era a cotação nominal, agora é q daqui a cinco anos menos q hoje. A regressão base contém nível real centrado e sua mudança passada. A extensão adiciona o índice de preços comerciais com pesos que se atualizam usando informações históricas defasadas, além da variação passada desse índice. Para comparar modelos, a base é reestimada nas mesmas observações disponíveis para a extensão. Esse cuidado evita atribuir às novas variáveis uma melhora causada apenas por mudança de amostra.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previsão de nenhuma mudança real tem erro relativo 1. A base tem 2,20 e a extensão com preços e pesos comerciais tem 2,08. São 104 origens de janeiro de 2013 a agosto de 2021. A redução em relação à regressão base é aproximadamente 5%, mas o erro continua mais que o dobro do benchmark simples. Não compare esses níveis de erro diretamente aos do slide anterior: o alvo e a amostra são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número 2,08 é razão de erro, não previsão de depreciação de 208%. A proxy comercial mensal e os termos de troca agregados anuais são testes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 a hipótese de mudança no equilíbrio? Continua economicamente plausível, mas estes resultados preditivos não a estabelecem nem identificam um novo valor de equilíbrio.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Com previsões frágeis, eu passei a testar decisões de exposição mais específicas.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trade_extension/tables/prediction_metrics.csv: real_60</a:t>
            </a:r>
          </a:p>
          <a:p xmlns:a="http://schemas.openxmlformats.org/drawingml/2006/main">
            <a:r>
              <a:t>trade_extension/analyze.py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110 segundos.</a:t>
            </a:r>
          </a:p>
          <a:p xmlns:a="http://schemas.openxmlformats.org/drawingml/2006/main">
            <a:r>
              <a:t>Ideia central: A combinação posterior mantém a lógica de carry e usa sinais para dimensionar, permitir ou encerrar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mudança foi usar a informação para controlar o carry. O primeiro módulo decide quanto investir: reduz a posição quando a remuneração prevista está fraca e evita mudanças comerciais extremas. O segundo decide quando entrar: exige uma remuneração prevista mínima e evita movimentos comerciais adversos. O terceiro decide quando sair: abre pequenas parcelas ao longo dos meses, com prazo máximo de um ano, e encerra antes quando a informação comercial indica risco adicional relevante de o câmbio consumir os juros. Esse risco adicional compara o modelo com comércio ao modelo base, respeitando a direção original da posição. Eu combino os três com pesos iguais. Essas regras já são mais complexas e foram escolhidas depois de explorar a história, então os resultados seguintes precisam ser tratados como exploratórios.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módulo A reduz o tamanho do carry quando o retorno previsto é baixo em relação à referência passada e elimina pares com mudança comercial observada muito alta. O módulo B só entra se o retorno previsto anualizado, suavizado por seis meses, superar 2%, e evita pares com movimento adverso forte dos preços comerciais. O módulo C distribui entradas mensais em parcelas, cada uma com duração máxima de 12 meses, e antecipa a saída quando o modelo com composição comercial indica aumento relevante do risco de o câmbio consumir os juros, relativamente ao modelo base. Os limites de eventos extremos usam o percentil 80 da história passada. A combinação usa um terço dos pesos de cada módulo e calcula custos após agregar as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cada linha como uma decisão concreta: quanto comprar, quando entrar, quando sair. Dê mais tempo ao terceiro módulo. Uma ‘coorte’ é simplesmente o lote de posições aberto em um mês. Cada lote tem orçamento limitado, em vez de multiplicar a exposição ao somar vários meses. Os pares retirados saem com as duas pontas, preservando a neutralidade líquida.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sinal de risco adicional é uma diferença entre modelos, não simplesmente a mudança mensal de uma probabilidade. Não chame a combinação de modelo ótimo ou escolhido em uma amostra totalmente intocada.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pesos iguais? É uma combinação simples, que evita otimizar os pesos para o maior Sharpe. Ainda assim, a escolha dos componentes já usa aprendizados da história examinada.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Para comparar, eu coloco o carry e a combinação exatamente nas mesmas datas.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synthesis/model.py: make_policies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synthesis/EXPLORATION.md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segundos.</a:t>
            </a:r>
          </a:p>
          <a:p xmlns:a="http://schemas.openxmlformats.org/drawingml/2006/main">
            <a:r>
              <a:t>Ideia central: Entre abril de 2018 e agosto de 2026, a combinação apresentou retorno semelhante ao carry com menor volatilidade e menor exposição.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janela comum, o retorno anual ficou próximo: 5,78% no carry e 5,94% na combinação. A diferença mais visível aparece no risco: a volatilidade caiu de 4,11% para 2,33% e a queda máxima observada caiu de 9,09% para 1,43%. O Sharpe aumentou. Mas existe uma explicação importante: a combinação carregou, em média, apenas 48% de exposição bruta. Parte do resultado vem simplesmente de assumir menos risco e permanecer mais em caixa. Eu fiz controles de exposição, mas eles não eliminam toda a incerteza sobre a vantagem. O que posso mostrar é uma trajetória histórica mais estável, sem afirmar uma rentabilidade superior garantida.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janela comum começa quando todos os módulos já podem funcionar. Tem 101 retornos mensais. O retorno total inclui remuneração do caixa em dólar, contribuições dos ativos e financiamento, além de custos assumidos. O Sharpe usa excesso sobre o caixa. Exposição bruta é a soma do valor absoluto das posições dividida pelo patrimônio. A combinação teve exposição bruta média de 48%, contra 100% do carry. Isso explica parte da queda de risco e deve aparecer ao lado das métricas, não como ressalva escondida.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retorno anual de 5,78% e 5,94%: são próximos. Depois destaque volatilidade de 4,11% e 2,33%, e queda máxima de 9,09% e 1,43% em magnitude. Termine obrigatoriamente na exposição de 100% e 48%. O Sharpe sobe de 0,75 para 1,37. Os sinais negativos na linha de queda máxima representam perdas em relação ao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diferença de retorno de 0,16 ponto percentual de CAGR é pequena. Não apresente o Sharpe observado como prova estatística de alfa.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Bastava investir metade no carry? O controle retrospectivo com exposição média de 48% rendeu 4,18% ao ano e teve queda máxima de 4,02%, contra 5,94% e 1,43% da combinação. Isso é diagnóstico útil, mas usa a média conhecida depois e não prova superioridade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trajetória do patrimônio ajuda a visualizar essa diferença de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synthesis/tables/metrics.csv: common, all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O patrimônio final é parecido, mas o carry apresenta perdas e recuperações mais pronunciadas.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todas as estratégias começam em 100. O ponto final do carry e da combinação é próximo, mas o caminho é diferente. O carry atravessa uma queda mais pronunciada em torno de 2020, enquanto a combinação mantém uma trajetória mais estável nessa janela. O painel de baixo mostra a perda em relação ao pico anterior. A linha do caixa lembra que parte do retorno total vem da remuneração em dólar, mesmo quando a exposição cai. Esta figura ajuda a entender por que duas carteiras com retorno final parecido podem ter riscos bastante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gráfico acumula retornos mensais líquidos. Cada estratégia começa com patrimônio 100 imediatamente antes do primeiro retorno da janela. Um nível 160 significa crescimento acumulado de aproximadamente 60%, não retorno anual de 60%. A linha de caixa é a referência em dólar. A linha inferior mede a perda percentual desde o maior patrimônio já alcançado. Ela volta a zero quando a estratégia recupera ou supera o pico anterior. A amostra começa com a formação gradual das parcelas do módulo de permanência.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Aponte a trajetória, sem tentar explicar cada oscilação. A queda do carry em torno de 2020 é mais visível que a da combinação. O painel de perdas mostra a profundidade em relação ao pico. Como o retorno final é semelhante, este slide reforça que o achado principal é a suavização histórica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gráfico descreve o que ocorreu. Ele não identifica que um filtro específico causou cada diferença durante uma crise.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começar em 100? É uma normalização para comparar trajetórias. Multiplicar o patrimônio inicial não muda as taxas de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Também vale separar contabilmente o que veio dos juros e o que veio do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synthesis/tables/returns.csv.gz: common</a:t>
            </a:r>
          </a:p>
          <a:p xmlns:a="http://schemas.openxmlformats.org/drawingml/2006/main">
            <a:r>
              <a:t>synthesis/tables/metrics.csv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Na combinação, a menor exposição reduziu o recebimento de juros, enquanto a contribuição cambial histórica melhorou.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decomposição contábil ajuda a entender o resultado. A combinação recebeu menos contribuição de juros, o que faz sentido porque operou com menor exposição. Em compensação, teve contribuição cambial maior na amostra. Isso manteve o excesso médio de retorno próximo ao do carry, com menos risco. Mas ficar de fora também tem custo: em 2019, a combinação ganhou pouco acima do caixa e ficou bastante atrás do carry. Em 2020 e 2021, ocorreu o contrário. Portanto, os filtros podem proteger em alguns episódios e deixar ganhos para trás em outros. Essa alternância é parte do resultado, não uma exceção a esconder.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atribuição divide a média mensal do retorno em excesso em parcelas contábeis e multiplica por 12. Os valores são pontos percentuais de contribuição anual, não CAGRs separáveis. Carry: câmbio 0,74 p.p. e juros 2,62 p.p. Combinação: câmbio 1,82 p.p. e juros 1,50 p.p. Interação, spread de financiamento e custos completam a conta. O excesso médio total é aproximadamente 3,07% e 3,17% ao ano, respectivamente. Isso é consistente com melhor seleção de exposição na história, mas não identifica um mecanismo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as barras de cada componente. A remuneração de juros cai na combinação, enquanto a contribuição de câmbio sobe. Diga que os componentes mostrados não somam o retorno composto da tabela anterior. Para ilustrar custo de oportunidade, em 2019 o excesso médio anualizado da combinação foi 0,40%, contra 3,83% do carry. Em 2020–2021, foi 2,39% contra −1,43%.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some 1,82% e 1,50% para chegar ao CAGR de 5,94%. A tabela de CAGR inclui caixa e composição. A atribuição usa médias aritméticas do excesso e ainda desconta outras parcelas.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resultado vem só do carrego? Não. As duas estratégias recebem juros e carregam risco cambial. A combinação mudou a exposição a essas duas fontes de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Os resultados são interessantes, mas há limites claros para a interpretação.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synthesis/tables/attribution.csv</a:t>
            </a:r>
          </a:p>
          <a:p xmlns:a="http://schemas.openxmlformats.org/drawingml/2006/main">
            <a:r>
              <a:t>synthesis/tables/episodes.csv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Há uma melhora histórica de risco, mas a pesquisa ainda não estabelece uma vantagem generalizável de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principal limitação é que os módulos foram escolhidos após explorar essa mesma história. Eu cuidei para que as decisões mensais não usassem o futuro, mas isso não transforma o resultado em uma validação independente da escolha das regras. O desempenho também depende bastante do Brasil e do iene, e a menor exposição explica parte da queda de risco. Os testes corrigidos para as alternativas principais não sustentam ganho de retorno médio sobre o carry. Finalmente, taxas oficiais e séries revisadas são aproximações da informação e dos preços disponíveis para um investidor. Por isso, a próxima validação teria de congelar as regras e acompanhar dados futuros e custos executáveis.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Vazamento temporal ocorre quando a decisão usa informação que só seria conhecida depois. O projeto controla defasagens, maturação dos alvos e atraso de execução. Seleção de modelos é outro problema: depois de testar muitas ideias, as que parecem melhores podem ser apenas as que tiveram sorte nessa história. Um backtest pode respeitar o calendário e ainda sofrer com seleção retrospectiva. Além disso, os dados macroeconômicos disponíveis foram revisados e as taxas são proxies, não cotações executáveis. A dependência de países também limita a generalização.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quatro limites em linguagem simples: mesma história explorada, exposição menor, concentração por país e dados sem todas as versões históricas. A atribuição de BRL e JPY representa cerca de 86% da contribuição por moeda antes de custos de negociação. Na sensibilidade sem BRL, o excesso da combinação cai de 3,17% para aproximadamente 0,65% ao ano. O teste corrigido para a grade principal não estabelece ganho de retorno médio sobre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Evite ‘não houve nenhum vazamento’ como certificação absoluta. Diga quais controles existem e quais limitações permanecem.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Então o trabalho não tem valor? Tem. Reproduz a relação da aula, mostra onde extensões preditivas falham e documenta uma hipótese de controle de risco com resultados e limites transparentes.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Com esses limites, a conclusão fica mais simples e mais defensável.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synthesis/tables/search_adjustment.csv</a:t>
            </a:r>
          </a:p>
          <a:p xmlns:a="http://schemas.openxmlformats.org/drawingml/2006/main">
            <a:r>
              <a:t>synthesis/tables/robustness.csv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AUDITORIA.md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A relação econômica se replica, a extensão preditiva é instável e o uso mais promissor apareceu no controle da exposição ao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trabalho deixa três aprendizados. A relação histórica da aula aparece na replicação. Commodities acrescentam informação em alguns testes, mas a capacidade preditiva depende da amostra. E a primeira tentativa de carteira falhou, enquanto o uso da informação para controlar a exposição produziu resultados históricos de risco mais favoráveis. A hipótese que merece continuidade é essa utilidade para a gestão da posição. Para transformá-la em uma conclusão de mercado, seria necessário validar regras congeladas em dados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conclusão deve separar o que foi reproduzido do que ficou como hipótese. Primeiro, a relação histórica brasileira apresentada na aula foi recuperada. Segundo, acrescentar commodities melhora uma comparação nominal, mas não de forma estável, e prever a mudança real continua difícil. Terceiro, somar a previsão ao ranking falhou, enquanto regras de exposição apresentaram risco histórico menor. Nenhuma dessas etapas prova arbitragem, ganho causal de uma variável ou alfa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Este é o fechamento. Não abra novos resultados e não leia uma lista de números. Reforce uma frase final: informação macroeconômica pode ser útil para decidir a exposição, mas o valor econômico precisa ser testado separadamente da qualidade da regressão.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Encerre aqui. Os dois slides seguintes são apenas apoio para perguntas e não fazem parte dos 20 minutos.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Qual é a contribuição em uma frase? Separar uma regularidade cambial replicável de seu valor preditivo e mostrar que o controle de exposição é uma hipótese econômica mais promissora que o ranking direto nesta amostra.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Obrigado. Posso detalhar a metodologia ou os resultados nas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Relatórios original, terciário, termos de troca e síntese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A regressão nominal usa o desvio real e, na extensão, informações de preços comerciais disponíveis na origem.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a forma simplificada das regressões. A variável prevista é a mudança futura do log da cotação. A base usa o desvio do câmbio real. A extensão mantém esse regressor e adiciona informação global e específica de commodities. O cuidado temporal principal é que um alvo só entra no treinamento depois de terminar. Não treino uma previsão de cinco anos com resultados que ainda não poderiam ser conhecidos.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EJR implementado, Δs(t,t+h) = β_h × [q_t − média histórica de q] + erro, com coeficiente agrupado e sem intercepto adicional. A média é calculada com dados disponíveis na origem. A extensão adiciona níveis centrados do componente global de preços reais de commodities e da exposição específica do país. Cada regressão em t só usa alvos j+h que terminaram até t−1. A observação atual do CPI entra com dois meses de atraso. Pesos fixos comerciais do exercício nominal usam 1994–1996. A previsão mensal usada no sinal de carry é a previsão de Δs em 60 meses dividida por 60, uma aproximação de ritmo médio, não uma trajetória estimada.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Use somente se houver pergunta técnica. Explique cada letra antes de interpretar o coeficiente. Na extensão, β, γ e δ são estimados em conjunto, sem impor que o coeficiente EJR original permaneça fixo.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equação simplificada do slide omite índices de país para legibilidade. O exercício de dispersão da aula tem ajuste dentro da amostra e intercepto, diferentemente da previsão agrupada.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Há identificação causal? Não. Há uma avaliação preditiva condicional. Não usamos uma fonte exógena de variação para identificar um efeito causal de commodities.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 segundo apoio detalha a comparação econômica e o calendário de negociação.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third/engine.py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Comparações econômicas precisam manter datas, numerário e custos consistentes, além de distinguir controle retrospectivo de estratégia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controle com o mesmo tamanho médio ajuda a separar exposição e seleção. Ele tem volatilidade até um pouco menor que a combinação, mas retorno menor e drawdown maior na história. Como usa a exposição média conhecida ao final, eu o trato como diagnóstico. Os retornos da simulação incluem juros, variação cambial e os custos definidos, sempre em dólar. Para execução real ainda faltariam cotações negociáveis, vintages históricas e outras fricções específicas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controle retrospectivo, o carry é escalado pela exposição média realizada da combinação, conhecida ao final. Serve para investigar quanto da melhora decorre de menor tamanho, não como regra que poderia ser escolhida antecipadamente. O controle estimado apenas com história passada tem outra exposição média e não iguala ex post o risco. O backtest calcula o ativo local em dólar como (1+i_local) × S_anterior/S_atual − 1. Soma o caixa USD e o resultado das posições, descontando financiamento adicional e negociação. Custos por notional: 10 pontos-base para BRL, 3 para SEK e 2 para as demais moedas, além de 50 pontos-base anuais de spread na ponta vendida. Um ponto-base é 0,01 ponto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compara, em 2018–2026, carry a 100%, carry reduzido retrospectivamente a 48% e combinação. O calendário é sinal no fechamento de t, execução no fechamento de t+1 e primeiro retorno em t+2. As taxas curtas são proxies, não contratos a termo efetivamente negociados.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Drawdown é uma estatística da trajetória observada, não um limite de perda futura. Custos assumidos não são custos garantidos para qualquer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não é arbitragem? Porque há risco de perda, incerteza de convergência e custos de financiamento. Nenhum resultado positivo é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Esses detalhes sustentam a leitura cautelosa dos resultados principais.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src/models.py: run_book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de765a2b24b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a537f9d2ee42ef" /><Relationship Type="http://schemas.openxmlformats.org/officeDocument/2006/relationships/slideLayout" Target="/ppt/slideLayouts/slideLayout1.xml" Id="R67d684fe6f944a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d684fe6f944a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460caf384402a" /><Relationship Type="http://schemas.openxmlformats.org/officeDocument/2006/relationships/notesSlide" Target="/ppt/notesSlides/notesSlide1.xml" Id="R441fb7b9028e47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4cfdd38304cd0" /><Relationship Type="http://schemas.openxmlformats.org/officeDocument/2006/relationships/notesSlide" Target="/ppt/notesSlides/notesSlide2.xml" Id="R0bd46d34eca244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4a765aab84aa2" /><Relationship Type="http://schemas.openxmlformats.org/officeDocument/2006/relationships/chart" Target="/ppt/slides/charts/chart1.xml" Id="Rec86eb804c7f4577" /><Relationship Type="http://schemas.openxmlformats.org/officeDocument/2006/relationships/notesSlide" Target="/ppt/notesSlides/notesSlide3.xml" Id="R17d9bcddf29845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b18d80d974c92" /><Relationship Type="http://schemas.openxmlformats.org/officeDocument/2006/relationships/notesSlide" Target="/ppt/notesSlides/notesSlide4.xml" Id="Rbf15e03d3f7041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93541996b4c4a" /><Relationship Type="http://schemas.openxmlformats.org/officeDocument/2006/relationships/notesSlide" Target="/ppt/notesSlides/notesSlide5.xml" Id="R73f10ff2053642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2989325cf4b5d" /><Relationship Type="http://schemas.openxmlformats.org/officeDocument/2006/relationships/notesSlide" Target="/ppt/notesSlides/notesSlide6.xml" Id="Rfeea8dc2696247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bbfde8fe84a1e" /><Relationship Type="http://schemas.openxmlformats.org/officeDocument/2006/relationships/notesSlide" Target="/ppt/notesSlides/notesSlide7.xml" Id="R1811bbc950c14e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e6cf23a764a3f" /><Relationship Type="http://schemas.openxmlformats.org/officeDocument/2006/relationships/notesSlide" Target="/ppt/notesSlides/notesSlide8.xml" Id="Rcac37f6e32cd4e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1f1c3e4004193" /><Relationship Type="http://schemas.openxmlformats.org/officeDocument/2006/relationships/notesSlide" Target="/ppt/notesSlides/notesSlide9.xml" Id="R756823db0ab745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582c6bc4d4c45" /><Relationship Type="http://schemas.openxmlformats.org/officeDocument/2006/relationships/notesSlide" Target="/ppt/notesSlides/notesSlide10.xml" Id="Rcff97dfb21e94c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45927a21949b3" /><Relationship Type="http://schemas.openxmlformats.org/officeDocument/2006/relationships/notesSlide" Target="/ppt/notesSlides/notesSlide11.xml" Id="R5df1748a9b9c43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0759282434f58" /><Relationship Type="http://schemas.openxmlformats.org/officeDocument/2006/relationships/chart" Target="/ppt/slides/charts/chart2.xml" Id="R67e80c5d7aa14fff" /><Relationship Type="http://schemas.openxmlformats.org/officeDocument/2006/relationships/chart" Target="/ppt/slides/charts/chart3.xml" Id="R6301fe9eaa0b4cac" /><Relationship Type="http://schemas.openxmlformats.org/officeDocument/2006/relationships/notesSlide" Target="/ppt/notesSlides/notesSlide12.xml" Id="Rd9b7517e54e844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9c754d45d4d9f" /><Relationship Type="http://schemas.openxmlformats.org/officeDocument/2006/relationships/chart" Target="/ppt/slides/charts/chart4.xml" Id="Rd9ce747016bc4650" /><Relationship Type="http://schemas.openxmlformats.org/officeDocument/2006/relationships/notesSlide" Target="/ppt/notesSlides/notesSlide13.xml" Id="R38f57840296e46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6bfbc02b543f9" /><Relationship Type="http://schemas.openxmlformats.org/officeDocument/2006/relationships/notesSlide" Target="/ppt/notesSlides/notesSlide14.xml" Id="Rced613a2d76c4f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45a78041e407c" /><Relationship Type="http://schemas.openxmlformats.org/officeDocument/2006/relationships/notesSlide" Target="/ppt/notesSlides/notesSlide15.xml" Id="Rc314f62b38704e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c805ffe314281" /><Relationship Type="http://schemas.openxmlformats.org/officeDocument/2006/relationships/notesSlide" Target="/ppt/notesSlides/notesSlide16.xml" Id="Rf8b6de82e0bd49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91e787e924f1c" /><Relationship Type="http://schemas.openxmlformats.org/officeDocument/2006/relationships/notesSlide" Target="/ppt/notesSlides/notesSlide17.xml" Id="R574bee6e24d24ce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Origens mensais</c:v>
          </c:tx>
          <c:spPr>
            <a:solidFill xmlns:a="http://schemas.openxmlformats.org/drawingml/2006/main">
              <a:srgbClr val="007F7B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Data'!$A$2:$A$281</c:f>
              <c:numCache>
                <c:formatCode>General</c:formatCode>
                <c:ptCount val="280"/>
                <c:pt idx="0">
                  <c:v>-0.359307655444</c:v>
                </c:pt>
                <c:pt idx="1">
                  <c:v>-0.374266636785</c:v>
                </c:pt>
                <c:pt idx="2">
                  <c:v>-0.331468382338</c:v>
                </c:pt>
                <c:pt idx="3">
                  <c:v>-0.33137094552</c:v>
                </c:pt>
                <c:pt idx="4">
                  <c:v>-0.366938259136</c:v>
                </c:pt>
                <c:pt idx="5">
                  <c:v>-0.3689873409</c:v>
                </c:pt>
                <c:pt idx="6">
                  <c:v>-0.374938831676</c:v>
                </c:pt>
                <c:pt idx="7">
                  <c:v>-0.36871430945</c:v>
                </c:pt>
                <c:pt idx="8">
                  <c:v>-0.365858692307</c:v>
                </c:pt>
                <c:pt idx="9">
                  <c:v>-0.370035229996</c:v>
                </c:pt>
                <c:pt idx="10">
                  <c:v>-0.379478190209</c:v>
                </c:pt>
                <c:pt idx="11">
                  <c:v>-0.388584108336</c:v>
                </c:pt>
                <c:pt idx="12">
                  <c:v>-0.390327843331</c:v>
                </c:pt>
                <c:pt idx="13">
                  <c:v>-0.391887928221</c:v>
                </c:pt>
                <c:pt idx="14">
                  <c:v>-0.387077824606</c:v>
                </c:pt>
                <c:pt idx="15">
                  <c:v>-0.391598835669</c:v>
                </c:pt>
                <c:pt idx="16">
                  <c:v>-0.396667758552</c:v>
                </c:pt>
                <c:pt idx="17">
                  <c:v>-0.400570953593</c:v>
                </c:pt>
                <c:pt idx="18">
                  <c:v>-0.404119996514</c:v>
                </c:pt>
                <c:pt idx="19">
                  <c:v>-0.400802560049</c:v>
                </c:pt>
                <c:pt idx="20">
                  <c:v>-0.393320719066</c:v>
                </c:pt>
                <c:pt idx="21">
                  <c:v>-0.387476615066</c:v>
                </c:pt>
                <c:pt idx="22">
                  <c:v>-0.382359026203</c:v>
                </c:pt>
                <c:pt idx="23">
                  <c:v>-0.37785660079</c:v>
                </c:pt>
                <c:pt idx="24">
                  <c:v>-0.382319581964</c:v>
                </c:pt>
                <c:pt idx="25">
                  <c:v>-0.379308853574</c:v>
                </c:pt>
                <c:pt idx="26">
                  <c:v>-0.376742345228</c:v>
                </c:pt>
                <c:pt idx="27">
                  <c:v>-0.38091150437</c:v>
                </c:pt>
                <c:pt idx="28">
                  <c:v>-0.378052126787</c:v>
                </c:pt>
                <c:pt idx="29">
                  <c:v>-0.375683284926</c:v>
                </c:pt>
                <c:pt idx="30">
                  <c:v>-0.370972727657</c:v>
                </c:pt>
                <c:pt idx="31">
                  <c:v>-0.361641793224</c:v>
                </c:pt>
                <c:pt idx="32">
                  <c:v>-0.354531365986</c:v>
                </c:pt>
                <c:pt idx="33">
                  <c:v>-0.349043334108</c:v>
                </c:pt>
                <c:pt idx="34">
                  <c:v>-0.342980731865</c:v>
                </c:pt>
                <c:pt idx="35">
                  <c:v>-0.340979884365</c:v>
                </c:pt>
                <c:pt idx="36">
                  <c:v>-0.34117808242</c:v>
                </c:pt>
                <c:pt idx="37">
                  <c:v>-0.339358968095</c:v>
                </c:pt>
                <c:pt idx="38">
                  <c:v>-0.336914543387</c:v>
                </c:pt>
                <c:pt idx="39">
                  <c:v>-0.331484141222</c:v>
                </c:pt>
                <c:pt idx="40">
                  <c:v>-0.32798056554</c:v>
                </c:pt>
                <c:pt idx="41">
                  <c:v>-0.321305727561</c:v>
                </c:pt>
                <c:pt idx="42">
                  <c:v>-0.31169270844</c:v>
                </c:pt>
                <c:pt idx="43">
                  <c:v>-0.296611506693</c:v>
                </c:pt>
                <c:pt idx="44">
                  <c:v>-0.285976101293</c:v>
                </c:pt>
                <c:pt idx="45">
                  <c:v>-0.277401580902</c:v>
                </c:pt>
                <c:pt idx="46">
                  <c:v>-0.270531485467</c:v>
                </c:pt>
                <c:pt idx="47">
                  <c:v>-0.262245832943</c:v>
                </c:pt>
                <c:pt idx="48">
                  <c:v>-0.0474787809548</c:v>
                </c:pt>
                <c:pt idx="49">
                  <c:v>0.184383528888</c:v>
                </c:pt>
                <c:pt idx="50">
                  <c:v>0.165180283977</c:v>
                </c:pt>
                <c:pt idx="51">
                  <c:v>0.0532318559996</c:v>
                </c:pt>
                <c:pt idx="52">
                  <c:v>0.0445622714341</c:v>
                </c:pt>
                <c:pt idx="53">
                  <c:v>0.0901664081361</c:v>
                </c:pt>
                <c:pt idx="54">
                  <c:v>0.103109410436</c:v>
                </c:pt>
                <c:pt idx="55">
                  <c:v>0.143612408271</c:v>
                </c:pt>
                <c:pt idx="56">
                  <c:v>0.153906899668</c:v>
                </c:pt>
                <c:pt idx="57">
                  <c:v>0.180789711886</c:v>
                </c:pt>
                <c:pt idx="58">
                  <c:v>0.152806099183</c:v>
                </c:pt>
                <c:pt idx="59">
                  <c:v>0.103014473836</c:v>
                </c:pt>
                <c:pt idx="60">
                  <c:v>0.0783452783526</c:v>
                </c:pt>
                <c:pt idx="61">
                  <c:v>0.0653015825687</c:v>
                </c:pt>
                <c:pt idx="62">
                  <c:v>0.0500335741773</c:v>
                </c:pt>
                <c:pt idx="63">
                  <c:v>0.060185604737</c:v>
                </c:pt>
                <c:pt idx="64">
                  <c:v>0.0950451702736</c:v>
                </c:pt>
                <c:pt idx="65">
                  <c:v>0.0877913499793</c:v>
                </c:pt>
                <c:pt idx="66">
                  <c:v>0.068895491377</c:v>
                </c:pt>
                <c:pt idx="67">
                  <c:v>0.0622016177639</c:v>
                </c:pt>
                <c:pt idx="68">
                  <c:v>0.0815480116341</c:v>
                </c:pt>
                <c:pt idx="69">
                  <c:v>0.103603903634</c:v>
                </c:pt>
                <c:pt idx="70">
                  <c:v>0.13787687277</c:v>
                </c:pt>
                <c:pt idx="71">
                  <c:v>0.142111314301</c:v>
                </c:pt>
                <c:pt idx="72">
                  <c:v>0.137646210956</c:v>
                </c:pt>
                <c:pt idx="73">
                  <c:v>0.159294395804</c:v>
                </c:pt>
                <c:pt idx="74">
                  <c:v>0.198658371008</c:v>
                </c:pt>
                <c:pt idx="75">
                  <c:v>0.242934217013</c:v>
                </c:pt>
                <c:pt idx="76">
                  <c:v>0.290580213361</c:v>
                </c:pt>
                <c:pt idx="77">
                  <c:v>0.321290441619</c:v>
                </c:pt>
                <c:pt idx="78">
                  <c:v>0.343651626731</c:v>
                </c:pt>
                <c:pt idx="79">
                  <c:v>0.354600376654</c:v>
                </c:pt>
                <c:pt idx="80">
                  <c:v>0.417935615293</c:v>
                </c:pt>
                <c:pt idx="81">
                  <c:v>0.432174447653</c:v>
                </c:pt>
                <c:pt idx="82">
                  <c:v>0.349889211202</c:v>
                </c:pt>
                <c:pt idx="83">
                  <c:v>0.269267929651</c:v>
                </c:pt>
                <c:pt idx="84">
                  <c:v>0.272183780601</c:v>
                </c:pt>
                <c:pt idx="85">
                  <c:v>0.287661552234</c:v>
                </c:pt>
                <c:pt idx="86">
                  <c:v>0.25384976624</c:v>
                </c:pt>
                <c:pt idx="87">
                  <c:v>0.239125488585</c:v>
                </c:pt>
                <c:pt idx="88">
                  <c:v>0.304822770704</c:v>
                </c:pt>
                <c:pt idx="89">
                  <c:v>0.391192237944</c:v>
                </c:pt>
                <c:pt idx="90">
                  <c:v>0.459734777591</c:v>
                </c:pt>
                <c:pt idx="91">
                  <c:v>0.5141134606</c:v>
                </c:pt>
                <c:pt idx="92">
                  <c:v>0.580514477196</c:v>
                </c:pt>
                <c:pt idx="93">
                  <c:v>0.699692549821</c:v>
                </c:pt>
                <c:pt idx="94">
                  <c:v>0.609398065421</c:v>
                </c:pt>
                <c:pt idx="95">
                  <c:v>0.604012879752</c:v>
                </c:pt>
                <c:pt idx="96">
                  <c:v>0.533056770787</c:v>
                </c:pt>
                <c:pt idx="97">
                  <c:v>0.566309022844</c:v>
                </c:pt>
                <c:pt idx="98">
                  <c:v>0.514816964124</c:v>
                </c:pt>
                <c:pt idx="99">
                  <c:v>0.401290999671</c:v>
                </c:pt>
                <c:pt idx="100">
                  <c:v>0.339889893625</c:v>
                </c:pt>
                <c:pt idx="101">
                  <c:v>0.317649195029</c:v>
                </c:pt>
                <c:pt idx="102">
                  <c:v>0.317742791767</c:v>
                </c:pt>
                <c:pt idx="103">
                  <c:v>0.360418457638</c:v>
                </c:pt>
                <c:pt idx="104">
                  <c:v>0.328992262436</c:v>
                </c:pt>
                <c:pt idx="105">
                  <c:v>0.303819280069</c:v>
                </c:pt>
                <c:pt idx="106">
                  <c:v>0.319077842057</c:v>
                </c:pt>
                <c:pt idx="107">
                  <c:v>0.320529340629</c:v>
                </c:pt>
                <c:pt idx="108">
                  <c:v>0.291814805031</c:v>
                </c:pt>
                <c:pt idx="109">
                  <c:v>0.315032540656</c:v>
                </c:pt>
                <c:pt idx="110">
                  <c:v>0.303984419569</c:v>
                </c:pt>
                <c:pt idx="111">
                  <c:v>0.30206545687</c:v>
                </c:pt>
                <c:pt idx="112">
                  <c:v>0.365991845446</c:v>
                </c:pt>
                <c:pt idx="113">
                  <c:v>0.371843766973</c:v>
                </c:pt>
                <c:pt idx="114">
                  <c:v>0.333902029807</c:v>
                </c:pt>
                <c:pt idx="115">
                  <c:v>0.316328565801</c:v>
                </c:pt>
                <c:pt idx="116">
                  <c:v>0.278258792539</c:v>
                </c:pt>
                <c:pt idx="117">
                  <c:v>0.265822285327</c:v>
                </c:pt>
                <c:pt idx="118">
                  <c:v>0.239922726989</c:v>
                </c:pt>
                <c:pt idx="119">
                  <c:v>0.20672251751</c:v>
                </c:pt>
                <c:pt idx="120">
                  <c:v>0.19110340553</c:v>
                </c:pt>
                <c:pt idx="121">
                  <c:v>0.153396534228</c:v>
                </c:pt>
                <c:pt idx="122">
                  <c:v>0.191272782542</c:v>
                </c:pt>
                <c:pt idx="123">
                  <c:v>0.138201063354</c:v>
                </c:pt>
                <c:pt idx="124">
                  <c:v>0.0825475895159</c:v>
                </c:pt>
                <c:pt idx="125">
                  <c:v>0.067111752072</c:v>
                </c:pt>
                <c:pt idx="126">
                  <c:v>0.0540785908648</c:v>
                </c:pt>
                <c:pt idx="127">
                  <c:v>0.0530683259216</c:v>
                </c:pt>
                <c:pt idx="128">
                  <c:v>0.0348045450978</c:v>
                </c:pt>
                <c:pt idx="129">
                  <c:v>0.0121840159686</c:v>
                </c:pt>
                <c:pt idx="130">
                  <c:v>-0.0187966709356</c:v>
                </c:pt>
                <c:pt idx="131">
                  <c:v>0.010840171367</c:v>
                </c:pt>
                <c:pt idx="132">
                  <c:v>0.00590838192101</c:v>
                </c:pt>
                <c:pt idx="133">
                  <c:v>-0.0481905599826</c:v>
                </c:pt>
                <c:pt idx="134">
                  <c:v>-0.0555677808844</c:v>
                </c:pt>
                <c:pt idx="135">
                  <c:v>-0.0632749186754</c:v>
                </c:pt>
                <c:pt idx="136">
                  <c:v>-0.0386296922362</c:v>
                </c:pt>
                <c:pt idx="137">
                  <c:v>-0.00232527092479</c:v>
                </c:pt>
                <c:pt idx="138">
                  <c:v>-0.0253798463493</c:v>
                </c:pt>
                <c:pt idx="139">
                  <c:v>-0.0368274356834</c:v>
                </c:pt>
                <c:pt idx="140">
                  <c:v>-0.0379244429267</c:v>
                </c:pt>
                <c:pt idx="141">
                  <c:v>-0.0551178342678</c:v>
                </c:pt>
                <c:pt idx="142">
                  <c:v>-0.0532591722322</c:v>
                </c:pt>
                <c:pt idx="143">
                  <c:v>-0.0563311149082</c:v>
                </c:pt>
                <c:pt idx="144">
                  <c:v>-0.0643802378984</c:v>
                </c:pt>
                <c:pt idx="145">
                  <c:v>-0.0848304997633</c:v>
                </c:pt>
                <c:pt idx="146">
                  <c:v>-0.0869690472163</c:v>
                </c:pt>
                <c:pt idx="147">
                  <c:v>-0.113991091096</c:v>
                </c:pt>
                <c:pt idx="148">
                  <c:v>-0.137778632264</c:v>
                </c:pt>
                <c:pt idx="149">
                  <c:v>-0.163661271963</c:v>
                </c:pt>
                <c:pt idx="150">
                  <c:v>-0.190023328168</c:v>
                </c:pt>
                <c:pt idx="151">
                  <c:v>-0.151163093274</c:v>
                </c:pt>
                <c:pt idx="152">
                  <c:v>-0.183090559002</c:v>
                </c:pt>
                <c:pt idx="153">
                  <c:v>-0.236308845079</c:v>
                </c:pt>
                <c:pt idx="154">
                  <c:v>-0.249692497615</c:v>
                </c:pt>
                <c:pt idx="155">
                  <c:v>-0.245115993901</c:v>
                </c:pt>
                <c:pt idx="156">
                  <c:v>-0.253632194317</c:v>
                </c:pt>
                <c:pt idx="157">
                  <c:v>-0.282720254501</c:v>
                </c:pt>
                <c:pt idx="158">
                  <c:v>-0.295639297637</c:v>
                </c:pt>
                <c:pt idx="159">
                  <c:v>-0.309823967362</c:v>
                </c:pt>
                <c:pt idx="160">
                  <c:v>-0.32875154128</c:v>
                </c:pt>
                <c:pt idx="161">
                  <c:v>-0.351072432382</c:v>
                </c:pt>
                <c:pt idx="162">
                  <c:v>-0.366375145721</c:v>
                </c:pt>
                <c:pt idx="163">
                  <c:v>-0.357613218605</c:v>
                </c:pt>
                <c:pt idx="164">
                  <c:v>-0.249452431156</c:v>
                </c:pt>
                <c:pt idx="165">
                  <c:v>-0.0740796899258</c:v>
                </c:pt>
                <c:pt idx="166">
                  <c:v>-0.0534514546933</c:v>
                </c:pt>
                <c:pt idx="167">
                  <c:v>-0.00953101521573</c:v>
                </c:pt>
                <c:pt idx="168">
                  <c:v>-0.0488032856606</c:v>
                </c:pt>
                <c:pt idx="169">
                  <c:v>-0.0483578500196</c:v>
                </c:pt>
                <c:pt idx="170">
                  <c:v>-0.050868101762</c:v>
                </c:pt>
                <c:pt idx="171">
                  <c:v>-0.102405648466</c:v>
                </c:pt>
                <c:pt idx="172">
                  <c:v>-0.173617033912</c:v>
                </c:pt>
                <c:pt idx="173">
                  <c:v>-0.220368757016</c:v>
                </c:pt>
                <c:pt idx="174">
                  <c:v>-0.235813395859</c:v>
                </c:pt>
                <c:pt idx="175">
                  <c:v>-0.280351468249</c:v>
                </c:pt>
                <c:pt idx="176">
                  <c:v>-0.294680635143</c:v>
                </c:pt>
                <c:pt idx="177">
                  <c:v>-0.340240742426</c:v>
                </c:pt>
                <c:pt idx="178">
                  <c:v>-0.348032052941</c:v>
                </c:pt>
                <c:pt idx="179">
                  <c:v>-0.337340442613</c:v>
                </c:pt>
                <c:pt idx="180">
                  <c:v>-0.32745013895</c:v>
                </c:pt>
                <c:pt idx="181">
                  <c:v>-0.302038345546</c:v>
                </c:pt>
                <c:pt idx="182">
                  <c:v>-0.337661823872</c:v>
                </c:pt>
                <c:pt idx="183">
                  <c:v>-0.359601997863</c:v>
                </c:pt>
                <c:pt idx="184">
                  <c:v>-0.332699568861</c:v>
                </c:pt>
                <c:pt idx="185">
                  <c:v>-0.336820420217</c:v>
                </c:pt>
                <c:pt idx="186">
                  <c:v>-0.355690645816</c:v>
                </c:pt>
                <c:pt idx="187">
                  <c:v>-0.360297290964</c:v>
                </c:pt>
                <c:pt idx="188">
                  <c:v>-0.386691569318</c:v>
                </c:pt>
                <c:pt idx="189">
                  <c:v>-0.411381016936</c:v>
                </c:pt>
                <c:pt idx="190">
                  <c:v>-0.399569748756</c:v>
                </c:pt>
                <c:pt idx="191">
                  <c:v>-0.413524448405</c:v>
                </c:pt>
                <c:pt idx="192">
                  <c:v>-0.429537278165</c:v>
                </c:pt>
                <c:pt idx="193">
                  <c:v>-0.438424286629</c:v>
                </c:pt>
                <c:pt idx="194">
                  <c:v>-0.446483050891</c:v>
                </c:pt>
                <c:pt idx="195">
                  <c:v>-0.49427842959</c:v>
                </c:pt>
                <c:pt idx="196">
                  <c:v>-0.478852320998</c:v>
                </c:pt>
                <c:pt idx="197">
                  <c:v>-0.496911488088</c:v>
                </c:pt>
                <c:pt idx="198">
                  <c:v>-0.510556339017</c:v>
                </c:pt>
                <c:pt idx="199">
                  <c:v>-0.490155845793</c:v>
                </c:pt>
                <c:pt idx="200">
                  <c:v>-0.401898030309</c:v>
                </c:pt>
                <c:pt idx="201">
                  <c:v>-0.392567932417</c:v>
                </c:pt>
                <c:pt idx="202">
                  <c:v>-0.38586079909</c:v>
                </c:pt>
                <c:pt idx="203">
                  <c:v>-0.365026202645</c:v>
                </c:pt>
                <c:pt idx="204">
                  <c:v>-0.393921448911</c:v>
                </c:pt>
                <c:pt idx="205">
                  <c:v>-0.436930571855</c:v>
                </c:pt>
                <c:pt idx="206">
                  <c:v>-0.393158574244</c:v>
                </c:pt>
                <c:pt idx="207">
                  <c:v>-0.365274035801</c:v>
                </c:pt>
                <c:pt idx="208">
                  <c:v>-0.302592200994</c:v>
                </c:pt>
                <c:pt idx="209">
                  <c:v>-0.272891678502</c:v>
                </c:pt>
                <c:pt idx="210">
                  <c:v>-0.286947970947</c:v>
                </c:pt>
                <c:pt idx="211">
                  <c:v>-0.284901882069</c:v>
                </c:pt>
                <c:pt idx="212">
                  <c:v>-0.286466567359</c:v>
                </c:pt>
                <c:pt idx="213">
                  <c:v>-0.288818193908</c:v>
                </c:pt>
                <c:pt idx="214">
                  <c:v>-0.277933047622</c:v>
                </c:pt>
                <c:pt idx="215">
                  <c:v>-0.281098693452</c:v>
                </c:pt>
                <c:pt idx="216">
                  <c:v>-0.310415217785</c:v>
                </c:pt>
                <c:pt idx="217">
                  <c:v>-0.339852301636</c:v>
                </c:pt>
                <c:pt idx="218">
                  <c:v>-0.342554452125</c:v>
                </c:pt>
                <c:pt idx="219">
                  <c:v>-0.340392955651</c:v>
                </c:pt>
                <c:pt idx="220">
                  <c:v>-0.327521099774</c:v>
                </c:pt>
                <c:pt idx="221">
                  <c:v>-0.262028978792</c:v>
                </c:pt>
                <c:pt idx="222">
                  <c:v>-0.224574579807</c:v>
                </c:pt>
                <c:pt idx="223">
                  <c:v>-0.18540411643</c:v>
                </c:pt>
                <c:pt idx="224">
                  <c:v>-0.219611719089</c:v>
                </c:pt>
                <c:pt idx="225">
                  <c:v>-0.261498449247</c:v>
                </c:pt>
                <c:pt idx="226">
                  <c:v>-0.217396080816</c:v>
                </c:pt>
                <c:pt idx="227">
                  <c:v>-0.202321860585</c:v>
                </c:pt>
                <c:pt idx="228">
                  <c:v>-0.18985971742</c:v>
                </c:pt>
                <c:pt idx="229">
                  <c:v>-0.195006376258</c:v>
                </c:pt>
                <c:pt idx="230">
                  <c:v>-0.226585197827</c:v>
                </c:pt>
                <c:pt idx="231">
                  <c:v>-0.272337044606</c:v>
                </c:pt>
                <c:pt idx="232">
                  <c:v>-0.280369183563</c:v>
                </c:pt>
                <c:pt idx="233">
                  <c:v>-0.276488546997</c:v>
                </c:pt>
                <c:pt idx="234">
                  <c:v>-0.280351482111</c:v>
                </c:pt>
                <c:pt idx="235">
                  <c:v>-0.263687114769</c:v>
                </c:pt>
                <c:pt idx="236">
                  <c:v>-0.241085599806</c:v>
                </c:pt>
                <c:pt idx="237">
                  <c:v>-0.197192960608</c:v>
                </c:pt>
                <c:pt idx="238">
                  <c:v>-0.164092629142</c:v>
                </c:pt>
                <c:pt idx="239">
                  <c:v>-0.139865835725</c:v>
                </c:pt>
                <c:pt idx="240">
                  <c:v>-0.160552366924</c:v>
                </c:pt>
                <c:pt idx="241">
                  <c:v>-0.103231661063</c:v>
                </c:pt>
                <c:pt idx="242">
                  <c:v>-0.00508639839258</c:v>
                </c:pt>
                <c:pt idx="243">
                  <c:v>-0.0422733343753</c:v>
                </c:pt>
                <c:pt idx="244">
                  <c:v>-0.0402930451136</c:v>
                </c:pt>
                <c:pt idx="245">
                  <c:v>-0.0291990229355</c:v>
                </c:pt>
                <c:pt idx="246">
                  <c:v>0.00137960959785</c:v>
                </c:pt>
                <c:pt idx="247">
                  <c:v>0.085674554535</c:v>
                </c:pt>
                <c:pt idx="248">
                  <c:v>0.183840438663</c:v>
                </c:pt>
                <c:pt idx="249">
                  <c:v>0.169881962843</c:v>
                </c:pt>
                <c:pt idx="250">
                  <c:v>0.133963259765</c:v>
                </c:pt>
                <c:pt idx="251">
                  <c:v>0.14807396432</c:v>
                </c:pt>
                <c:pt idx="252">
                  <c:v>0.1807659781</c:v>
                </c:pt>
                <c:pt idx="253">
                  <c:v>0.150864028996</c:v>
                </c:pt>
                <c:pt idx="254">
                  <c:v>0.0793918085764</c:v>
                </c:pt>
                <c:pt idx="255">
                  <c:v>0.039135779223</c:v>
                </c:pt>
                <c:pt idx="256">
                  <c:v>0.0262678826108</c:v>
                </c:pt>
                <c:pt idx="257">
                  <c:v>-0.00742738703313</c:v>
                </c:pt>
                <c:pt idx="258">
                  <c:v>-0.0575721586057</c:v>
                </c:pt>
                <c:pt idx="259">
                  <c:v>-0.0804385764101</c:v>
                </c:pt>
                <c:pt idx="260">
                  <c:v>-0.0641736655088</c:v>
                </c:pt>
                <c:pt idx="261">
                  <c:v>-0.0863491995116</c:v>
                </c:pt>
                <c:pt idx="262">
                  <c:v>-0.0391033328545</c:v>
                </c:pt>
                <c:pt idx="263">
                  <c:v>-0.0365002536801</c:v>
                </c:pt>
                <c:pt idx="264">
                  <c:v>-0.0838170589645</c:v>
                </c:pt>
                <c:pt idx="265">
                  <c:v>-0.114851947208</c:v>
                </c:pt>
                <c:pt idx="266">
                  <c:v>-0.110210318578</c:v>
                </c:pt>
                <c:pt idx="267">
                  <c:v>-0.107725924508</c:v>
                </c:pt>
                <c:pt idx="268">
                  <c:v>-0.0884921212463</c:v>
                </c:pt>
                <c:pt idx="269">
                  <c:v>-0.059125660868</c:v>
                </c:pt>
                <c:pt idx="270">
                  <c:v>-0.0886675005861</c:v>
                </c:pt>
                <c:pt idx="271">
                  <c:v>-0.104091577623</c:v>
                </c:pt>
                <c:pt idx="272">
                  <c:v>-0.105719652578</c:v>
                </c:pt>
                <c:pt idx="273">
                  <c:v>-0.0913044597371</c:v>
                </c:pt>
                <c:pt idx="274">
                  <c:v>-0.0702899846741</c:v>
                </c:pt>
                <c:pt idx="275">
                  <c:v>-0.0626538837862</c:v>
                </c:pt>
                <c:pt idx="276">
                  <c:v>-0.086312432556</c:v>
                </c:pt>
                <c:pt idx="277">
                  <c:v>-0.0772403034966</c:v>
                </c:pt>
                <c:pt idx="278">
                  <c:v>-0.0663842502528</c:v>
                </c:pt>
                <c:pt idx="279">
                  <c:v>-0.0276014183497</c:v>
                </c:pt>
              </c:numCache>
            </c:numRef>
          </c:xVal>
          <c:yVal>
            <c:numRef>
              <c:f>'Chart Data'!$B$2:$B$281</c:f>
              <c:numCache>
                <c:formatCode>0.00</c:formatCode>
                <c:ptCount val="280"/>
                <c:pt idx="0">
                  <c:v>1.40094277445</c:v>
                </c:pt>
                <c:pt idx="1">
                  <c:v>1.45177647832</c:v>
                </c:pt>
                <c:pt idx="2">
                  <c:v>1.35468347729</c:v>
                </c:pt>
                <c:pt idx="3">
                  <c:v>1.23447796117</c:v>
                </c:pt>
                <c:pt idx="4">
                  <c:v>1.19198909488</c:v>
                </c:pt>
                <c:pt idx="5">
                  <c:v>1.14882549596</c:v>
                </c:pt>
                <c:pt idx="6">
                  <c:v>1.13158269589</c:v>
                </c:pt>
                <c:pt idx="7">
                  <c:v>1.15919527938</c:v>
                </c:pt>
                <c:pt idx="8">
                  <c:v>1.12089232188</c:v>
                </c:pt>
                <c:pt idx="9">
                  <c:v>1.09248050623</c:v>
                </c:pt>
                <c:pt idx="10">
                  <c:v>1.10674465602</c:v>
                </c:pt>
                <c:pt idx="11">
                  <c:v>1.10561036189</c:v>
                </c:pt>
                <c:pt idx="12">
                  <c:v>1.0737811339</c:v>
                </c:pt>
                <c:pt idx="13">
                  <c:v>1.09418569468</c:v>
                </c:pt>
                <c:pt idx="14">
                  <c:v>1.08060300218</c:v>
                </c:pt>
                <c:pt idx="15">
                  <c:v>1.0766259012</c:v>
                </c:pt>
                <c:pt idx="16">
                  <c:v>1.13624221516</c:v>
                </c:pt>
                <c:pt idx="17">
                  <c:v>1.13944626754</c:v>
                </c:pt>
                <c:pt idx="18">
                  <c:v>1.10392802549</c:v>
                </c:pt>
                <c:pt idx="19">
                  <c:v>1.08626747435</c:v>
                </c:pt>
                <c:pt idx="20">
                  <c:v>1.04252093535</c:v>
                </c:pt>
                <c:pt idx="21">
                  <c:v>1.02354585199</c:v>
                </c:pt>
                <c:pt idx="22">
                  <c:v>0.99465979899</c:v>
                </c:pt>
                <c:pt idx="23">
                  <c:v>0.963348713083</c:v>
                </c:pt>
                <c:pt idx="24">
                  <c:v>0.948650519684</c:v>
                </c:pt>
                <c:pt idx="25">
                  <c:v>0.906541657809</c:v>
                </c:pt>
                <c:pt idx="26">
                  <c:v>0.939840155953</c:v>
                </c:pt>
                <c:pt idx="27">
                  <c:v>0.888361668847</c:v>
                </c:pt>
                <c:pt idx="28">
                  <c:v>0.831161629166</c:v>
                </c:pt>
                <c:pt idx="29">
                  <c:v>0.809129476806</c:v>
                </c:pt>
                <c:pt idx="30">
                  <c:v>0.786756679682</c:v>
                </c:pt>
                <c:pt idx="31">
                  <c:v>0.774666591568</c:v>
                </c:pt>
                <c:pt idx="32">
                  <c:v>0.740996364996</c:v>
                </c:pt>
                <c:pt idx="33">
                  <c:v>0.718413855522</c:v>
                </c:pt>
                <c:pt idx="34">
                  <c:v>0.691429821255</c:v>
                </c:pt>
                <c:pt idx="35">
                  <c:v>0.718986808192</c:v>
                </c:pt>
                <c:pt idx="36">
                  <c:v>0.708257023381</c:v>
                </c:pt>
                <c:pt idx="37">
                  <c:v>0.651339502412</c:v>
                </c:pt>
                <c:pt idx="38">
                  <c:v>0.640911022258</c:v>
                </c:pt>
                <c:pt idx="39">
                  <c:v>0.623712946853</c:v>
                </c:pt>
                <c:pt idx="40">
                  <c:v>0.640344535021</c:v>
                </c:pt>
                <c:pt idx="41">
                  <c:v>0.66642041144</c:v>
                </c:pt>
                <c:pt idx="42">
                  <c:v>0.633869584803</c:v>
                </c:pt>
                <c:pt idx="43">
                  <c:v>0.60975258409</c:v>
                </c:pt>
                <c:pt idx="44">
                  <c:v>0.607851050067</c:v>
                </c:pt>
                <c:pt idx="45">
                  <c:v>0.592068967093</c:v>
                </c:pt>
                <c:pt idx="46">
                  <c:v>0.59207779944</c:v>
                </c:pt>
                <c:pt idx="47">
                  <c:v>0.578609867363</c:v>
                </c:pt>
                <c:pt idx="48">
                  <c:v>0.353373675455</c:v>
                </c:pt>
                <c:pt idx="49">
                  <c:v>0.0911353450538</c:v>
                </c:pt>
                <c:pt idx="50">
                  <c:v>0.0963736071101</c:v>
                </c:pt>
                <c:pt idx="51">
                  <c:v>0.181868903351</c:v>
                </c:pt>
                <c:pt idx="52">
                  <c:v>0.163029639574</c:v>
                </c:pt>
                <c:pt idx="53">
                  <c:v>0.0901266810124</c:v>
                </c:pt>
                <c:pt idx="54">
                  <c:v>0.0448067128634</c:v>
                </c:pt>
                <c:pt idx="55">
                  <c:v>0.0443569737591</c:v>
                </c:pt>
                <c:pt idx="56">
                  <c:v>0.000789951854019</c:v>
                </c:pt>
                <c:pt idx="57">
                  <c:v>-0.089437637235</c:v>
                </c:pt>
                <c:pt idx="58">
                  <c:v>-0.0865451402884</c:v>
                </c:pt>
                <c:pt idx="59">
                  <c:v>-0.0313076716253</c:v>
                </c:pt>
                <c:pt idx="60">
                  <c:v>-0.0164341317466</c:v>
                </c:pt>
                <c:pt idx="61">
                  <c:v>-0.027178378532</c:v>
                </c:pt>
                <c:pt idx="62">
                  <c:v>-0.0199450025286</c:v>
                </c:pt>
                <c:pt idx="63">
                  <c:v>-0.0458846505478</c:v>
                </c:pt>
                <c:pt idx="64">
                  <c:v>-0.0960490051058</c:v>
                </c:pt>
                <c:pt idx="65">
                  <c:v>-0.110640271143</c:v>
                </c:pt>
                <c:pt idx="66">
                  <c:v>-0.121949563196</c:v>
                </c:pt>
                <c:pt idx="67">
                  <c:v>-0.115223027634</c:v>
                </c:pt>
                <c:pt idx="68">
                  <c:v>-0.021766276482</c:v>
                </c:pt>
                <c:pt idx="69">
                  <c:v>0.145003692641</c:v>
                </c:pt>
                <c:pt idx="70">
                  <c:v>0.151345340502</c:v>
                </c:pt>
                <c:pt idx="71">
                  <c:v>0.198505946634</c:v>
                </c:pt>
                <c:pt idx="72">
                  <c:v>0.16598694326</c:v>
                </c:pt>
                <c:pt idx="73">
                  <c:v>0.144318943556</c:v>
                </c:pt>
                <c:pt idx="74">
                  <c:v>0.102205712038</c:v>
                </c:pt>
                <c:pt idx="75">
                  <c:v>0.00609314362395</c:v>
                </c:pt>
                <c:pt idx="76">
                  <c:v>-0.108548209413</c:v>
                </c:pt>
                <c:pt idx="77">
                  <c:v>-0.193614989727</c:v>
                </c:pt>
                <c:pt idx="78">
                  <c:v>-0.243627675984</c:v>
                </c:pt>
                <c:pt idx="79">
                  <c:v>-0.3079340957</c:v>
                </c:pt>
                <c:pt idx="80">
                  <c:v>-0.383988368981</c:v>
                </c:pt>
                <c:pt idx="81">
                  <c:v>-0.455065760477</c:v>
                </c:pt>
                <c:pt idx="82">
                  <c:v>-0.387461348497</c:v>
                </c:pt>
                <c:pt idx="83">
                  <c:v>-0.300017831073</c:v>
                </c:pt>
                <c:pt idx="84">
                  <c:v>-0.289716746799</c:v>
                </c:pt>
                <c:pt idx="85">
                  <c:v>-0.272967478265</c:v>
                </c:pt>
                <c:pt idx="86">
                  <c:v>-0.273100977906</c:v>
                </c:pt>
                <c:pt idx="87">
                  <c:v>-0.278359462109</c:v>
                </c:pt>
                <c:pt idx="88">
                  <c:v>-0.313326597409</c:v>
                </c:pt>
                <c:pt idx="89">
                  <c:v>-0.407032289807</c:v>
                </c:pt>
                <c:pt idx="90">
                  <c:v>-0.505817625445</c:v>
                </c:pt>
                <c:pt idx="91">
                  <c:v>-0.569568369523</c:v>
                </c:pt>
                <c:pt idx="92">
                  <c:v>-0.665001239073</c:v>
                </c:pt>
                <c:pt idx="93">
                  <c:v>-0.815677534606</c:v>
                </c:pt>
                <c:pt idx="94">
                  <c:v>-0.735935372522</c:v>
                </c:pt>
                <c:pt idx="95">
                  <c:v>-0.761364191127</c:v>
                </c:pt>
                <c:pt idx="96">
                  <c:v>-0.719252784904</c:v>
                </c:pt>
                <c:pt idx="97">
                  <c:v>-0.766749714964</c:v>
                </c:pt>
                <c:pt idx="98">
                  <c:v>-0.731199989713</c:v>
                </c:pt>
                <c:pt idx="99">
                  <c:v>-0.675948950102</c:v>
                </c:pt>
                <c:pt idx="100">
                  <c:v>-0.605329776928</c:v>
                </c:pt>
                <c:pt idx="101">
                  <c:v>-0.597055346888</c:v>
                </c:pt>
                <c:pt idx="102">
                  <c:v>-0.610538145832</c:v>
                </c:pt>
                <c:pt idx="103">
                  <c:v>-0.631318405739</c:v>
                </c:pt>
                <c:pt idx="104">
                  <c:v>-0.513040565245</c:v>
                </c:pt>
                <c:pt idx="105">
                  <c:v>-0.478898567545</c:v>
                </c:pt>
                <c:pt idx="106">
                  <c:v>-0.486963160781</c:v>
                </c:pt>
                <c:pt idx="107">
                  <c:v>-0.465317671357</c:v>
                </c:pt>
                <c:pt idx="108">
                  <c:v>-0.465902365825</c:v>
                </c:pt>
                <c:pt idx="109">
                  <c:v>-0.533711181534</c:v>
                </c:pt>
                <c:pt idx="110">
                  <c:v>-0.481433353638</c:v>
                </c:pt>
                <c:pt idx="111">
                  <c:v>-0.449000691613</c:v>
                </c:pt>
                <c:pt idx="112">
                  <c:v>-0.445408569802</c:v>
                </c:pt>
                <c:pt idx="113">
                  <c:v>-0.423295950186</c:v>
                </c:pt>
                <c:pt idx="114">
                  <c:v>-0.403409135608</c:v>
                </c:pt>
                <c:pt idx="115">
                  <c:v>-0.391838305551</c:v>
                </c:pt>
                <c:pt idx="116">
                  <c:v>-0.354537658365</c:v>
                </c:pt>
                <c:pt idx="117">
                  <c:v>-0.340398754761</c:v>
                </c:pt>
                <c:pt idx="118">
                  <c:v>-0.298121635187</c:v>
                </c:pt>
                <c:pt idx="119">
                  <c:v>-0.268660254885</c:v>
                </c:pt>
                <c:pt idx="120">
                  <c:v>-0.282078295614</c:v>
                </c:pt>
                <c:pt idx="121">
                  <c:v>-0.274957664798</c:v>
                </c:pt>
                <c:pt idx="122">
                  <c:v>-0.310481013254</c:v>
                </c:pt>
                <c:pt idx="123">
                  <c:v>-0.253232697327</c:v>
                </c:pt>
                <c:pt idx="124">
                  <c:v>-0.186832695169</c:v>
                </c:pt>
                <c:pt idx="125">
                  <c:v>-0.104969274844</c:v>
                </c:pt>
                <c:pt idx="126">
                  <c:v>-0.0524581427284</c:v>
                </c:pt>
                <c:pt idx="127">
                  <c:v>-0.00782516538693</c:v>
                </c:pt>
                <c:pt idx="128">
                  <c:v>-0.0104712998673</c:v>
                </c:pt>
                <c:pt idx="129">
                  <c:v>-0.0305528702827</c:v>
                </c:pt>
                <c:pt idx="130">
                  <c:v>0.0375526792875</c:v>
                </c:pt>
                <c:pt idx="131">
                  <c:v>0.0259137799967</c:v>
                </c:pt>
                <c:pt idx="132">
                  <c:v>0.0465280114771</c:v>
                </c:pt>
                <c:pt idx="133">
                  <c:v>0.0976664376803</c:v>
                </c:pt>
                <c:pt idx="134">
                  <c:v>0.0777954031342</c:v>
                </c:pt>
                <c:pt idx="135">
                  <c:v>0.0474631160298</c:v>
                </c:pt>
                <c:pt idx="136">
                  <c:v>0.019459581996</c:v>
                </c:pt>
                <c:pt idx="137">
                  <c:v>-0.00570945839292</c:v>
                </c:pt>
                <c:pt idx="138">
                  <c:v>0.0159952661446</c:v>
                </c:pt>
                <c:pt idx="139">
                  <c:v>0.0506901160837</c:v>
                </c:pt>
                <c:pt idx="140">
                  <c:v>0.0729842191622</c:v>
                </c:pt>
                <c:pt idx="141">
                  <c:v>0.130717074462</c:v>
                </c:pt>
                <c:pt idx="142">
                  <c:v>0.166330184701</c:v>
                </c:pt>
                <c:pt idx="143">
                  <c:v>0.205130289171</c:v>
                </c:pt>
                <c:pt idx="144">
                  <c:v>0.208474881898</c:v>
                </c:pt>
                <c:pt idx="145">
                  <c:v>0.295321093365</c:v>
                </c:pt>
                <c:pt idx="146">
                  <c:v>0.407521688693</c:v>
                </c:pt>
                <c:pt idx="147">
                  <c:v>0.403889063653</c:v>
                </c:pt>
                <c:pt idx="148">
                  <c:v>0.435065718063</c:v>
                </c:pt>
                <c:pt idx="149">
                  <c:v>0.476665226025</c:v>
                </c:pt>
                <c:pt idx="150">
                  <c:v>0.537583598801</c:v>
                </c:pt>
                <c:pt idx="151">
                  <c:v>0.58083933719</c:v>
                </c:pt>
                <c:pt idx="152">
                  <c:v>0.720998494762</c:v>
                </c:pt>
                <c:pt idx="153">
                  <c:v>0.767518860305</c:v>
                </c:pt>
                <c:pt idx="154">
                  <c:v>0.757874606957</c:v>
                </c:pt>
                <c:pt idx="155">
                  <c:v>0.773560221926</c:v>
                </c:pt>
                <c:pt idx="156">
                  <c:v>0.82590331925</c:v>
                </c:pt>
                <c:pt idx="157">
                  <c:v>0.832906606392</c:v>
                </c:pt>
                <c:pt idx="158">
                  <c:v>0.774297442678</c:v>
                </c:pt>
                <c:pt idx="159">
                  <c:v>0.747311003177</c:v>
                </c:pt>
                <c:pt idx="160">
                  <c:v>0.756810205645</c:v>
                </c:pt>
                <c:pt idx="161">
                  <c:v>0.74920856939</c:v>
                </c:pt>
                <c:pt idx="162">
                  <c:v>0.721886926453</c:v>
                </c:pt>
                <c:pt idx="163">
                  <c:v>0.688515743843</c:v>
                </c:pt>
                <c:pt idx="164">
                  <c:v>0.593057872733</c:v>
                </c:pt>
                <c:pt idx="165">
                  <c:v>0.382640753991</c:v>
                </c:pt>
                <c:pt idx="166">
                  <c:v>0.38842088445</c:v>
                </c:pt>
                <c:pt idx="167">
                  <c:v>0.336513999865</c:v>
                </c:pt>
                <c:pt idx="168">
                  <c:v>0.325966395441</c:v>
                </c:pt>
                <c:pt idx="169">
                  <c:v>0.294340360084</c:v>
                </c:pt>
                <c:pt idx="170">
                  <c:v>0.30147065825</c:v>
                </c:pt>
                <c:pt idx="171">
                  <c:v>0.351876287077</c:v>
                </c:pt>
                <c:pt idx="172">
                  <c:v>0.442972381174</c:v>
                </c:pt>
                <c:pt idx="173">
                  <c:v>0.520808323495</c:v>
                </c:pt>
                <c:pt idx="174">
                  <c:v>0.506085516458</c:v>
                </c:pt>
                <c:pt idx="175">
                  <c:v>0.535100453613</c:v>
                </c:pt>
                <c:pt idx="176">
                  <c:v>0.543838771256</c:v>
                </c:pt>
                <c:pt idx="177">
                  <c:v>0.607431871649</c:v>
                </c:pt>
                <c:pt idx="178">
                  <c:v>0.635620668556</c:v>
                </c:pt>
                <c:pt idx="179">
                  <c:v>0.631677703868</c:v>
                </c:pt>
                <c:pt idx="180">
                  <c:v>0.589956837123</c:v>
                </c:pt>
                <c:pt idx="181">
                  <c:v>0.565401426647</c:v>
                </c:pt>
                <c:pt idx="182">
                  <c:v>0.607732996107</c:v>
                </c:pt>
                <c:pt idx="183">
                  <c:v>0.662598762088</c:v>
                </c:pt>
                <c:pt idx="184">
                  <c:v>0.695818438603</c:v>
                </c:pt>
                <c:pt idx="185">
                  <c:v>0.736532176188</c:v>
                </c:pt>
                <c:pt idx="186">
                  <c:v>0.771797905826</c:v>
                </c:pt>
                <c:pt idx="187">
                  <c:v>0.803502023509</c:v>
                </c:pt>
                <c:pt idx="188">
                  <c:v>0.873435096656</c:v>
                </c:pt>
                <c:pt idx="189">
                  <c:v>0.803118375304</c:v>
                </c:pt>
                <c:pt idx="190">
                  <c:v>0.793073592046</c:v>
                </c:pt>
                <c:pt idx="191">
                  <c:v>0.830410381288</c:v>
                </c:pt>
                <c:pt idx="192">
                  <c:v>0.803786591604</c:v>
                </c:pt>
                <c:pt idx="193">
                  <c:v>0.803065638324</c:v>
                </c:pt>
                <c:pt idx="194">
                  <c:v>0.84088835725</c:v>
                </c:pt>
                <c:pt idx="195">
                  <c:v>0.898534420942</c:v>
                </c:pt>
                <c:pt idx="196">
                  <c:v>0.908263558315</c:v>
                </c:pt>
                <c:pt idx="197">
                  <c:v>0.88851081277</c:v>
                </c:pt>
                <c:pt idx="198">
                  <c:v>0.882356105837</c:v>
                </c:pt>
                <c:pt idx="199">
                  <c:v>0.923155033398</c:v>
                </c:pt>
                <c:pt idx="200">
                  <c:v>0.856715679081</c:v>
                </c:pt>
                <c:pt idx="201">
                  <c:v>0.83536380926</c:v>
                </c:pt>
                <c:pt idx="202">
                  <c:v>0.841889717411</c:v>
                </c:pt>
                <c:pt idx="203">
                  <c:v>0.805246332001</c:v>
                </c:pt>
                <c:pt idx="204">
                  <c:v>0.840939837015</c:v>
                </c:pt>
                <c:pt idx="205">
                  <c:v>0.926711110985</c:v>
                </c:pt>
                <c:pt idx="206">
                  <c:v>1.00077194212</c:v>
                </c:pt>
                <c:pt idx="207">
                  <c:v>1.05474850777</c:v>
                </c:pt>
                <c:pt idx="208">
                  <c:v>1.04436415513</c:v>
                </c:pt>
                <c:pt idx="209">
                  <c:v>0.9305550925</c:v>
                </c:pt>
                <c:pt idx="210">
                  <c:v>0.956568781964</c:v>
                </c:pt>
                <c:pt idx="211">
                  <c:v>0.989928362966</c:v>
                </c:pt>
                <c:pt idx="212">
                  <c:v>0.979206962513</c:v>
                </c:pt>
                <c:pt idx="213">
                  <c:v>1.01942589417</c:v>
                </c:pt>
                <c:pt idx="214">
                  <c:v>0.963204588821</c:v>
                </c:pt>
                <c:pt idx="215">
                  <c:v>0.906832338908</c:v>
                </c:pt>
                <c:pt idx="216">
                  <c:v>0.969677250216</c:v>
                </c:pt>
                <c:pt idx="217">
                  <c:v>1.00974258221</c:v>
                </c:pt>
                <c:pt idx="218">
                  <c:v>1.04645505416</c:v>
                </c:pt>
                <c:pt idx="219">
                  <c:v>1.02172915879</c:v>
                </c:pt>
                <c:pt idx="220">
                  <c:v>0.955628629796</c:v>
                </c:pt>
                <c:pt idx="221">
                  <c:v>0.839688945112</c:v>
                </c:pt>
                <c:pt idx="222">
                  <c:v>0.828389323739</c:v>
                </c:pt>
                <c:pt idx="223">
                  <c:v>0.807461175086</c:v>
                </c:pt>
                <c:pt idx="224">
                  <c:v>0.843869206366</c:v>
                </c:pt>
                <c:pt idx="225">
                  <c:v>0.928732430757</c:v>
                </c:pt>
                <c:pt idx="226">
                  <c:v>0.88413327855</c:v>
                </c:pt>
                <c:pt idx="227">
                  <c:v>0.879404703288</c:v>
                </c:pt>
                <c:pt idx="228">
                  <c:v>0.842904520849</c:v>
                </c:pt>
                <c:pt idx="229">
                  <c:v>0.779350663224</c:v>
                </c:pt>
                <c:pt idx="230">
                  <c:v>0.758904811254</c:v>
                </c:pt>
                <c:pt idx="231">
                  <c:v>0.756571008641</c:v>
                </c:pt>
                <c:pt idx="232">
                  <c:v>0.802504830078</c:v>
                </c:pt>
                <c:pt idx="233">
                  <c:v>0.814764898205</c:v>
                </c:pt>
                <c:pt idx="234">
                  <c:v>0.880896904232</c:v>
                </c:pt>
                <c:pt idx="235">
                  <c:v>0.818796510939</c:v>
                </c:pt>
                <c:pt idx="236">
                  <c:v>0.808636686443</c:v>
                </c:pt>
                <c:pt idx="237">
                  <c:v>0.762891311667</c:v>
                </c:pt>
                <c:pt idx="238">
                  <c:v>0.727456094447</c:v>
                </c:pt>
                <c:pt idx="239">
                  <c:v>0.686227790143</c:v>
                </c:pt>
                <c:pt idx="240">
                  <c:v>0.680213701329</c:v>
                </c:pt>
                <c:pt idx="241">
                  <c:v>0.607706475234</c:v>
                </c:pt>
                <c:pt idx="242">
                  <c:v>0.506804170625</c:v>
                </c:pt>
                <c:pt idx="243">
                  <c:v>0.500460577593</c:v>
                </c:pt>
                <c:pt idx="244">
                  <c:v>0.487021664774</c:v>
                </c:pt>
                <c:pt idx="245">
                  <c:v>0.444139346812</c:v>
                </c:pt>
                <c:pt idx="246">
                  <c:v>0.398438941348</c:v>
                </c:pt>
                <c:pt idx="247">
                  <c:v>0.333108876935</c:v>
                </c:pt>
                <c:pt idx="248">
                  <c:v>0.234116026822</c:v>
                </c:pt>
                <c:pt idx="249">
                  <c:v>0.266453723749</c:v>
                </c:pt>
                <c:pt idx="250">
                  <c:v>0.260090551373</c:v>
                </c:pt>
                <c:pt idx="251">
                  <c:v>0.235124908838</c:v>
                </c:pt>
                <c:pt idx="252">
                  <c:v>0.19286037267</c:v>
                </c:pt>
                <c:pt idx="253">
                  <c:v>0.222594793683</c:v>
                </c:pt>
                <c:pt idx="254">
                  <c:v>0.296063652577</c:v>
                </c:pt>
                <c:pt idx="255">
                  <c:v>0.363541772577</c:v>
                </c:pt>
                <c:pt idx="256">
                  <c:v>0.371761316099</c:v>
                </c:pt>
                <c:pt idx="257">
                  <c:v>0.453404363296</c:v>
                </c:pt>
                <c:pt idx="258">
                  <c:v>0.525854388027</c:v>
                </c:pt>
                <c:pt idx="259">
                  <c:v>0.548088811699</c:v>
                </c:pt>
                <c:pt idx="260">
                  <c:v>0.531660977009</c:v>
                </c:pt>
                <c:pt idx="261">
                  <c:v>0.568357500411</c:v>
                </c:pt>
                <c:pt idx="262">
                  <c:v>0.552511876664</c:v>
                </c:pt>
                <c:pt idx="263">
                  <c:v>0.598150169504</c:v>
                </c:pt>
                <c:pt idx="264">
                  <c:v>0.633298472998</c:v>
                </c:pt>
                <c:pt idx="265">
                  <c:v>0.619153191393</c:v>
                </c:pt>
                <c:pt idx="266">
                  <c:v>0.608281325292</c:v>
                </c:pt>
                <c:pt idx="267">
                  <c:v>0.612031740327</c:v>
                </c:pt>
                <c:pt idx="268">
                  <c:v>0.56861529701</c:v>
                </c:pt>
                <c:pt idx="269">
                  <c:v>0.520747712032</c:v>
                </c:pt>
                <c:pt idx="270">
                  <c:v>0.544861285783</c:v>
                </c:pt>
                <c:pt idx="271">
                  <c:v>0.547358513189</c:v>
                </c:pt>
                <c:pt idx="272">
                  <c:v>0.537778243753</c:v>
                </c:pt>
                <c:pt idx="273">
                  <c:v>0.5233131352</c:v>
                </c:pt>
                <c:pt idx="274">
                  <c:v>0.493851048737</c:v>
                </c:pt>
                <c:pt idx="275">
                  <c:v>0.504719348622</c:v>
                </c:pt>
                <c:pt idx="276">
                  <c:v>0.508393215419</c:v>
                </c:pt>
                <c:pt idx="277">
                  <c:v>0.472737817914</c:v>
                </c:pt>
                <c:pt idx="278">
                  <c:v>0.467117668425</c:v>
                </c:pt>
                <c:pt idx="279">
                  <c:v>0.390057211874</c:v>
                </c:pt>
              </c:numCache>
            </c:numRef>
          </c:yVal>
        </c:ser>
        <c:ser>
          <c:idx val="1"/>
          <c:order val="1"/>
          <c:tx>
            <c:v>Ajuste linear</c:v>
          </c:tx>
          <c:spPr>
            <a:ln xmlns:a="http://schemas.openxmlformats.org/drawingml/2006/main" w="28575">
              <a:solidFill>
                <a:srgbClr val="A1433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-0.510556339017</c:v>
                </c:pt>
                <c:pt idx="1">
                  <c:v>0.699692549821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1.17038886821</c:v>
                </c:pt>
                <c:pt idx="1">
                  <c:v>-1.01785312326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Mudança de log(R$/US$) em oito anos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Desvio do câmbio real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100</c:v>
                </c:pt>
                <c:pt idx="1">
                  <c:v>100.71934841</c:v>
                </c:pt>
                <c:pt idx="2">
                  <c:v>100.322302203</c:v>
                </c:pt>
                <c:pt idx="3">
                  <c:v>99.698002847</c:v>
                </c:pt>
                <c:pt idx="4">
                  <c:v>100.373656701</c:v>
                </c:pt>
                <c:pt idx="5">
                  <c:v>99.2549664106</c:v>
                </c:pt>
                <c:pt idx="6">
                  <c:v>100.124291282</c:v>
                </c:pt>
                <c:pt idx="7">
                  <c:v>103.710174419</c:v>
                </c:pt>
                <c:pt idx="8">
                  <c:v>102.273508455</c:v>
                </c:pt>
                <c:pt idx="9">
                  <c:v>101.303361498</c:v>
                </c:pt>
                <c:pt idx="10">
                  <c:v>104.252071653</c:v>
                </c:pt>
                <c:pt idx="11">
                  <c:v>104.617167642</c:v>
                </c:pt>
                <c:pt idx="12">
                  <c:v>104.150409036</c:v>
                </c:pt>
                <c:pt idx="13">
                  <c:v>104.86036462</c:v>
                </c:pt>
                <c:pt idx="14">
                  <c:v>104.930386964</c:v>
                </c:pt>
                <c:pt idx="15">
                  <c:v>106.103195945</c:v>
                </c:pt>
                <c:pt idx="16">
                  <c:v>107.957742778</c:v>
                </c:pt>
                <c:pt idx="17">
                  <c:v>106.613506263</c:v>
                </c:pt>
                <c:pt idx="18">
                  <c:v>107.37181535</c:v>
                </c:pt>
                <c:pt idx="19">
                  <c:v>107.849787278</c:v>
                </c:pt>
                <c:pt idx="20">
                  <c:v>106.492892737</c:v>
                </c:pt>
                <c:pt idx="21">
                  <c:v>107.460389187</c:v>
                </c:pt>
                <c:pt idx="22">
                  <c:v>107.125094655</c:v>
                </c:pt>
                <c:pt idx="23">
                  <c:v>106.025103845</c:v>
                </c:pt>
                <c:pt idx="24">
                  <c:v>101.093430557</c:v>
                </c:pt>
                <c:pt idx="25">
                  <c:v>100.744825006</c:v>
                </c:pt>
                <c:pt idx="26">
                  <c:v>100.75422077</c:v>
                </c:pt>
                <c:pt idx="27">
                  <c:v>100.429772996</c:v>
                </c:pt>
                <c:pt idx="28">
                  <c:v>100.262136874</c:v>
                </c:pt>
                <c:pt idx="29">
                  <c:v>99.8492002049</c:v>
                </c:pt>
                <c:pt idx="30">
                  <c:v>98.6613571051</c:v>
                </c:pt>
                <c:pt idx="31">
                  <c:v>98.1413497346</c:v>
                </c:pt>
                <c:pt idx="32">
                  <c:v>100.362047503</c:v>
                </c:pt>
                <c:pt idx="33">
                  <c:v>100.474404371</c:v>
                </c:pt>
                <c:pt idx="34">
                  <c:v>99.752096078</c:v>
                </c:pt>
                <c:pt idx="35">
                  <c:v>100.420418294</c:v>
                </c:pt>
                <c:pt idx="36">
                  <c:v>101.294071685</c:v>
                </c:pt>
                <c:pt idx="37">
                  <c:v>102.743644063</c:v>
                </c:pt>
                <c:pt idx="38">
                  <c:v>103.71238531</c:v>
                </c:pt>
                <c:pt idx="39">
                  <c:v>105.412085953</c:v>
                </c:pt>
                <c:pt idx="40">
                  <c:v>104.449184137</c:v>
                </c:pt>
                <c:pt idx="41">
                  <c:v>103.989507174</c:v>
                </c:pt>
                <c:pt idx="42">
                  <c:v>103.793307945</c:v>
                </c:pt>
                <c:pt idx="43">
                  <c:v>103.953103088</c:v>
                </c:pt>
                <c:pt idx="44">
                  <c:v>103.780438231</c:v>
                </c:pt>
                <c:pt idx="45">
                  <c:v>104.877380412</c:v>
                </c:pt>
                <c:pt idx="46">
                  <c:v>106.376488994</c:v>
                </c:pt>
                <c:pt idx="47">
                  <c:v>107.65239692</c:v>
                </c:pt>
                <c:pt idx="48">
                  <c:v>112.1947406</c:v>
                </c:pt>
                <c:pt idx="49">
                  <c:v>113.775863786</c:v>
                </c:pt>
                <c:pt idx="50">
                  <c:v>114.108663876</c:v>
                </c:pt>
                <c:pt idx="51">
                  <c:v>113.909828571</c:v>
                </c:pt>
                <c:pt idx="52">
                  <c:v>114.818454183</c:v>
                </c:pt>
                <c:pt idx="53">
                  <c:v>116.508487218</c:v>
                </c:pt>
                <c:pt idx="54">
                  <c:v>116.322293898</c:v>
                </c:pt>
                <c:pt idx="55">
                  <c:v>117.863911723</c:v>
                </c:pt>
                <c:pt idx="56">
                  <c:v>115.509437318</c:v>
                </c:pt>
                <c:pt idx="57">
                  <c:v>113.893631891</c:v>
                </c:pt>
                <c:pt idx="58">
                  <c:v>115.041261574</c:v>
                </c:pt>
                <c:pt idx="59">
                  <c:v>116.918777286</c:v>
                </c:pt>
                <c:pt idx="60">
                  <c:v>117.025148716</c:v>
                </c:pt>
                <c:pt idx="61">
                  <c:v>118.38667493</c:v>
                </c:pt>
                <c:pt idx="62">
                  <c:v>120.241226592</c:v>
                </c:pt>
                <c:pt idx="63">
                  <c:v>123.875469942</c:v>
                </c:pt>
                <c:pt idx="64">
                  <c:v>124.786511132</c:v>
                </c:pt>
                <c:pt idx="65">
                  <c:v>125.406495792</c:v>
                </c:pt>
                <c:pt idx="66">
                  <c:v>127.266317954</c:v>
                </c:pt>
                <c:pt idx="67">
                  <c:v>127.834701204</c:v>
                </c:pt>
                <c:pt idx="68">
                  <c:v>129.145118797</c:v>
                </c:pt>
                <c:pt idx="69">
                  <c:v>129.037732474</c:v>
                </c:pt>
                <c:pt idx="70">
                  <c:v>131.132670384</c:v>
                </c:pt>
                <c:pt idx="71">
                  <c:v>132.215474911</c:v>
                </c:pt>
                <c:pt idx="72">
                  <c:v>133.348958733</c:v>
                </c:pt>
                <c:pt idx="73">
                  <c:v>134.633572833</c:v>
                </c:pt>
                <c:pt idx="74">
                  <c:v>135.103055221</c:v>
                </c:pt>
                <c:pt idx="75">
                  <c:v>135.113813342</c:v>
                </c:pt>
                <c:pt idx="76">
                  <c:v>133.797066308</c:v>
                </c:pt>
                <c:pt idx="77">
                  <c:v>133.721783957</c:v>
                </c:pt>
                <c:pt idx="78">
                  <c:v>135.460253707</c:v>
                </c:pt>
                <c:pt idx="79">
                  <c:v>137.278071793</c:v>
                </c:pt>
                <c:pt idx="80">
                  <c:v>135.811470875</c:v>
                </c:pt>
                <c:pt idx="81">
                  <c:v>137.705179836</c:v>
                </c:pt>
                <c:pt idx="82">
                  <c:v>139.898790756</c:v>
                </c:pt>
                <c:pt idx="83">
                  <c:v>139.389684842</c:v>
                </c:pt>
                <c:pt idx="84">
                  <c:v>138.737845387</c:v>
                </c:pt>
                <c:pt idx="85">
                  <c:v>138.834917566</c:v>
                </c:pt>
                <c:pt idx="86">
                  <c:v>139.612642397</c:v>
                </c:pt>
                <c:pt idx="87">
                  <c:v>141.256074593</c:v>
                </c:pt>
                <c:pt idx="88">
                  <c:v>142.545638631</c:v>
                </c:pt>
                <c:pt idx="89">
                  <c:v>143.838071542</c:v>
                </c:pt>
                <c:pt idx="90">
                  <c:v>145.422151018</c:v>
                </c:pt>
                <c:pt idx="91">
                  <c:v>147.043488945</c:v>
                </c:pt>
                <c:pt idx="92">
                  <c:v>148.972615734</c:v>
                </c:pt>
                <c:pt idx="93">
                  <c:v>148.657522503</c:v>
                </c:pt>
                <c:pt idx="94">
                  <c:v>149.949058256</c:v>
                </c:pt>
                <c:pt idx="95">
                  <c:v>151.86158292</c:v>
                </c:pt>
                <c:pt idx="96">
                  <c:v>154.382837606</c:v>
                </c:pt>
                <c:pt idx="97">
                  <c:v>156.247340719</c:v>
                </c:pt>
                <c:pt idx="98">
                  <c:v>156.977456964</c:v>
                </c:pt>
                <c:pt idx="99">
                  <c:v>158.999767591</c:v>
                </c:pt>
                <c:pt idx="100">
                  <c:v>160.210438933</c:v>
                </c:pt>
                <c:pt idx="101">
                  <c:v>160.466915563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8575">
              <a:solidFill>
                <a:srgbClr val="007F7B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100</c:v>
                </c:pt>
                <c:pt idx="1">
                  <c:v>100.15026869</c:v>
                </c:pt>
                <c:pt idx="2">
                  <c:v>100.284613605</c:v>
                </c:pt>
                <c:pt idx="3">
                  <c:v>100.39719923</c:v>
                </c:pt>
                <c:pt idx="4">
                  <c:v>100.580723784</c:v>
                </c:pt>
                <c:pt idx="5">
                  <c:v>100.751342276</c:v>
                </c:pt>
                <c:pt idx="6">
                  <c:v>100.934023803</c:v>
                </c:pt>
                <c:pt idx="7">
                  <c:v>101.162765262</c:v>
                </c:pt>
                <c:pt idx="8">
                  <c:v>101.272781469</c:v>
                </c:pt>
                <c:pt idx="9">
                  <c:v>101.301144745</c:v>
                </c:pt>
                <c:pt idx="10">
                  <c:v>101.692532911</c:v>
                </c:pt>
                <c:pt idx="11">
                  <c:v>101.927577822</c:v>
                </c:pt>
                <c:pt idx="12">
                  <c:v>102.100492667</c:v>
                </c:pt>
                <c:pt idx="13">
                  <c:v>102.342639995</c:v>
                </c:pt>
                <c:pt idx="14">
                  <c:v>102.537704105</c:v>
                </c:pt>
                <c:pt idx="15">
                  <c:v>102.778680424</c:v>
                </c:pt>
                <c:pt idx="16">
                  <c:v>103.104623255</c:v>
                </c:pt>
                <c:pt idx="17">
                  <c:v>103.338758203</c:v>
                </c:pt>
                <c:pt idx="18">
                  <c:v>103.541953266</c:v>
                </c:pt>
                <c:pt idx="19">
                  <c:v>103.659277139</c:v>
                </c:pt>
                <c:pt idx="20">
                  <c:v>103.794723067</c:v>
                </c:pt>
                <c:pt idx="21">
                  <c:v>103.931884234</c:v>
                </c:pt>
                <c:pt idx="22">
                  <c:v>104.071217739</c:v>
                </c:pt>
                <c:pt idx="23">
                  <c:v>104.211108647</c:v>
                </c:pt>
                <c:pt idx="24">
                  <c:v>103.70596491</c:v>
                </c:pt>
                <c:pt idx="25">
                  <c:v>103.776753285</c:v>
                </c:pt>
                <c:pt idx="26">
                  <c:v>103.921329464</c:v>
                </c:pt>
                <c:pt idx="27">
                  <c:v>103.965294941</c:v>
                </c:pt>
                <c:pt idx="28">
                  <c:v>103.886188019</c:v>
                </c:pt>
                <c:pt idx="29">
                  <c:v>104.136990106</c:v>
                </c:pt>
                <c:pt idx="30">
                  <c:v>103.675268466</c:v>
                </c:pt>
                <c:pt idx="31">
                  <c:v>103.365258378</c:v>
                </c:pt>
                <c:pt idx="32">
                  <c:v>104.922616325</c:v>
                </c:pt>
                <c:pt idx="33">
                  <c:v>105.050718383</c:v>
                </c:pt>
                <c:pt idx="34">
                  <c:v>104.671719007</c:v>
                </c:pt>
                <c:pt idx="35">
                  <c:v>105.367763748</c:v>
                </c:pt>
                <c:pt idx="36">
                  <c:v>106.274002433</c:v>
                </c:pt>
                <c:pt idx="37">
                  <c:v>107.794844282</c:v>
                </c:pt>
                <c:pt idx="38">
                  <c:v>108.811211891</c:v>
                </c:pt>
                <c:pt idx="39">
                  <c:v>109.989322993</c:v>
                </c:pt>
                <c:pt idx="40">
                  <c:v>109.32328455</c:v>
                </c:pt>
                <c:pt idx="41">
                  <c:v>109.012440757</c:v>
                </c:pt>
                <c:pt idx="42">
                  <c:v>108.8785517</c:v>
                </c:pt>
                <c:pt idx="43">
                  <c:v>108.994060857</c:v>
                </c:pt>
                <c:pt idx="44">
                  <c:v>108.877157849</c:v>
                </c:pt>
                <c:pt idx="45">
                  <c:v>109.648154088</c:v>
                </c:pt>
                <c:pt idx="46">
                  <c:v>110.696800755</c:v>
                </c:pt>
                <c:pt idx="47">
                  <c:v>112.011333035</c:v>
                </c:pt>
                <c:pt idx="48">
                  <c:v>116.737598565</c:v>
                </c:pt>
                <c:pt idx="49">
                  <c:v>118.410946214</c:v>
                </c:pt>
                <c:pt idx="50">
                  <c:v>118.906528149</c:v>
                </c:pt>
                <c:pt idx="51">
                  <c:v>118.675961507</c:v>
                </c:pt>
                <c:pt idx="52">
                  <c:v>119.616867383</c:v>
                </c:pt>
                <c:pt idx="53">
                  <c:v>120.678842415</c:v>
                </c:pt>
                <c:pt idx="54">
                  <c:v>120.662591597</c:v>
                </c:pt>
                <c:pt idx="55">
                  <c:v>121.538277309</c:v>
                </c:pt>
                <c:pt idx="56">
                  <c:v>120.439964155</c:v>
                </c:pt>
                <c:pt idx="57">
                  <c:v>119.803372208</c:v>
                </c:pt>
                <c:pt idx="58">
                  <c:v>121.039360609</c:v>
                </c:pt>
                <c:pt idx="59">
                  <c:v>122.746009505</c:v>
                </c:pt>
                <c:pt idx="60">
                  <c:v>123.062295052</c:v>
                </c:pt>
                <c:pt idx="61">
                  <c:v>124.541744696</c:v>
                </c:pt>
                <c:pt idx="62">
                  <c:v>125.703136842</c:v>
                </c:pt>
                <c:pt idx="63">
                  <c:v>128.18524569</c:v>
                </c:pt>
                <c:pt idx="64">
                  <c:v>129.097819195</c:v>
                </c:pt>
                <c:pt idx="65">
                  <c:v>129.704624813</c:v>
                </c:pt>
                <c:pt idx="66">
                  <c:v>130.800011032</c:v>
                </c:pt>
                <c:pt idx="67">
                  <c:v>131.47405267</c:v>
                </c:pt>
                <c:pt idx="68">
                  <c:v>132.460708297</c:v>
                </c:pt>
                <c:pt idx="69">
                  <c:v>132.622155846</c:v>
                </c:pt>
                <c:pt idx="70">
                  <c:v>134.137785091</c:v>
                </c:pt>
                <c:pt idx="71">
                  <c:v>135.082692588</c:v>
                </c:pt>
                <c:pt idx="72">
                  <c:v>136.011222812</c:v>
                </c:pt>
                <c:pt idx="73">
                  <c:v>137.041383007</c:v>
                </c:pt>
                <c:pt idx="74">
                  <c:v>137.545208663</c:v>
                </c:pt>
                <c:pt idx="75">
                  <c:v>137.711470464</c:v>
                </c:pt>
                <c:pt idx="76">
                  <c:v>137.156577297</c:v>
                </c:pt>
                <c:pt idx="77">
                  <c:v>137.260322779</c:v>
                </c:pt>
                <c:pt idx="78">
                  <c:v>138.559832249</c:v>
                </c:pt>
                <c:pt idx="79">
                  <c:v>139.386746534</c:v>
                </c:pt>
                <c:pt idx="80">
                  <c:v>138.48254457</c:v>
                </c:pt>
                <c:pt idx="81">
                  <c:v>139.886653572</c:v>
                </c:pt>
                <c:pt idx="82">
                  <c:v>141.531082637</c:v>
                </c:pt>
                <c:pt idx="83">
                  <c:v>141.55451182</c:v>
                </c:pt>
                <c:pt idx="84">
                  <c:v>142.000476705</c:v>
                </c:pt>
                <c:pt idx="85">
                  <c:v>142.249806381</c:v>
                </c:pt>
                <c:pt idx="86">
                  <c:v>142.935657706</c:v>
                </c:pt>
                <c:pt idx="87">
                  <c:v>145.1816919</c:v>
                </c:pt>
                <c:pt idx="88">
                  <c:v>146.728396248</c:v>
                </c:pt>
                <c:pt idx="89">
                  <c:v>147.786960384</c:v>
                </c:pt>
                <c:pt idx="90">
                  <c:v>149.553244147</c:v>
                </c:pt>
                <c:pt idx="91">
                  <c:v>151.403014131</c:v>
                </c:pt>
                <c:pt idx="92">
                  <c:v>153.200325004</c:v>
                </c:pt>
                <c:pt idx="93">
                  <c:v>153.133275105</c:v>
                </c:pt>
                <c:pt idx="94">
                  <c:v>154.966780756</c:v>
                </c:pt>
                <c:pt idx="95">
                  <c:v>156.83923414</c:v>
                </c:pt>
                <c:pt idx="96">
                  <c:v>158.442116119</c:v>
                </c:pt>
                <c:pt idx="97">
                  <c:v>159.921047739</c:v>
                </c:pt>
                <c:pt idx="98">
                  <c:v>160.62790368</c:v>
                </c:pt>
                <c:pt idx="99">
                  <c:v>161.438557757</c:v>
                </c:pt>
                <c:pt idx="100">
                  <c:v>162.201591724</c:v>
                </c:pt>
                <c:pt idx="101">
                  <c:v>162.569659057</c:v>
                </c:pt>
              </c:numCache>
            </c:numRef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Ref>
              <c:f>'Chart Data'!$E$2:$E$103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Data'!$F$2:$F$103</c:f>
              <c:numCache>
                <c:formatCode>0.00</c:formatCode>
                <c:ptCount val="102"/>
                <c:pt idx="0">
                  <c:v>100</c:v>
                </c:pt>
                <c:pt idx="1">
                  <c:v>100.13441844</c:v>
                </c:pt>
                <c:pt idx="2">
                  <c:v>100.269017563</c:v>
                </c:pt>
                <c:pt idx="3">
                  <c:v>100.403797612</c:v>
                </c:pt>
                <c:pt idx="4">
                  <c:v>100.559346288</c:v>
                </c:pt>
                <c:pt idx="5">
                  <c:v>100.715135945</c:v>
                </c:pt>
                <c:pt idx="6">
                  <c:v>100.871166956</c:v>
                </c:pt>
                <c:pt idx="7">
                  <c:v>101.048076493</c:v>
                </c:pt>
                <c:pt idx="8">
                  <c:v>101.225296297</c:v>
                </c:pt>
                <c:pt idx="9">
                  <c:v>101.402826912</c:v>
                </c:pt>
                <c:pt idx="10">
                  <c:v>101.601367968</c:v>
                </c:pt>
                <c:pt idx="11">
                  <c:v>101.800297757</c:v>
                </c:pt>
                <c:pt idx="12">
                  <c:v>101.999617039</c:v>
                </c:pt>
                <c:pt idx="13">
                  <c:v>102.199326578</c:v>
                </c:pt>
                <c:pt idx="14">
                  <c:v>102.399427136</c:v>
                </c:pt>
                <c:pt idx="15">
                  <c:v>102.59991948</c:v>
                </c:pt>
                <c:pt idx="16">
                  <c:v>102.800804377</c:v>
                </c:pt>
                <c:pt idx="17">
                  <c:v>103.002082595</c:v>
                </c:pt>
                <c:pt idx="18">
                  <c:v>103.182729367</c:v>
                </c:pt>
                <c:pt idx="19">
                  <c:v>103.34258325</c:v>
                </c:pt>
                <c:pt idx="20">
                  <c:v>103.481494739</c:v>
                </c:pt>
                <c:pt idx="21">
                  <c:v>103.620592949</c:v>
                </c:pt>
                <c:pt idx="22">
                  <c:v>103.759878134</c:v>
                </c:pt>
                <c:pt idx="23">
                  <c:v>103.899350544</c:v>
                </c:pt>
                <c:pt idx="24">
                  <c:v>104.03901043</c:v>
                </c:pt>
                <c:pt idx="25">
                  <c:v>104.049841619</c:v>
                </c:pt>
                <c:pt idx="26">
                  <c:v>104.060673936</c:v>
                </c:pt>
                <c:pt idx="27">
                  <c:v>104.07150738</c:v>
                </c:pt>
                <c:pt idx="28">
                  <c:v>104.082341953</c:v>
                </c:pt>
                <c:pt idx="29">
                  <c:v>104.093177653</c:v>
                </c:pt>
                <c:pt idx="30">
                  <c:v>104.104014482</c:v>
                </c:pt>
                <c:pt idx="31">
                  <c:v>104.114852438</c:v>
                </c:pt>
                <c:pt idx="32">
                  <c:v>104.125691523</c:v>
                </c:pt>
                <c:pt idx="33">
                  <c:v>104.136531737</c:v>
                </c:pt>
                <c:pt idx="34">
                  <c:v>104.147373079</c:v>
                </c:pt>
                <c:pt idx="35">
                  <c:v>104.158215549</c:v>
                </c:pt>
                <c:pt idx="36">
                  <c:v>104.169059148</c:v>
                </c:pt>
                <c:pt idx="37">
                  <c:v>104.179903877</c:v>
                </c:pt>
                <c:pt idx="38">
                  <c:v>104.190749734</c:v>
                </c:pt>
                <c:pt idx="39">
                  <c:v>104.20159672</c:v>
                </c:pt>
                <c:pt idx="40">
                  <c:v>104.212444836</c:v>
                </c:pt>
                <c:pt idx="41">
                  <c:v>104.223294081</c:v>
                </c:pt>
                <c:pt idx="42">
                  <c:v>104.234144455</c:v>
                </c:pt>
                <c:pt idx="43">
                  <c:v>104.244995959</c:v>
                </c:pt>
                <c:pt idx="44">
                  <c:v>104.255848593</c:v>
                </c:pt>
                <c:pt idx="45">
                  <c:v>104.266702357</c:v>
                </c:pt>
                <c:pt idx="46">
                  <c:v>104.27755725</c:v>
                </c:pt>
                <c:pt idx="47">
                  <c:v>104.288413274</c:v>
                </c:pt>
                <c:pt idx="48">
                  <c:v>104.299270428</c:v>
                </c:pt>
                <c:pt idx="49">
                  <c:v>104.331808066</c:v>
                </c:pt>
                <c:pt idx="50">
                  <c:v>104.364355855</c:v>
                </c:pt>
                <c:pt idx="51">
                  <c:v>104.440151366</c:v>
                </c:pt>
                <c:pt idx="52">
                  <c:v>104.580538189</c:v>
                </c:pt>
                <c:pt idx="53">
                  <c:v>104.785301026</c:v>
                </c:pt>
                <c:pt idx="54">
                  <c:v>104.990464777</c:v>
                </c:pt>
                <c:pt idx="55">
                  <c:v>105.260037822</c:v>
                </c:pt>
                <c:pt idx="56">
                  <c:v>105.530303022</c:v>
                </c:pt>
                <c:pt idx="57">
                  <c:v>105.865171378</c:v>
                </c:pt>
                <c:pt idx="58">
                  <c:v>106.243608369</c:v>
                </c:pt>
                <c:pt idx="59">
                  <c:v>106.62339816</c:v>
                </c:pt>
                <c:pt idx="60">
                  <c:v>107.025880366</c:v>
                </c:pt>
                <c:pt idx="61">
                  <c:v>107.451250329</c:v>
                </c:pt>
                <c:pt idx="62">
                  <c:v>107.878310907</c:v>
                </c:pt>
                <c:pt idx="63">
                  <c:v>108.328560456</c:v>
                </c:pt>
                <c:pt idx="64">
                  <c:v>108.780689202</c:v>
                </c:pt>
                <c:pt idx="65">
                  <c:v>109.256329209</c:v>
                </c:pt>
                <c:pt idx="66">
                  <c:v>109.734048935</c:v>
                </c:pt>
                <c:pt idx="67">
                  <c:v>110.213857476</c:v>
                </c:pt>
                <c:pt idx="68">
                  <c:v>110.695763964</c:v>
                </c:pt>
                <c:pt idx="69">
                  <c:v>111.179777572</c:v>
                </c:pt>
                <c:pt idx="70">
                  <c:v>111.665907514</c:v>
                </c:pt>
                <c:pt idx="71">
                  <c:v>112.154163043</c:v>
                </c:pt>
                <c:pt idx="72">
                  <c:v>112.644553453</c:v>
                </c:pt>
                <c:pt idx="73">
                  <c:v>113.13708808</c:v>
                </c:pt>
                <c:pt idx="74">
                  <c:v>113.631776298</c:v>
                </c:pt>
                <c:pt idx="75">
                  <c:v>114.128627524</c:v>
                </c:pt>
                <c:pt idx="76">
                  <c:v>114.627651216</c:v>
                </c:pt>
                <c:pt idx="77">
                  <c:v>115.128856873</c:v>
                </c:pt>
                <c:pt idx="78">
                  <c:v>115.632254035</c:v>
                </c:pt>
                <c:pt idx="79">
                  <c:v>116.091829676</c:v>
                </c:pt>
                <c:pt idx="80">
                  <c:v>116.553231881</c:v>
                </c:pt>
                <c:pt idx="81">
                  <c:v>116.993197243</c:v>
                </c:pt>
                <c:pt idx="82">
                  <c:v>117.411413667</c:v>
                </c:pt>
                <c:pt idx="83">
                  <c:v>117.831125093</c:v>
                </c:pt>
                <c:pt idx="84">
                  <c:v>118.252336864</c:v>
                </c:pt>
                <c:pt idx="85">
                  <c:v>118.675054344</c:v>
                </c:pt>
                <c:pt idx="86">
                  <c:v>119.099282915</c:v>
                </c:pt>
                <c:pt idx="87">
                  <c:v>119.525027979</c:v>
                </c:pt>
                <c:pt idx="88">
                  <c:v>119.952294958</c:v>
                </c:pt>
                <c:pt idx="89">
                  <c:v>120.38108929</c:v>
                </c:pt>
                <c:pt idx="90">
                  <c:v>120.811416437</c:v>
                </c:pt>
                <c:pt idx="91">
                  <c:v>121.219055008</c:v>
                </c:pt>
                <c:pt idx="92">
                  <c:v>121.603706852</c:v>
                </c:pt>
                <c:pt idx="93">
                  <c:v>121.989579273</c:v>
                </c:pt>
                <c:pt idx="94">
                  <c:v>122.352104977</c:v>
                </c:pt>
                <c:pt idx="95">
                  <c:v>122.715708026</c:v>
                </c:pt>
                <c:pt idx="96">
                  <c:v>123.080391622</c:v>
                </c:pt>
                <c:pt idx="97">
                  <c:v>123.446158976</c:v>
                </c:pt>
                <c:pt idx="98">
                  <c:v>123.813013308</c:v>
                </c:pt>
                <c:pt idx="99">
                  <c:v>124.18095785</c:v>
                </c:pt>
                <c:pt idx="100">
                  <c:v>124.54999584</c:v>
                </c:pt>
                <c:pt idx="101">
                  <c:v>124.920130528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5718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-0.39421046</c:v>
                </c:pt>
                <c:pt idx="3">
                  <c:v>-1.01405100318</c:v>
                </c:pt>
                <c:pt idx="4">
                  <c:v>-0.3432227418</c:v>
                </c:pt>
                <c:pt idx="5">
                  <c:v>-1.45392322583</c:v>
                </c:pt>
                <c:pt idx="6">
                  <c:v>-0.590807166033</c:v>
                </c:pt>
                <c:pt idx="7">
                  <c:v>0</c:v>
                </c:pt>
                <c:pt idx="8">
                  <c:v>-1.38527003</c:v>
                </c:pt>
                <c:pt idx="9">
                  <c:v>-2.32071051322</c:v>
                </c:pt>
                <c:pt idx="10">
                  <c:v>0</c:v>
                </c:pt>
                <c:pt idx="11">
                  <c:v>0</c:v>
                </c:pt>
                <c:pt idx="12">
                  <c:v>-0.44615871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-1.24515063</c:v>
                </c:pt>
                <c:pt idx="18">
                  <c:v>-0.542737753547</c:v>
                </c:pt>
                <c:pt idx="19">
                  <c:v>-0.0999979224617</c:v>
                </c:pt>
                <c:pt idx="20">
                  <c:v>-1.35687353488</c:v>
                </c:pt>
                <c:pt idx="21">
                  <c:v>-0.460692839494</c:v>
                </c:pt>
                <c:pt idx="22">
                  <c:v>-0.771272260162</c:v>
                </c:pt>
                <c:pt idx="23">
                  <c:v>-1.79018093817</c:v>
                </c:pt>
                <c:pt idx="24">
                  <c:v>-6.35833247717</c:v>
                </c:pt>
                <c:pt idx="25">
                  <c:v>-6.6812417401</c:v>
                </c:pt>
                <c:pt idx="26">
                  <c:v>-6.67253855275</c:v>
                </c:pt>
                <c:pt idx="27">
                  <c:v>-6.97307074816</c:v>
                </c:pt>
                <c:pt idx="28">
                  <c:v>-7.12835013563</c:v>
                </c:pt>
                <c:pt idx="29">
                  <c:v>-7.51084856376</c:v>
                </c:pt>
                <c:pt idx="30">
                  <c:v>-8.61113379498</c:v>
                </c:pt>
                <c:pt idx="31">
                  <c:v>-9.09281056692</c:v>
                </c:pt>
                <c:pt idx="32">
                  <c:v>-7.03580408356</c:v>
                </c:pt>
                <c:pt idx="33">
                  <c:v>-6.93172922529</c:v>
                </c:pt>
                <c:pt idx="34">
                  <c:v>-7.60079498569</c:v>
                </c:pt>
                <c:pt idx="35">
                  <c:v>-6.98173589984</c:v>
                </c:pt>
                <c:pt idx="36">
                  <c:v>-6.17248093684</c:v>
                </c:pt>
                <c:pt idx="37">
                  <c:v>-4.82975892256</c:v>
                </c:pt>
                <c:pt idx="38">
                  <c:v>-3.93242518629</c:v>
                </c:pt>
                <c:pt idx="39">
                  <c:v>-2.35801227379</c:v>
                </c:pt>
                <c:pt idx="40">
                  <c:v>-3.24993701254</c:v>
                </c:pt>
                <c:pt idx="41">
                  <c:v>-3.67573043097</c:v>
                </c:pt>
                <c:pt idx="42">
                  <c:v>-3.85746749171</c:v>
                </c:pt>
                <c:pt idx="43">
                  <c:v>-3.70945111157</c:v>
                </c:pt>
                <c:pt idx="44">
                  <c:v>-3.86938855779</c:v>
                </c:pt>
                <c:pt idx="45">
                  <c:v>-2.8533037891</c:v>
                </c:pt>
                <c:pt idx="46">
                  <c:v>-1.46469696692</c:v>
                </c:pt>
                <c:pt idx="47">
                  <c:v>-0.282838312248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-0.17425084</c:v>
                </c:pt>
                <c:pt idx="52">
                  <c:v>0</c:v>
                </c:pt>
                <c:pt idx="53">
                  <c:v>0</c:v>
                </c:pt>
                <c:pt idx="54">
                  <c:v>-0.15981095</c:v>
                </c:pt>
                <c:pt idx="55">
                  <c:v>0</c:v>
                </c:pt>
                <c:pt idx="56">
                  <c:v>-1.99762113</c:v>
                </c:pt>
                <c:pt idx="57">
                  <c:v>-3.36852881806</c:v>
                </c:pt>
                <c:pt idx="58">
                  <c:v>-2.394838342</c:v>
                </c:pt>
                <c:pt idx="59">
                  <c:v>-0.801886194803</c:v>
                </c:pt>
                <c:pt idx="60">
                  <c:v>-0.711636832122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-0.08315167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-0.97454657</c:v>
                </c:pt>
                <c:pt idx="77">
                  <c:v>-1.03026430094</c:v>
                </c:pt>
                <c:pt idx="78">
                  <c:v>0</c:v>
                </c:pt>
                <c:pt idx="79">
                  <c:v>0</c:v>
                </c:pt>
                <c:pt idx="80">
                  <c:v>-1.06834318</c:v>
                </c:pt>
                <c:pt idx="81">
                  <c:v>0</c:v>
                </c:pt>
                <c:pt idx="82">
                  <c:v>0</c:v>
                </c:pt>
                <c:pt idx="83">
                  <c:v>-0.36391016</c:v>
                </c:pt>
                <c:pt idx="84">
                  <c:v>-0.829846606969</c:v>
                </c:pt>
                <c:pt idx="85">
                  <c:v>-0.760459174541</c:v>
                </c:pt>
                <c:pt idx="86">
                  <c:v>-0.204539551399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-0.21151084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5718">
              <a:solidFill>
                <a:srgbClr val="007F7B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-0.48473118</c:v>
                </c:pt>
                <c:pt idx="25">
                  <c:v>-0.416803321347</c:v>
                </c:pt>
                <c:pt idx="26">
                  <c:v>-0.278069379269</c:v>
                </c:pt>
                <c:pt idx="27">
                  <c:v>-0.235880520691</c:v>
                </c:pt>
                <c:pt idx="28">
                  <c:v>-0.311790779816</c:v>
                </c:pt>
                <c:pt idx="29">
                  <c:v>-0.0711234552725</c:v>
                </c:pt>
                <c:pt idx="30">
                  <c:v>-0.514187198744</c:v>
                </c:pt>
                <c:pt idx="31">
                  <c:v>-0.811669964691</c:v>
                </c:pt>
                <c:pt idx="32">
                  <c:v>0</c:v>
                </c:pt>
                <c:pt idx="33">
                  <c:v>0</c:v>
                </c:pt>
                <c:pt idx="34">
                  <c:v>-0.36077752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-0.60554827</c:v>
                </c:pt>
                <c:pt idx="41">
                  <c:v>-0.888160967475</c:v>
                </c:pt>
                <c:pt idx="42">
                  <c:v>-1.00989010835</c:v>
                </c:pt>
                <c:pt idx="43">
                  <c:v>-0.90487158986</c:v>
                </c:pt>
                <c:pt idx="44">
                  <c:v>-1.01115736798</c:v>
                </c:pt>
                <c:pt idx="45">
                  <c:v>-0.310183657705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-0.19390579</c:v>
                </c:pt>
                <c:pt idx="52">
                  <c:v>0</c:v>
                </c:pt>
                <c:pt idx="53">
                  <c:v>0</c:v>
                </c:pt>
                <c:pt idx="54">
                  <c:v>-0.01346617</c:v>
                </c:pt>
                <c:pt idx="55">
                  <c:v>0</c:v>
                </c:pt>
                <c:pt idx="56">
                  <c:v>-0.90367675</c:v>
                </c:pt>
                <c:pt idx="57">
                  <c:v>-1.42745572765</c:v>
                </c:pt>
                <c:pt idx="58">
                  <c:v>-0.410501704462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-0.40293896</c:v>
                </c:pt>
                <c:pt idx="77">
                  <c:v>-0.327603563755</c:v>
                </c:pt>
                <c:pt idx="78">
                  <c:v>0</c:v>
                </c:pt>
                <c:pt idx="79">
                  <c:v>0</c:v>
                </c:pt>
                <c:pt idx="80">
                  <c:v>-0.6487001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-0.04376616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Queda desde o pico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Carry por juros</c:v>
          </c:tx>
          <c:spPr>
            <a:solidFill xmlns:a="http://schemas.openxmlformats.org/drawingml/2006/main">
              <a:srgbClr val="15354D"/>
            </a:solidFill>
          </c:spPr>
          <c:cat>
            <c:strRef>
              <c:f>'Chart Data'!$A$2:$A$3</c:f>
              <c:strCache>
                <c:ptCount val="2"/>
                <c:pt idx="0">
                  <c:v>Câmbio</c:v>
                </c:pt>
                <c:pt idx="1">
                  <c:v>Juros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0.74073898</c:v>
                </c:pt>
                <c:pt idx="1">
                  <c:v>2.61915404</c:v>
                </c:pt>
              </c:numCache>
            </c:numRef>
          </c:val>
        </c:ser>
        <c:ser>
          <c:idx val="1"/>
          <c:order val="1"/>
          <c:tx>
            <c:v>Combinação</c:v>
          </c:tx>
          <c:spPr>
            <a:solidFill xmlns:a="http://schemas.openxmlformats.org/drawingml/2006/main">
              <a:srgbClr val="007F7B"/>
            </a:solidFill>
          </c:spPr>
          <c:cat>
            <c:strRef>
              <c:f>'Chart Data'!$C$2:$C$3</c:f>
              <c:strCache>
                <c:ptCount val="2"/>
                <c:pt idx="0">
                  <c:v>Câmbio</c:v>
                </c:pt>
                <c:pt idx="1">
                  <c:v>Juros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1.81617676</c:v>
                </c:pt>
                <c:pt idx="1">
                  <c:v>1.5005359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535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Pontos percentuais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459E4-80CE-4590-A66C-0F72E0CA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Câmbio real, commodities</a:t>
            </a:r>
          </a:p>
          <a:p xmlns:a="http://schemas.openxmlformats.org/drawingml/2006/main">
            <a:pPr>
              <a:defRPr sz="480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 carry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CAF53-B9AD-4C16-BF11-73B25A9C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Replicação de Eichenbaum, Johannsen e Rebelo (2021) e extensões empíricas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1216E-3B5A-46EE-97CF-18E27536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Macroeconomia Aplicada · EPGE/FGV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8CA31-99AF-4B92-9F99-D2FB3A7D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2822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FF421-F2B2-4CD3-AEF7-91FE7AF8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ideia econômica do artigo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F5529-C0D9-4F96-B639-5D835236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Eichenbaum, Johannsen e Rebelo (2021), Review of Economic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66EB6-56BE-4742-8CA0-FB40FEF7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DCAE3-AAD9-442C-8059-5BAA8701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Câmbio real = cotação × preços dos EUA / preços locais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4F7AD-8075-490C-B620-20586115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moeda relativamente barata pode se ajustar pela cotação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ou pela inflação relativa.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D56AF-6578-434D-9959-709EF98D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Nos países com metas de inflação do artigo, o câmbio real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ajuda a prever o nominal futuro e prevê pouco a inflação.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0D565-3F98-49E0-B793-4A8F5366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Escopo deste trabalho: relação preditiva e exemplo da aula. O modelo estrutural completo do artigo fica fora da replicação.</a:t>
            </a:r>
          </a:p>
        </p:txBody>
      </p:sp>
    </p:spTree>
    <p:extLst>
      <p:ext uri="{BB962C8B-B14F-4D97-AF65-F5344CB8AC3E}">
        <p14:creationId xmlns:p14="http://schemas.microsoft.com/office/powerpoint/2010/main" val="1732797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6ED51-F725-42CC-A520-6796E6F8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da aula aparece na replicação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D968E-EEBD-49D0-B219-F9ECD99D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Brasil, horizonte de oito anos. Ajuste dentro da amostra.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B3B0C-F690-4DA3-8213-B1B09635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795337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86eb804c7f457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A3CC4-B22F-4633-B584-E3165F91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Inclinação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34263-6306-41FA-AF6F-441DB288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670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-1,808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5180F-36B9-4947-80C3-3A8926AC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R² do ajuste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DB704-F01F-40E7-B1BD-1340FAED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671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0,883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16912-86A2-458A-9FA8-45E5B484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Replicar uma relação histórica ainda não prova capacidade de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91B00-D7BD-44B1-B601-B7224658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replicação da aula 8. 280 origens, jan/1995–abr/2018. Resultados até abr/2026. Horizontes sobrepostos.</a:t>
            </a:r>
          </a:p>
        </p:txBody>
      </p:sp>
    </p:spTree>
    <p:extLst>
      <p:ext uri="{BB962C8B-B14F-4D97-AF65-F5344CB8AC3E}">
        <p14:creationId xmlns:p14="http://schemas.microsoft.com/office/powerpoint/2010/main" val="418596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B93EB-80D1-4B68-A39C-A0F48A8A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teste fora da amostra é mais exigente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B5DD3-6FFD-4152-BAB9-2793BC0D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Câmbio nominal em cinco anos. Seis moedas em relação ao dólar.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4B1F5-33BF-4202-89B5-CC4E3188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91500"/>
                <a:gridCol w="27813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relativo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Nenhuma mudança na cotação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EJR: desvio do câmbio real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48889-E354-4FDE-BCE2-215618E2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Erro abaixo de 1 melhora a previsão. Acima de 1, piora.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13310-6092-4F84-87A8-3A7C3D31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previsão EJR teve erro 3,7% maior que nenhuma mudança.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B8913-1459-4D72-9B72-FDC658EC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forecast_accuracy.csv. BRL, EUR, JPY, GBP, CAD e SEK. 140 origens, jan/2010–ago/2021. Erro = RMSE / RMSE da referência.</a:t>
            </a:r>
          </a:p>
        </p:txBody>
      </p:sp>
    </p:spTree>
    <p:extLst>
      <p:ext uri="{BB962C8B-B14F-4D97-AF65-F5344CB8AC3E}">
        <p14:creationId xmlns:p14="http://schemas.microsoft.com/office/powerpoint/2010/main" val="1546676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B34E7-BC59-4461-B067-3BD27BD2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proposta inicial para o carry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41E77-3606-47F1-93B3-D9F19608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Mesmos tipos de ativos e custos. O que muda é o sinal para escolher as moedas.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C1AFB-726D-460A-8709-63037DEE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com previsão cambial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+ valorização prevista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5C050-2A39-4C87-9CBC-DE546868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aproximado = diferencial de juros + valorização cambial − custos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1AE10-65EE-471A-B7B1-05BF1DDF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ativo +10%, financiamento 3%, moeda −8%.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 exato antes de custos: 1,10 × 0,92 − 1,03 = −1,8%.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903E0-0762-4174-A092-5E105A2C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Exemplo hipotético. Simulação com aplicações curtas e financiamento. O cálculo exato inclui interação entre juros e câmbio.</a:t>
            </a:r>
          </a:p>
        </p:txBody>
      </p:sp>
    </p:spTree>
    <p:extLst>
      <p:ext uri="{BB962C8B-B14F-4D97-AF65-F5344CB8AC3E}">
        <p14:creationId xmlns:p14="http://schemas.microsoft.com/office/powerpoint/2010/main" val="6265880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71E78-E1F2-4E2A-9EB3-5B258492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Adicionar a previsão ao ranking piorou o retorno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4BE98-F444-4474-981F-F191F024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Retornos líquidos em dólar, março de 2010 a agosto de 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4A6EB-54FA-4756-A011-9CD6B0E3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60198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+ 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4,16%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-7,01%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67842-DE56-4A1F-BCFF-15F12663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ranking com previsão entregou menos retorno e menor Sharpe.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1E734-16D7-47BF-B7B2-3C3E12A5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portfolio_metrics.csv. 198 meses. Caixa USD, financiamento e custos incluídos. Sharpe sobre o excesso do caixa.</a:t>
            </a:r>
          </a:p>
        </p:txBody>
      </p:sp>
    </p:spTree>
    <p:extLst>
      <p:ext uri="{BB962C8B-B14F-4D97-AF65-F5344CB8AC3E}">
        <p14:creationId xmlns:p14="http://schemas.microsoft.com/office/powerpoint/2010/main" val="498507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C14C2-DB22-4893-9C20-AE56B571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Commodities e condições de troca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3B2C6-F09C-4195-B1D3-8DAE0896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Etapa preditiva: sem carteiras de commodities.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A440E-EAB2-4FB7-807A-CC53E1A5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4C375-6605-4BFC-A45E-719F4F5D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Termos de troca = preços das exportações / preços das importações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8D4EB-46C4-40C1-B231-03B00A1C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alta do petróleo pode favorecer um exportador líquido</a:t>
            </a:r>
          </a:p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 prejudicar um importador líquido.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64B02-D0BD-441B-9974-D4930DA6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Hipótese: o comércio muda a referência do câmbio real,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 a média histórica passa a contar apenas parte da história.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A6106-488C-42DE-A79D-B439486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Preços de commodities, termos de troca agregados e composição comercial são medidas distintas. Exemplo econômico ilustrativo.</a:t>
            </a:r>
          </a:p>
        </p:txBody>
      </p:sp>
    </p:spTree>
    <p:extLst>
      <p:ext uri="{BB962C8B-B14F-4D97-AF65-F5344CB8AC3E}">
        <p14:creationId xmlns:p14="http://schemas.microsoft.com/office/powerpoint/2010/main" val="8411102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5FBD4-64E4-48FB-BE55-9D8B03C4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Commodities melhoram uma previsão, com fragilidade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1533F-425B-4802-B783-52F1056E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 alvo nominal de cinco anos. Erro relativo à previsão de nenhuma mudança.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5B382-017F-4F07-B9CA-F82BB2CE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105150"/>
                <a:gridCol w="3105150"/>
              </a:tblGrid>
              <a:tr h="6810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Origens 2010–2021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Origens 2019–2021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Nenhuma mudança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1,977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 + commodities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0,890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1,630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0E6C0-117B-4354-9187-AF15F656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Ganho na janela completa. Perda para a referência no recorte recente.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0D6E8-0504-4B21-A4D3-7D43812B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terceiro relatório, REJR_Specific. 140 e 32 origens sobrepostas. Pesos comerciais de 1994–1996. Sem BRL, o ganho sobre a referência desaparece.</a:t>
            </a:r>
          </a:p>
        </p:txBody>
      </p:sp>
    </p:spTree>
    <p:extLst>
      <p:ext uri="{BB962C8B-B14F-4D97-AF65-F5344CB8AC3E}">
        <p14:creationId xmlns:p14="http://schemas.microsoft.com/office/powerpoint/2010/main" val="717822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7ED82-B99F-49B9-B3B0-CB16138F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Prever o câmbio real continuou difícil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516A5-5CE1-47AB-9C44-56146A48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Outro alvo: mudança do câmbio real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69B20-7344-442D-972D-52726D60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2733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0"/>
                <a:gridCol w="2590800"/>
              </a:tblGrid>
              <a:tr h="6834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relativo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Nenhuma mudança real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Regressão base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2,20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Base + preços e pesos comerciais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864C4-897F-4687-B49C-AA45F3BA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extensão melhora a base em 5%, mas perde para nenhuma mudança.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54577-501E-4256-881A-3EAED420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extensão de termos de troca, real_60. Mesma amostra: 104 origens, jan/2013–ago/2021. Proxy comercial mensal com pesos defasados.</a:t>
            </a:r>
          </a:p>
        </p:txBody>
      </p:sp>
    </p:spTree>
    <p:extLst>
      <p:ext uri="{BB962C8B-B14F-4D97-AF65-F5344CB8AC3E}">
        <p14:creationId xmlns:p14="http://schemas.microsoft.com/office/powerpoint/2010/main" val="1601794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05D60-82E1-4212-BD75-C0623CA6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informação passa a controlar a posição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B7610-702C-4E07-9F82-F7452622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Três módulos, combinados em partes iguais. O carry continua orientando as pontas.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EEFE3-DDF1-46D5-B980-DB751C88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8001000"/>
              </a:tblGrid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econômica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Quanto investir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Reduzir tamanho se a previsão for fraca.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mudanças comerciais extremas.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entrar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Exigir retorno previsto mínimo.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preços comerciais adversos.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sair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Abrir parcelas com prazo de até 12 meses.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Sair se o comércio indicar risco adicional.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520E4-DD01-48A7-8E7D-61533D0A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Risco adicional: câmbio consumir os juros, segundo o modelo com comércio</a:t>
            </a:r>
          </a:p>
          <a:p xmlns:a="http://schemas.openxmlformats.org/drawingml/2006/main">
            <a:pPr>
              <a:defRPr sz="17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em comparação ao modelo 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5E276-2277-409C-B01E-F9F9DEA1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synthesis/model.py. Pesos 1/3 por módulo. Limites calculados com história passada. Escolha de módulos após exploração histórica.</a:t>
            </a:r>
          </a:p>
        </p:txBody>
      </p:sp>
    </p:spTree>
    <p:extLst>
      <p:ext uri="{BB962C8B-B14F-4D97-AF65-F5344CB8AC3E}">
        <p14:creationId xmlns:p14="http://schemas.microsoft.com/office/powerpoint/2010/main" val="21330322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56311-EBD6-4131-B782-F5C5A359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combinação teve risco menor na janela comum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37265-424E-4A0D-B648-0B0C830C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Janela comum: abril de 2018 a agosto de 2026. Retornos líquidos em dólar.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E1AD3-D4C2-4EAF-8FB3-519A6607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58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Exposição bruta média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58E68-8F28-4231-8F32-1FFEB313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próximo com menos risco e, também, menos exposição.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1EA56-FD17-48DC-9FA6-967508C7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metrics.csv, common/all. 101 meses. Exposição líquida zero. Resultado exploratório, sem prova de ganho de retorno médio.</a:t>
            </a:r>
          </a:p>
        </p:txBody>
      </p:sp>
    </p:spTree>
    <p:extLst>
      <p:ext uri="{BB962C8B-B14F-4D97-AF65-F5344CB8AC3E}">
        <p14:creationId xmlns:p14="http://schemas.microsoft.com/office/powerpoint/2010/main" val="12540477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27FCA-C0E4-4396-8AE8-69FFECA4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trajetória explica o resultado de risco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21209-7A2D-42CE-AFC3-DA6DF098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líquido em dólar, base 100 antes de abril de 2018.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C3CA1-E32D-4F64-8212-6047D726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11144250" cy="2562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e80c5d7aa14fff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4362450"/>
          <a:ext xmlns:a="http://schemas.openxmlformats.org/drawingml/2006/main" cx="11144250" cy="1733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01fe9eaa0b4ca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B38F5-8711-4932-AA95-AC642E75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returns.csv.gz. Retornos mensais com custos. O patrimônio final semelhante esconde trajetórias de perdas diferentes.</a:t>
            </a:r>
          </a:p>
        </p:txBody>
      </p:sp>
    </p:spTree>
    <p:extLst>
      <p:ext uri="{BB962C8B-B14F-4D97-AF65-F5344CB8AC3E}">
        <p14:creationId xmlns:p14="http://schemas.microsoft.com/office/powerpoint/2010/main" val="15126944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992DC-9B42-4248-8A23-03B26BB8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Menos juros, contribuição cambial melhor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E7AEC-DDA1-40DF-B64B-663DE2B8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Contribuição ao excesso médio anual, em pontos percentuais. Abril/2018–agosto/2026.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791EF-C2E1-413A-8B6A-769212F1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0075" y="2028825"/>
          <a:ext xmlns:a="http://schemas.openxmlformats.org/drawingml/2006/main" cx="73342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ce747016bc465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131FB-1C01-479D-804A-4273470A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621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Custo de ficar de fora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0A2C0-D2B8-4F16-844C-430EF784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Em 2019, excesso anual: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Carry: 3,83%</a:t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Combinação: 0,40%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2AEC2-2CE3-4F40-9FAA-9B837091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filtro protegeu em alguns episódios e deixou ganhos para trás em outros.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9A49D-3FA5-4C3D-B8AA-DA3FE6FD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attribution.csv e episodes.csv. Média aritmética anualizada. Juros/câmbio não somam o CAGR. Custos e interação completam o excesso.</a:t>
            </a:r>
          </a:p>
        </p:txBody>
      </p:sp>
    </p:spTree>
    <p:extLst>
      <p:ext uri="{BB962C8B-B14F-4D97-AF65-F5344CB8AC3E}">
        <p14:creationId xmlns:p14="http://schemas.microsoft.com/office/powerpoint/2010/main" val="2595213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49ED9-FD78-4DD4-8284-F0CD396D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resultado ainda exige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C20A9-8E07-48C0-AA2E-26F9A42C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Melhora histórica de risco não basta para estabelecer uma vantagem de mercado.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D791C-4C14-4F34-90C8-7D9FA0C4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BE768-700B-4DEB-891C-4EDD5147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Escolha das regras após muitos testes na mesma história.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ECBE2-2BB0-44DC-A542-B6A82836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Menor exposição explica parte da redução do risco.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10BAA-9A79-49FC-8CCC-5AED06BF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Resultados dependem bastante de BRL e JPY.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30317-4F8B-4AE2-B3E2-3EF0B11D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Dados revisados e taxas aproximadas limitam a execução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92981-A6D8-48B4-9805-C68C553F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teste corrigido para 14 alternativas principais não estabelece ganho de retorno médio. Calendário controlado não elimina seleção histórica.</a:t>
            </a:r>
          </a:p>
        </p:txBody>
      </p:sp>
    </p:spTree>
    <p:extLst>
      <p:ext uri="{BB962C8B-B14F-4D97-AF65-F5344CB8AC3E}">
        <p14:creationId xmlns:p14="http://schemas.microsoft.com/office/powerpoint/2010/main" val="9137878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6BE63-8AE8-4943-BF7B-8089B185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que o trabalho permite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8F378-F210-4784-8B09-EA961EDF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455DA-65C6-44B7-A715-60AACFEA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histórica da aula se replica.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8B97C-784B-49E6-A4D6-942BD2B7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Commodities ajudam em alguns testes, com instabilidade.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21B09-D0B6-4EAE-97AC-2790BDC6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Controlar a exposição ao carry foi a hipótese mais promissora</a:t>
            </a:r>
          </a:p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para reduzir risco na amostra.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DE394-9A1A-4CAF-8C09-7708FA17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Próxima validação: regras congeladas, dados futuros e custos executáveis. Resultados exploratórios, sem arbitragem demonstrada.</a:t>
            </a:r>
          </a:p>
        </p:txBody>
      </p:sp>
    </p:spTree>
    <p:extLst>
      <p:ext uri="{BB962C8B-B14F-4D97-AF65-F5344CB8AC3E}">
        <p14:creationId xmlns:p14="http://schemas.microsoft.com/office/powerpoint/2010/main" val="11659220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3158D-90B2-41A4-8A57-EB6456C4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equações e informação disponível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D1652-C85A-4904-A6B9-2A69F4E4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Regressões nominais. Índices de país omitidos para facilitar a leitura.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1B3EA-168C-45AE-873D-469098AB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 · apoio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155F3-64E4-4D35-AE22-845933D8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Base: Δs(t, t+h) = β × desvio real + erro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E15C1-ABF4-4035-9B1C-F0A49144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Extensão: base + γ × preços globais + δ × exposição específica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F1C24-CAA6-4DF9-9166-7E9C6F8C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Em t, o treinamento só inclui alvos terminados até t−1.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CPI e preços comerciais entram defasados.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de 60 meses / 60 é um ritmo médio aproximado.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A9503-B2C2-405B-A41F-7128D189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Fontes: src/models.py e third/engine.py. Regressão preditiva agrupada. Sem identificação causal ou estimação completa do DSGE do artigo.</a:t>
            </a:r>
          </a:p>
        </p:txBody>
      </p:sp>
    </p:spTree>
    <p:extLst>
      <p:ext uri="{BB962C8B-B14F-4D97-AF65-F5344CB8AC3E}">
        <p14:creationId xmlns:p14="http://schemas.microsoft.com/office/powerpoint/2010/main" val="5081332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4F454-B9C5-4C25-9939-DDE07C7F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exposição, custos e interpretação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1E3CE-A08B-45BB-8F53-FDE8D4AD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Comparação na mesma janela de 2018–2026. Controle de exposição retrospectivo.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44449-D419-4072-9920-18381ADE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17 ·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276475"/>
                <a:gridCol w="2276475"/>
                <a:gridCol w="2276475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a 48%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-4,02%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CCBAF-C597-4555-81B6-E0945547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Sinal no mês t. Execução em t+1. Primeiro retorno em t+2.</a:t>
            </a:r>
          </a:p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Custos e financiamento entram nos retornos das duas regras.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55B1E-EB31-4C68-A8E2-0ED0EE80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média de 48% só é conhecida ao final. Controle diagnóstico, sem regra executável ex ante. Fonte: exposure_controls.csv.</a:t>
            </a:r>
          </a:p>
        </p:txBody>
      </p:sp>
    </p:spTree>
    <p:extLst>
      <p:ext uri="{BB962C8B-B14F-4D97-AF65-F5344CB8AC3E}">
        <p14:creationId xmlns:p14="http://schemas.microsoft.com/office/powerpoint/2010/main" val="1438065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2026-09-15T17:45:31.3680000Z</dcterms:created>
  <dcterms:modified xsi:type="dcterms:W3CDTF">2026-09-15T17:45:31.3680000Z</dcterms:modified>
</coreProperties>
</file>