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5.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296fde00d6545f7" /><Relationship Type="http://schemas.openxmlformats.org/officeDocument/2006/relationships/extended-properties" Target="/docProps/app.xml" Id="R0ab07209c4e54ca5" /><Relationship Type="http://schemas.openxmlformats.org/officeDocument/2006/relationships/officeDocument" Target="/ppt/presentation.xml" Id="R18ac9c658c864762" /></Relationships>
</file>

<file path=ppt/presentation.xml><?xml version="1.0" encoding="utf-8"?>
<p:presentation xmlns:p="http://schemas.openxmlformats.org/presentationml/2006/main">
  <p:sldMasterIdLst>
    <p:sldMasterId xmlns:r="http://schemas.openxmlformats.org/officeDocument/2006/relationships" id="2147483648" r:id="R14cbb15c17ee40b8"/>
  </p:sldMasterIdLst>
  <p:notesMasterIdLst>
    <p:notesMasterId xmlns:r="http://schemas.openxmlformats.org/officeDocument/2006/relationships" r:id="R22293bb0f8094fa7"/>
  </p:notesMasterIdLst>
  <p:sldIdLst>
    <p:sldId xmlns:r="http://schemas.openxmlformats.org/officeDocument/2006/relationships" id="256" r:id="R8edf1fb592814243"/>
    <p:sldId xmlns:r="http://schemas.openxmlformats.org/officeDocument/2006/relationships" id="257" r:id="R29b215c538bf433b"/>
    <p:sldId xmlns:r="http://schemas.openxmlformats.org/officeDocument/2006/relationships" id="258" r:id="R87996784dcb74e04"/>
    <p:sldId xmlns:r="http://schemas.openxmlformats.org/officeDocument/2006/relationships" id="259" r:id="Ref9e8ff4ff35436a"/>
    <p:sldId xmlns:r="http://schemas.openxmlformats.org/officeDocument/2006/relationships" id="260" r:id="R3878134400164b06"/>
    <p:sldId xmlns:r="http://schemas.openxmlformats.org/officeDocument/2006/relationships" id="261" r:id="R909e2a3d3e5b4247"/>
    <p:sldId xmlns:r="http://schemas.openxmlformats.org/officeDocument/2006/relationships" id="262" r:id="Rfa77ee19c4b94a8c"/>
    <p:sldId xmlns:r="http://schemas.openxmlformats.org/officeDocument/2006/relationships" id="263" r:id="R351efb5fb727400d"/>
    <p:sldId xmlns:r="http://schemas.openxmlformats.org/officeDocument/2006/relationships" id="264" r:id="Rdaf77033b82749e1"/>
    <p:sldId xmlns:r="http://schemas.openxmlformats.org/officeDocument/2006/relationships" id="265" r:id="R59fed9766f5746ef"/>
    <p:sldId xmlns:r="http://schemas.openxmlformats.org/officeDocument/2006/relationships" id="266" r:id="R8daa1dce56304f09"/>
    <p:sldId xmlns:r="http://schemas.openxmlformats.org/officeDocument/2006/relationships" id="267" r:id="R72da7fbd54ed4f7e"/>
    <p:sldId xmlns:r="http://schemas.openxmlformats.org/officeDocument/2006/relationships" id="268" r:id="R337bca01e21b4685"/>
    <p:sldId xmlns:r="http://schemas.openxmlformats.org/officeDocument/2006/relationships" id="269" r:id="R8fae27dcddd34c2d"/>
    <p:sldId xmlns:r="http://schemas.openxmlformats.org/officeDocument/2006/relationships" id="270" r:id="Rfb4dc438402140bc"/>
    <p:sldId xmlns:r="http://schemas.openxmlformats.org/officeDocument/2006/relationships" id="271" r:id="Rc6575b89230540a5"/>
    <p:sldId xmlns:r="http://schemas.openxmlformats.org/officeDocument/2006/relationships" id="272" r:id="R72a54380017340c6"/>
    <p:sldId xmlns:r="http://schemas.openxmlformats.org/officeDocument/2006/relationships" id="273" r:id="Re2bd127e0e0d4cd3"/>
    <p:sldId xmlns:r="http://schemas.openxmlformats.org/officeDocument/2006/relationships" id="274" r:id="R694df62ba33246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84535c0cfb4ac7" /><Relationship Type="http://schemas.openxmlformats.org/officeDocument/2006/relationships/slideMaster" Target="/ppt/slideMasters/slideMaster1.xml" Id="R14cbb15c17ee40b8" /><Relationship Type="http://schemas.openxmlformats.org/officeDocument/2006/relationships/notesMaster" Target="/ppt/notesMasters/notesMaster1.xml" Id="R22293bb0f8094fa7" /><Relationship Type="http://schemas.openxmlformats.org/officeDocument/2006/relationships/presProps" Target="/ppt/presProps.xml" Id="Rde616a023231445a" /><Relationship Type="http://schemas.openxmlformats.org/officeDocument/2006/relationships/tableStyles" Target="/ppt/tableStyles.xml" Id="Rf3a7e5e06ed143ac" /><Relationship Type="http://schemas.openxmlformats.org/officeDocument/2006/relationships/slide" Target="/ppt/slides/slide1.xml" Id="R8edf1fb592814243" /><Relationship Type="http://schemas.openxmlformats.org/officeDocument/2006/relationships/slide" Target="/ppt/slides/slide2.xml" Id="R29b215c538bf433b" /><Relationship Type="http://schemas.openxmlformats.org/officeDocument/2006/relationships/slide" Target="/ppt/slides/slide3.xml" Id="R87996784dcb74e04" /><Relationship Type="http://schemas.openxmlformats.org/officeDocument/2006/relationships/slide" Target="/ppt/slides/slide4.xml" Id="Ref9e8ff4ff35436a" /><Relationship Type="http://schemas.openxmlformats.org/officeDocument/2006/relationships/slide" Target="/ppt/slides/slide5.xml" Id="R3878134400164b06" /><Relationship Type="http://schemas.openxmlformats.org/officeDocument/2006/relationships/slide" Target="/ppt/slides/slide6.xml" Id="R909e2a3d3e5b4247" /><Relationship Type="http://schemas.openxmlformats.org/officeDocument/2006/relationships/slide" Target="/ppt/slides/slide7.xml" Id="Rfa77ee19c4b94a8c" /><Relationship Type="http://schemas.openxmlformats.org/officeDocument/2006/relationships/slide" Target="/ppt/slides/slide8.xml" Id="R351efb5fb727400d" /><Relationship Type="http://schemas.openxmlformats.org/officeDocument/2006/relationships/slide" Target="/ppt/slides/slide9.xml" Id="Rdaf77033b82749e1" /><Relationship Type="http://schemas.openxmlformats.org/officeDocument/2006/relationships/slide" Target="/ppt/slides/slide10.xml" Id="R59fed9766f5746ef" /><Relationship Type="http://schemas.openxmlformats.org/officeDocument/2006/relationships/slide" Target="/ppt/slides/slide11.xml" Id="R8daa1dce56304f09" /><Relationship Type="http://schemas.openxmlformats.org/officeDocument/2006/relationships/slide" Target="/ppt/slides/slide12.xml" Id="R72da7fbd54ed4f7e" /><Relationship Type="http://schemas.openxmlformats.org/officeDocument/2006/relationships/slide" Target="/ppt/slides/slide13.xml" Id="R337bca01e21b4685" /><Relationship Type="http://schemas.openxmlformats.org/officeDocument/2006/relationships/slide" Target="/ppt/slides/slide14.xml" Id="R8fae27dcddd34c2d" /><Relationship Type="http://schemas.openxmlformats.org/officeDocument/2006/relationships/slide" Target="/ppt/slides/slide15.xml" Id="Rfb4dc438402140bc" /><Relationship Type="http://schemas.openxmlformats.org/officeDocument/2006/relationships/slide" Target="/ppt/slides/slide16.xml" Id="Rc6575b89230540a5" /><Relationship Type="http://schemas.openxmlformats.org/officeDocument/2006/relationships/slide" Target="/ppt/slides/slide17.xml" Id="R72a54380017340c6" /><Relationship Type="http://schemas.openxmlformats.org/officeDocument/2006/relationships/slide" Target="/ppt/slides/slide18.xml" Id="Re2bd127e0e0d4cd3" /><Relationship Type="http://schemas.openxmlformats.org/officeDocument/2006/relationships/slide" Target="/ppt/slides/slide19.xml" Id="R694df62ba33246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c9170c80164e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58e5f697fd4ec1" /><Relationship Type="http://schemas.openxmlformats.org/officeDocument/2006/relationships/notesMaster" Target="/ppt/notesMasters/notesMaster1.xml" Id="Rf97235c62493459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00f0027d0c4bc9" /><Relationship Type="http://schemas.openxmlformats.org/officeDocument/2006/relationships/notesMaster" Target="/ppt/notesMasters/notesMaster1.xml" Id="R552390118c3345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3c71ef0b934cf5" /><Relationship Type="http://schemas.openxmlformats.org/officeDocument/2006/relationships/notesMaster" Target="/ppt/notesMasters/notesMaster1.xml" Id="R00d4ef017b1c4f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2a8e68d8cb4a7a" /><Relationship Type="http://schemas.openxmlformats.org/officeDocument/2006/relationships/notesMaster" Target="/ppt/notesMasters/notesMaster1.xml" Id="Rf1d29982f8e742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7cf1b29fce4d88" /><Relationship Type="http://schemas.openxmlformats.org/officeDocument/2006/relationships/notesMaster" Target="/ppt/notesMasters/notesMaster1.xml" Id="R2b1c3190676f49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d09e7de4de4ad6" /><Relationship Type="http://schemas.openxmlformats.org/officeDocument/2006/relationships/notesMaster" Target="/ppt/notesMasters/notesMaster1.xml" Id="R21cafb504a8644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dc0b5c4d29b9475b" /><Relationship Type="http://schemas.openxmlformats.org/officeDocument/2006/relationships/notesMaster" Target="/ppt/notesMasters/notesMaster1.xml" Id="R7dc61b03a2af45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e116ee263e4bb1" /><Relationship Type="http://schemas.openxmlformats.org/officeDocument/2006/relationships/notesMaster" Target="/ppt/notesMasters/notesMaster1.xml" Id="Re6bf492477df4c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551ccbe76c43a1" /><Relationship Type="http://schemas.openxmlformats.org/officeDocument/2006/relationships/notesMaster" Target="/ppt/notesMasters/notesMaster1.xml" Id="R6e0ba5fe1cb549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25aa71249d2468d" /><Relationship Type="http://schemas.openxmlformats.org/officeDocument/2006/relationships/notesMaster" Target="/ppt/notesMasters/notesMaster1.xml" Id="Ra34b8dac28fe45a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4f02fe526b4300" /><Relationship Type="http://schemas.openxmlformats.org/officeDocument/2006/relationships/notesMaster" Target="/ppt/notesMasters/notesMaster1.xml" Id="Re37710707bbe4f7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4adad92a5a7457b" /><Relationship Type="http://schemas.openxmlformats.org/officeDocument/2006/relationships/notesMaster" Target="/ppt/notesMasters/notesMaster1.xml" Id="R0bff43dfcaae440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6ec6e20afbb494d" /><Relationship Type="http://schemas.openxmlformats.org/officeDocument/2006/relationships/notesMaster" Target="/ppt/notesMasters/notesMaster1.xml" Id="R6e00dbbd10284f2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d49a232077c4162" /><Relationship Type="http://schemas.openxmlformats.org/officeDocument/2006/relationships/notesMaster" Target="/ppt/notesMasters/notesMaster1.xml" Id="R63aa7b5fe0cc404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eca9cd87ca24e07" /><Relationship Type="http://schemas.openxmlformats.org/officeDocument/2006/relationships/notesMaster" Target="/ppt/notesMasters/notesMaster1.xml" Id="Rebe474d9abaa4d6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c1b6dc4df0240a1" /><Relationship Type="http://schemas.openxmlformats.org/officeDocument/2006/relationships/notesMaster" Target="/ppt/notesMasters/notesMaster1.xml" Id="R42bb786eb7cb4b3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672ac4f156e4179" /><Relationship Type="http://schemas.openxmlformats.org/officeDocument/2006/relationships/notesMaster" Target="/ppt/notesMasters/notesMaster1.xml" Id="Rec045e378ad3470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5e8a1e5bc98496e" /><Relationship Type="http://schemas.openxmlformats.org/officeDocument/2006/relationships/notesMaster" Target="/ppt/notesMasters/notesMaster1.xml" Id="Rfe8bb5482a8148c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4bb3fcce3f14eb1" /><Relationship Type="http://schemas.openxmlformats.org/officeDocument/2006/relationships/notesMaster" Target="/ppt/notesMasters/notesMaster1.xml" Id="Rbe0701f63ebd43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30s</a:t>
            </a:r>
          </a:p>
          <a:p xmlns:a="http://schemas.openxmlformats.org/drawingml/2006/main">
            <a:r>
              <a:t>Meu trabalho parte de uma ideia do artigo de Eichenbaum, Johannsen e Rebelo: o câmbio real pode conter informação sobre o câmbio nominal futuro. Eu verifico a relação da aula, testo se ela melhora uma estratégia de carry e investigo o papel de commodities e do comércio. A tentativa mais direta de carteira falhou. Os resultados posteriores sugerem alguma utilidade para controlar a exposição, com limitações importantes.</a:t>
            </a:r>
          </a:p>
          <a:p xmlns:a="http://schemas.openxmlformats.org/drawingml/2006/main">
            <a:r>
              <a:t/>
            </a:r>
          </a:p>
          <a:p xmlns:a="http://schemas.openxmlformats.org/drawingml/2006/main">
            <a:r>
              <a:t>Há três objetos diferentes ao longo da apresentação. A replicação procura reproduzir uma relação econômica do artigo. A previsão avalia erros em observações futuras. O backtest calcula o resultado de uma regra de investimento, incluindo juros e câmbio. Um sucesso no primeiro objeto não implica sucesso nos seguintes. O projeto percorreu essas etapas e encontrou tanto fracassos quanto resultados históricos promissores.</a:t>
            </a:r>
          </a:p>
          <a:p xmlns:a="http://schemas.openxmlformats.org/drawingml/2006/main">
            <a:r>
              <a:t>Fontes: Artigo EJR, introdução; synthesis/README.md</a:t>
            </a:r>
          </a:p>
          <a:p xmlns:a="http://schemas.openxmlformats.org/drawingml/2006/main">
            <a:r>
              <a:t>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70 segundos.</a:t>
            </a:r>
          </a:p>
          <a:p xmlns:a="http://schemas.openxmlformats.org/drawingml/2006/main">
            <a:r>
              <a:t>Ideia central: Uma diferença persistente de preços relativos pode se ajustar pelo câmbio nominal ou pela inflação relativa.</a:t>
            </a:r>
          </a:p>
          <a:p xmlns:a="http://schemas.openxmlformats.org/drawingml/2006/main">
            <a:r>
              <a:t/>
            </a:r>
          </a:p>
          <a:p xmlns:a="http://schemas.openxmlformats.org/drawingml/2006/main">
            <a:r>
              <a:t>FALA</a:t>
            </a:r>
          </a:p>
          <a:p xmlns:a="http://schemas.openxmlformats.org/drawingml/2006/main">
            <a:r>
              <a:t>Câmbio nominal é a cotação que vemos no mercado. Câmbio real também considera o que os preços fizeram nos dois países. Por exemplo, se os preços brasileiros sobem relativamente aos americanos e a cotação não muda, o real fica mais caro em termos reais. O artigo pergunta como esse tipo de diferença se ajusta. Nos países com metas de inflação estudados, o câmbio real ajuda a prever o nominal futuro, mas prevê pouco a inflação. A intuição é que, quando os preços estão mais ancorados, parte maior do ajuste pode aparecer na cotação. O artigo também estima um modelo estrutural. Meu exercício reproduz a parte preditiva e o exemplo da aula, sem reestimar esse modelo completo.</a:t>
            </a:r>
          </a:p>
          <a:p xmlns:a="http://schemas.openxmlformats.org/drawingml/2006/main">
            <a:r>
              <a:t/>
            </a:r>
          </a:p>
          <a:p xmlns:a="http://schemas.openxmlformats.org/drawingml/2006/main">
            <a:r>
              <a:t>CONCEITOS</a:t>
            </a:r>
          </a:p>
          <a:p xmlns:a="http://schemas.openxmlformats.org/drawingml/2006/main">
            <a:r>
              <a:t>Câmbio nominal S é o preço do dólar em moeda local. No Brasil, S = 5 significa R$ 5 por US$ 1. O câmbio real Q = S × P_US / P_local ajusta essa cotação pelos níveis de preços das duas economias. Trabalhamos com o logaritmo q. Quando q sobe, a moeda local sofre depreciação real, ficando relativamente barata. Essa classificação depende da referência histórica, não de um valor justo conhecido. A identidade implica que a mudança real soma a mudança nominal à inflação americana menos a inflação local. Se a inflação relativa responde pouco, o ajuste tende a aparecer mais no nominal.</a:t>
            </a:r>
          </a:p>
          <a:p xmlns:a="http://schemas.openxmlformats.org/drawingml/2006/main">
            <a:r>
              <a:t/>
            </a:r>
          </a:p>
          <a:p xmlns:a="http://schemas.openxmlformats.org/drawingml/2006/main">
            <a:r>
              <a:t>LEITURA</a:t>
            </a:r>
          </a:p>
          <a:p xmlns:a="http://schemas.openxmlformats.org/drawingml/2006/main">
            <a:r>
              <a:t>Leia a fórmula em palavras, sem demonstrá-la. Depois explique os dois achados do artigo: capacidade preditiva para câmbio nominal em países com metas de inflação e pouca capacidade para inflação futura. EJR é apenas a sigla dos sobrenomes dos três autores.</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A identidade contábil não prova reversão à média nem identifica o efeito causal das metas de inflação. Não diga que toda moeda barata necessariamente valoriza.</a:t>
            </a:r>
          </a:p>
          <a:p xmlns:a="http://schemas.openxmlformats.org/drawingml/2006/main">
            <a:r>
              <a:t/>
            </a:r>
          </a:p>
          <a:p xmlns:a="http://schemas.openxmlformats.org/drawingml/2006/main">
            <a:r>
              <a:t>PERGUNTA</a:t>
            </a:r>
          </a:p>
          <a:p xmlns:a="http://schemas.openxmlformats.org/drawingml/2006/main">
            <a:r>
              <a:t>Câmbio real é a cotação descontada do IPCA brasileiro? Não. Ele envolve preços relativos entre duas economias, com uma convenção definida para a cotação.</a:t>
            </a:r>
          </a:p>
          <a:p xmlns:a="http://schemas.openxmlformats.org/drawingml/2006/main">
            <a:r>
              <a:t/>
            </a:r>
          </a:p>
          <a:p xmlns:a="http://schemas.openxmlformats.org/drawingml/2006/main">
            <a:r>
              <a:t>TRANSIÇÃO</a:t>
            </a:r>
          </a:p>
          <a:p xmlns:a="http://schemas.openxmlformats.org/drawingml/2006/main">
            <a:r>
              <a:t>A primeira verificação foi reproduzir a relação mostrada na aula.</a:t>
            </a:r>
          </a:p>
          <a:p xmlns:a="http://schemas.openxmlformats.org/drawingml/2006/main">
            <a:r>
              <a:t/>
            </a:r>
          </a:p>
          <a:p xmlns:a="http://schemas.openxmlformats.org/drawingml/2006/main">
            <a:r>
              <a:t>FONTES</a:t>
            </a:r>
          </a:p>
          <a:p xmlns:a="http://schemas.openxmlformats.org/drawingml/2006/main">
            <a:r>
              <a:t>Artigo EJR, resumo e introdução</a:t>
            </a:r>
          </a:p>
          <a:p xmlns:a="http://schemas.openxmlformats.org/drawingml/2006/main">
            <a:r>
              <a:t>src/models.py: features</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75 segundos.</a:t>
            </a:r>
          </a:p>
          <a:p xmlns:a="http://schemas.openxmlformats.org/drawingml/2006/main">
            <a:r>
              <a:t>Ideia central: A replicação brasileira recupera a inclinação de oito anos da aula, aproximadamente −1,808.</a:t>
            </a:r>
          </a:p>
          <a:p xmlns:a="http://schemas.openxmlformats.org/drawingml/2006/main">
            <a:r>
              <a:t/>
            </a:r>
          </a:p>
          <a:p xmlns:a="http://schemas.openxmlformats.org/drawingml/2006/main">
            <a:r>
              <a:t>FALA</a:t>
            </a:r>
          </a:p>
          <a:p xmlns:a="http://schemas.openxmlformats.org/drawingml/2006/main">
            <a:r>
              <a:t>Neste gráfico, cada ponto é um mês brasileiro. À direita estão momentos de maior depreciação real. Para baixo estão apreciações nominais nos oito anos seguintes. A relação é claramente negativa, e a inclinação de menos 1,808 praticamente reproduz o número da aula. O R² é alto, cerca de 88%. Mas esse resultado descreve o ajuste da relação na amostra histórica. Não significa que o modelo acerta 88% das operações. Além disso, previsões feitas em dois meses vizinhos usam quase os mesmos oito anos seguintes, então os pontos não são evidências independentes. A próxima etapa é perguntar se essa relação ajuda quando eu realmente escondo o futuro do modelo.</a:t>
            </a:r>
          </a:p>
          <a:p xmlns:a="http://schemas.openxmlformats.org/drawingml/2006/main">
            <a:r>
              <a:t/>
            </a:r>
          </a:p>
          <a:p xmlns:a="http://schemas.openxmlformats.org/drawingml/2006/main">
            <a:r>
              <a:t>CONCEITOS</a:t>
            </a:r>
          </a:p>
          <a:p xmlns:a="http://schemas.openxmlformats.org/drawingml/2006/main">
            <a:r>
              <a:t>Cada ponto relaciona o desvio do câmbio real em um mês à mudança do log da cotação nos oito anos seguintes. O eixo horizontal usa q menos sua média no exercício histórico. O eixo vertical usa log(S daqui a oito anos / S hoje). Um valor vertical negativo representa apreciação nominal da moeda local. A inclinação negativa indica que meses de real mais depreciado se associaram a apreciação posterior. O R² mede a fração da variação do alvo explicada pelo ajuste dentro da amostra. Não é a probabilidade de acertar uma previsão nem uma medida de rentabilidade.</a:t>
            </a:r>
          </a:p>
          <a:p xmlns:a="http://schemas.openxmlformats.org/drawingml/2006/main">
            <a:r>
              <a:t/>
            </a:r>
          </a:p>
          <a:p xmlns:a="http://schemas.openxmlformats.org/drawingml/2006/main">
            <a:r>
              <a:t>LEITURA</a:t>
            </a:r>
          </a:p>
          <a:p xmlns:a="http://schemas.openxmlformats.org/drawingml/2006/main">
            <a:r>
              <a:t>Comece pelos eixos. Aponte a inclinação descendente. Só então diga que o coeficiente de −1,808 praticamente coincide com o valor da aula e que o R² é 0,883. Há 280 origens mensais, de janeiro de 1995 a abril de 2018, com resultados até abril de 2026. As observações compartilham muitos dos mesmos meses futuros.</a:t>
            </a:r>
          </a:p>
          <a:p xmlns:a="http://schemas.openxmlformats.org/drawingml/2006/main">
            <a:r>
              <a:t/>
            </a:r>
          </a:p>
          <a:p xmlns:a="http://schemas.openxmlformats.org/drawingml/2006/main">
            <a:r>
              <a:t>TREINO E AVALIAÇÃO</a:t>
            </a:r>
          </a:p>
          <a:p xmlns:a="http://schemas.openxmlformats.org/drawingml/2006/main">
            <a:r>
              <a:t>Ajuste descritivo: jan/1995–abr/2026. Sem divisão entre treino e teste. Origens de oito anos até abr/2018.</a:t>
            </a:r>
          </a:p>
          <a:p xmlns:a="http://schemas.openxmlformats.org/drawingml/2006/main">
            <a:r>
              <a:t/>
            </a:r>
          </a:p>
          <a:p xmlns:a="http://schemas.openxmlformats.org/drawingml/2006/main">
            <a:r>
              <a:t>CUIDADO</a:t>
            </a:r>
          </a:p>
          <a:p xmlns:a="http://schemas.openxmlformats.org/drawingml/2006/main">
            <a:r>
              <a:t>Este gráfico usa ajuste dentro da amostra. Não o apresente como uma previsão produzida em tempo real ou como replicação integral do artigo.</a:t>
            </a:r>
          </a:p>
          <a:p xmlns:a="http://schemas.openxmlformats.org/drawingml/2006/main">
            <a:r>
              <a:t/>
            </a:r>
          </a:p>
          <a:p xmlns:a="http://schemas.openxmlformats.org/drawingml/2006/main">
            <a:r>
              <a:t>PERGUNTA</a:t>
            </a:r>
          </a:p>
          <a:p xmlns:a="http://schemas.openxmlformats.org/drawingml/2006/main">
            <a:r>
              <a:t>Por que o coeficiente é menor que −1? A regressão permite esse valor no horizonte longo. Isso não significa retorno mensal de 180% ou convergência garantida. É uma relação entre mudanças e desvios em log.</a:t>
            </a:r>
          </a:p>
          <a:p xmlns:a="http://schemas.openxmlformats.org/drawingml/2006/main">
            <a:r>
              <a:t/>
            </a:r>
          </a:p>
          <a:p xmlns:a="http://schemas.openxmlformats.org/drawingml/2006/main">
            <a:r>
              <a:t>TRANSIÇÃO</a:t>
            </a:r>
          </a:p>
          <a:p xmlns:a="http://schemas.openxmlformats.org/drawingml/2006/main">
            <a:r>
              <a:t>Reproduzir a relação histórica e prever dados futuros são testes diferentes.</a:t>
            </a:r>
          </a:p>
          <a:p xmlns:a="http://schemas.openxmlformats.org/drawingml/2006/main">
            <a:r>
              <a:t/>
            </a:r>
          </a:p>
          <a:p xmlns:a="http://schemas.openxmlformats.org/drawingml/2006/main">
            <a:r>
              <a:t>FONTES</a:t>
            </a:r>
          </a:p>
          <a:p xmlns:a="http://schemas.openxmlformats.org/drawingml/2006/main">
            <a:r>
              <a:t>output/tables/classroom_replication.csv</a:t>
            </a:r>
          </a:p>
          <a:p xmlns:a="http://schemas.openxmlformats.org/drawingml/2006/main">
            <a:r>
              <a:t>data/processed/classroom.csv</a:t>
            </a:r>
          </a:p>
          <a:p xmlns:a="http://schemas.openxmlformats.org/drawingml/2006/main">
            <a:r>
              <a:t>Macro_Aplicada_2026_shared/Slides/Macro_Aplicada_aula_8.pdf</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90 segundos.</a:t>
            </a:r>
          </a:p>
          <a:p xmlns:a="http://schemas.openxmlformats.org/drawingml/2006/main">
            <a:r>
              <a:t>Ideia central: O Brasil melhora em todos os seis horizontes. O painel agrupado perde para nenhuma mudança nas janelas completas de cada horizonte.</a:t>
            </a:r>
          </a:p>
          <a:p xmlns:a="http://schemas.openxmlformats.org/drawingml/2006/main">
            <a:r>
              <a:t/>
            </a:r>
          </a:p>
          <a:p xmlns:a="http://schemas.openxmlformats.org/drawingml/2006/main">
            <a:r>
              <a:t>FALA</a:t>
            </a:r>
          </a:p>
          <a:p xmlns:a="http://schemas.openxmlformats.org/drawingml/2006/main">
            <a:r>
              <a:t>O teste fora da amostra não diz que a regressão falha em todo lugar. O Brasil melhora em todos os horizontes mostrados. Em cinco anos, seu erro é cerca de 21% menor que o de prever nenhuma mudança. Mas o resultado agregado das seis moedas é pior que essa referência. Essa heterogeneidade é central. Também não estamos comparando exatamente a regressão brasileira do slide anterior: agora a inclinação é comum às moedas e muda conforme novas observações ficam disponíveis. As janelas da última coluna são diferentes. Quando uso as mesmas datas de origem, o painel melhora em um, dois e três anos. Portanto, a conclusão depende do país, horizonte e período.</a:t>
            </a:r>
          </a:p>
          <a:p xmlns:a="http://schemas.openxmlformats.org/drawingml/2006/main">
            <a:r>
              <a:t/>
            </a:r>
          </a:p>
          <a:p xmlns:a="http://schemas.openxmlformats.org/drawingml/2006/main">
            <a:r>
              <a:t>CONCEITOS</a:t>
            </a:r>
          </a:p>
          <a:p xmlns:a="http://schemas.openxmlformats.org/drawingml/2006/main">
            <a:r>
              <a:t>Em cada origem t, estimamos a mudança futura do log da cotação a partir do desvio real. A inclinação é comum a seis moedas, e a média histórica de q é específica de cada moeda. A janela de treinamento se expande desde outubro de 1999. Exigimos pelo menos 60 origens de treinamento por moeda cujos alvos já tenham terminado até t−1. O CPI entra com dois meses de defasagem. Repetimos a estimação a cada mês, prevemos e avaliamos o erro quando o horizonte termina. O RMSE relativo compara esse erro com nenhuma mudança. O teste de Clark–West usa correção para dependência temporal. O resultado agregado de cinco anos não estabelece superioridade estatística. Dados revisados limitam o caráter estritamente em tempo real.</a:t>
            </a:r>
          </a:p>
          <a:p xmlns:a="http://schemas.openxmlformats.org/drawingml/2006/main">
            <a:r>
              <a:t/>
            </a:r>
          </a:p>
          <a:p xmlns:a="http://schemas.openxmlformats.org/drawingml/2006/main">
            <a:r>
              <a:t>LEITURA</a:t>
            </a:r>
          </a:p>
          <a:p xmlns:a="http://schemas.openxmlformats.org/drawingml/2006/main">
            <a:r>
              <a:t>A tabela compara o erro do modelo EJR agrupado com o erro de prever nenhuma mudança nominal. A coluna Brasil usa a mesma inclinação estimada para as seis moedas, avaliando somente os erros brasileiros. Abaixo de 1 há melhora. Em cinco anos, o Brasil tem 0,792 e o painel tem 1,037. Em oito anos, 0,816 e 1,115. A última coluna informa as datas de origem avaliadas. As janelas mudam porque alvos mais longos exigem mais história de treinamento e só podem ser avaliados quando terminam.</a:t>
            </a:r>
          </a:p>
          <a:p xmlns:a="http://schemas.openxmlformats.org/drawingml/2006/main">
            <a:r>
              <a:t/>
            </a:r>
          </a:p>
          <a:p xmlns:a="http://schemas.openxmlformats.org/drawingml/2006/main">
            <a:r>
              <a:t>TREINO E AVALIAÇÃO</a:t>
            </a:r>
          </a:p>
          <a:p xmlns:a="http://schemas.openxmlformats.org/drawingml/2006/main">
            <a:r>
              <a:t>Treino expansivo desde out/1999; mínimo de 60 origens maduras por moeda. Alvos de treino até t−1. A tabela mostra origens de avaliação, com alvos realizados até ago/2026.</a:t>
            </a:r>
          </a:p>
          <a:p xmlns:a="http://schemas.openxmlformats.org/drawingml/2006/main">
            <a:r>
              <a:t/>
            </a:r>
          </a:p>
          <a:p xmlns:a="http://schemas.openxmlformats.org/drawingml/2006/main">
            <a:r>
              <a:t>CUIDADO</a:t>
            </a:r>
          </a:p>
          <a:p xmlns:a="http://schemas.openxmlformats.org/drawingml/2006/main">
            <a:r>
              <a:t>Não conclua que câmbio é imprevisível em qualquer horizonte. As linhas têm períodos distintos. O ganho de erro não basta, sozinho, para demonstrar significância estatística ou valor de investimento.</a:t>
            </a:r>
          </a:p>
          <a:p xmlns:a="http://schemas.openxmlformats.org/drawingml/2006/main">
            <a:r>
              <a:t/>
            </a:r>
          </a:p>
          <a:p xmlns:a="http://schemas.openxmlformats.org/drawingml/2006/main">
            <a:r>
              <a:t>PERGUNTA</a:t>
            </a:r>
          </a:p>
          <a:p xmlns:a="http://schemas.openxmlformats.org/drawingml/2006/main">
            <a:r>
              <a:t>E se estimarmos só para o Brasil? A regressão brasileira com intercepto e inclinação próprios tem erro relativo 0,596 em oito anos. É outro modelo e um resultado favorável, mas com forte sobreposição dos alvos. No painel com origens comuns de nov/2012 a ago/2018, os erros são 0,958, 0,950 e 0,964 em um, dois e três anos.</a:t>
            </a:r>
          </a:p>
          <a:p xmlns:a="http://schemas.openxmlformats.org/drawingml/2006/main">
            <a:r>
              <a:t/>
            </a:r>
          </a:p>
          <a:p xmlns:a="http://schemas.openxmlformats.org/drawingml/2006/main">
            <a:r>
              <a:t>TRANSIÇÃO</a:t>
            </a:r>
          </a:p>
          <a:p xmlns:a="http://schemas.openxmlformats.org/drawingml/2006/main">
            <a:r>
              <a:t>A heterogeneidade preditiva motivou testar se a previsão ajuda na escolha das posições de carry.</a:t>
            </a:r>
          </a:p>
          <a:p xmlns:a="http://schemas.openxmlformats.org/drawingml/2006/main">
            <a:r>
              <a:t/>
            </a:r>
          </a:p>
          <a:p xmlns:a="http://schemas.openxmlformats.org/drawingml/2006/main">
            <a:r>
              <a:t>FONTES</a:t>
            </a:r>
          </a:p>
          <a:p xmlns:a="http://schemas.openxmlformats.org/drawingml/2006/main">
            <a:r>
              <a:t>output/tables/forecast_accuracy.csv</a:t>
            </a:r>
          </a:p>
          <a:p xmlns:a="http://schemas.openxmlformats.org/drawingml/2006/main">
            <a:r>
              <a:t>output/tables/forecast_common_origins.csv</a:t>
            </a:r>
          </a:p>
          <a:p xmlns:a="http://schemas.openxmlformats.org/drawingml/2006/main">
            <a:r>
              <a:t>output/tables/timing_audit.csv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85 segundos.</a:t>
            </a:r>
          </a:p>
          <a:p xmlns:a="http://schemas.openxmlformats.org/drawingml/2006/main">
            <a:r>
              <a:t>Ideia central: Comparar escolher posições pelo diferencial de juros com escolher pelo diferencial de juros mais a valorização cambial prevista.</a:t>
            </a:r>
          </a:p>
          <a:p xmlns:a="http://schemas.openxmlformats.org/drawingml/2006/main">
            <a:r>
              <a:t/>
            </a:r>
          </a:p>
          <a:p xmlns:a="http://schemas.openxmlformats.org/drawingml/2006/main">
            <a:r>
              <a:t>FALA</a:t>
            </a:r>
          </a:p>
          <a:p xmlns:a="http://schemas.openxmlformats.org/drawingml/2006/main">
            <a:r>
              <a:t>Eu comparei duas formas de escolher as posições. A primeira olha apenas para quais moedas pagam mais juros. A segunda acrescenta a valorização cambial prevista pelo modelo. Nas duas, o retorno realizado inclui tanto os juros quanto a mudança do câmbio. O que muda é a informação usada para escolher a carteira. O risco é que a desvalorização da moeda consuma o juro recebido. Neste exemplo, ganhar 10% no ativo e pagar 3% no financiamento parece oferecer uma folga de 7%, mas uma queda de 8% da moeda já produz perda. No backtest, calculo o retorno combinado de forma exata, incluindo a interação e os custos. A previsão de cinco anos apenas orienta a decisão, sem garantir o caminho mensal.</a:t>
            </a:r>
          </a:p>
          <a:p xmlns:a="http://schemas.openxmlformats.org/drawingml/2006/main">
            <a:r>
              <a:t/>
            </a:r>
          </a:p>
          <a:p xmlns:a="http://schemas.openxmlformats.org/drawingml/2006/main">
            <a:r>
              <a:t>CONCEITOS</a:t>
            </a:r>
          </a:p>
          <a:p xmlns:a="http://schemas.openxmlformats.org/drawingml/2006/main">
            <a:r>
              <a:t>Carry ou carrego é a remuneração associada ao diferencial de juros de uma posição financiada em outra moeda. Comprar uma moeda envolve um ativo nessa moeda, como um depósito, enquanto a outra ponta financia a operação. O projeto usa proxies de aplicações de curto prazo, não retornos de bolsa ou títulos longos. Quem compra a moeda de juros altos ganha com apreciação dessa moeda e perde com sua depreciação. No painel, cada regra compra as duas moedas de maior sinal e vende as duas de menor sinal, com 25% de notional em cada ponta. A soma dos valores absolutos é 100% e a exposição líquida é zero. Há caixa em dólar como colateral.</a:t>
            </a:r>
          </a:p>
          <a:p xmlns:a="http://schemas.openxmlformats.org/drawingml/2006/main">
            <a:r>
              <a:t/>
            </a:r>
          </a:p>
          <a:p xmlns:a="http://schemas.openxmlformats.org/drawingml/2006/main">
            <a:r>
              <a:t>LEITURA</a:t>
            </a:r>
          </a:p>
          <a:p xmlns:a="http://schemas.openxmlformats.org/drawingml/2006/main">
            <a:r>
              <a:t>Leia a aproximação de retorno: diferencial de juros mais valorização da moeda comprada, menos custos. O exemplo é hipotético: ativo rende 10%, financiamento custa 3% e a moeda comprada cai 8% em dólar. O resultado exato antes de custos é 1,10 × 0,92 − 1,03 = −1,8% sobre o notional. A soma simples daria −1%, pois ignora a interação entre juros e câmbio.</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‘Carry sozinho’ significa sinal baseado só em juros. Não significa retorno sem câmbio. O retorno líquido não é apenas uma soma exata de duas parcelas.</a:t>
            </a:r>
          </a:p>
          <a:p xmlns:a="http://schemas.openxmlformats.org/drawingml/2006/main">
            <a:r>
              <a:t/>
            </a:r>
          </a:p>
          <a:p xmlns:a="http://schemas.openxmlformats.org/drawingml/2006/main">
            <a:r>
              <a:t>PERGUNTA</a:t>
            </a:r>
          </a:p>
          <a:p xmlns:a="http://schemas.openxmlformats.org/drawingml/2006/main">
            <a:r>
              <a:t>A estratégia compra dólar ou bolsa americana? Aqui o dólar é o numerário e o caixa de colateral. As posições cambiais usam aplicações curtas e financiamento nas moedas. Ações americanas seriam outro risco e outro exercício.</a:t>
            </a:r>
          </a:p>
          <a:p xmlns:a="http://schemas.openxmlformats.org/drawingml/2006/main">
            <a:r>
              <a:t/>
            </a:r>
          </a:p>
          <a:p xmlns:a="http://schemas.openxmlformats.org/drawingml/2006/main">
            <a:r>
              <a:t>TRANSIÇÃO</a:t>
            </a:r>
          </a:p>
          <a:p xmlns:a="http://schemas.openxmlformats.org/drawingml/2006/main">
            <a:r>
              <a:t>A primeira tentativa foi simples, e o resultado foi pior que o carry original.</a:t>
            </a:r>
          </a:p>
          <a:p xmlns:a="http://schemas.openxmlformats.org/drawingml/2006/main">
            <a:r>
              <a:t/>
            </a:r>
          </a:p>
          <a:p xmlns:a="http://schemas.openxmlformats.org/drawingml/2006/main">
            <a:r>
              <a:t>FONTES</a:t>
            </a:r>
          </a:p>
          <a:p xmlns:a="http://schemas.openxmlformats.org/drawingml/2006/main">
            <a:r>
              <a:t>src/models.py: run_book e rank_weights</a:t>
            </a:r>
          </a:p>
          <a:p xmlns:a="http://schemas.openxmlformats.org/drawingml/2006/main">
            <a:r>
              <a:t>report/relatorio.tex</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O carry com previsão rendeu menos e teve Sharpe menor, apesar de alguma redução do drawdown.</a:t>
            </a:r>
          </a:p>
          <a:p xmlns:a="http://schemas.openxmlformats.org/drawingml/2006/main">
            <a:r>
              <a:t/>
            </a:r>
          </a:p>
          <a:p xmlns:a="http://schemas.openxmlformats.org/drawingml/2006/main">
            <a:r>
              <a:t>FALA</a:t>
            </a:r>
          </a:p>
          <a:p xmlns:a="http://schemas.openxmlformats.org/drawingml/2006/main">
            <a:r>
              <a:t>Não montamos uma carteira de Markowitz. As duas estratégias usam um ranking com pesos iguais: duas compras e duas vendas. Na primeira, o ranking olha só os juros. Na segunda, acrescenta a previsão cambial. Ambas recebem juros, carregam risco cambial e pagam os custos indicados no rodapé. O carry rendeu 4,11% ao ano e a alternativa 2,73%, com Sharpe menor. A previsão olha cinco anos à frente, mas a carteira é revista todo mês. Esse prazo de previsão não é o vencimento de uma operação. Escolhemos aplicações curtas para estudar carry e câmbio. Usar bolsa adicionaria retorno e risco acionário e exigiria uma avaliação diferente.</a:t>
            </a:r>
          </a:p>
          <a:p xmlns:a="http://schemas.openxmlformats.org/drawingml/2006/main">
            <a:r>
              <a:t/>
            </a:r>
          </a:p>
          <a:p xmlns:a="http://schemas.openxmlformats.org/drawingml/2006/main">
            <a:r>
              <a:t>CONCEITOS</a:t>
            </a:r>
          </a:p>
          <a:p xmlns:a="http://schemas.openxmlformats.org/drawingml/2006/main">
            <a:r>
              <a:t>Não usamos a otimização média-variância de Markowitz. Ordenamos seis moedas por um sinal e compramos as duas de maior sinal, vendendo as duas de menor sinal. Cada ponta recebe 25% do patrimônio em notional: 100% bruto e zero líquido. O carry usa diferencial de juros. O ranking alternativo soma apreciação prevista, aproximada como −previsão de Δs em 60 meses/60. Reavaliamos mensalmente, sem compromisso de manter cada moeda por cinco anos. O caixa em dólar serve de colateral. Retorno anual composto é crescimento do patrimônio, volatilidade é dispersão anualizada, Sharpe usa excesso sobre o caixa e queda máxima mede a perda desde o pico.</a:t>
            </a:r>
          </a:p>
          <a:p xmlns:a="http://schemas.openxmlformats.org/drawingml/2006/main">
            <a:r>
              <a:t/>
            </a:r>
          </a:p>
          <a:p xmlns:a="http://schemas.openxmlformats.org/drawingml/2006/main">
            <a:r>
              <a:t>LEITURA</a:t>
            </a:r>
          </a:p>
          <a:p xmlns:a="http://schemas.openxmlformats.org/drawingml/2006/main">
            <a:r>
              <a:t>Compare retorno anual de 4,11% e 2,73%, e Sharpe de 0,60 e 0,31. Depois leia o rodapé: backtest de março de 2010 a agosto de 2026, sinal de cinco anos, revisão mensal e treinamento expansivo. Os custos de negociação por notional transacionado são 10 pontos-base para BRL, 3 para SEK e 2 para as outras moedas. Há também spread de financiamento de 50 pontos-base ao ano na ponta vendida. Um ponto-base é 0,01 ponto percentual. Entrada, rebalanceamento e liquidação final pagam os custos assumidos.</a:t>
            </a:r>
          </a:p>
          <a:p xmlns:a="http://schemas.openxmlformats.org/drawingml/2006/main">
            <a:r>
              <a:t/>
            </a:r>
          </a:p>
          <a:p xmlns:a="http://schemas.openxmlformats.org/drawingml/2006/main">
            <a:r>
              <a:t>TREINO E AVALIAÇÃO</a:t>
            </a:r>
          </a:p>
          <a:p xmlns:a="http://schemas.openxmlformats.org/drawingml/2006/main">
            <a:r>
              <a:t>Primeiro sinal: jan/2010. Treino EJR: origens out/1999–dez/2004 (63 meses por moeda), alvos até dez/2009. A janela se expande mensalmente. Previsão: 60 meses. Sinal t, execução t+1 e retorno t+2. Backtest: mar/2010–ago/2026.</a:t>
            </a:r>
          </a:p>
          <a:p xmlns:a="http://schemas.openxmlformats.org/drawingml/2006/main">
            <a:r>
              <a:t/>
            </a:r>
          </a:p>
          <a:p xmlns:a="http://schemas.openxmlformats.org/drawingml/2006/main">
            <a:r>
              <a:t>CUIDADO</a:t>
            </a:r>
          </a:p>
          <a:p xmlns:a="http://schemas.openxmlformats.org/drawingml/2006/main">
            <a:r>
              <a:t>Não diga Markowitz, otimização de pesos ou posição fixa de cinco anos. Os custos são hipóteses agregadas de negociação e financiamento, não uma lista de tarifas executadas por corretora. Não incluem uma tributação específica do investidor.</a:t>
            </a:r>
          </a:p>
          <a:p xmlns:a="http://schemas.openxmlformats.org/drawingml/2006/main">
            <a:r>
              <a:t/>
            </a:r>
          </a:p>
          <a:p xmlns:a="http://schemas.openxmlformats.org/drawingml/2006/main">
            <a:r>
              <a:t>PERGUNTA</a:t>
            </a:r>
          </a:p>
          <a:p xmlns:a="http://schemas.openxmlformats.org/drawingml/2006/main">
            <a:r>
              <a:t>Por que usar juros em vez de bolsa? Para manter a pergunta focada em diferencial de juros e câmbio, sem adicionar prêmio de ações ou risco de duração de títulos longos. Isso é uma escolha adequada ao experimento, não uma demonstração de que juros sejam sempre o melhor ativo.</a:t>
            </a:r>
          </a:p>
          <a:p xmlns:a="http://schemas.openxmlformats.org/drawingml/2006/main">
            <a:r>
              <a:t/>
            </a:r>
          </a:p>
          <a:p xmlns:a="http://schemas.openxmlformats.org/drawingml/2006/main">
            <a:r>
              <a:t>TRANSIÇÃO</a:t>
            </a:r>
          </a:p>
          <a:p xmlns:a="http://schemas.openxmlformats.org/drawingml/2006/main">
            <a:r>
              <a:t>O gráfico seguinte mostra como essa diferença se acumulou no patrimônio.</a:t>
            </a:r>
          </a:p>
          <a:p xmlns:a="http://schemas.openxmlformats.org/drawingml/2006/main">
            <a:r>
              <a:t/>
            </a:r>
          </a:p>
          <a:p xmlns:a="http://schemas.openxmlformats.org/drawingml/2006/main">
            <a:r>
              <a:t>FONTES</a:t>
            </a:r>
          </a:p>
          <a:p xmlns:a="http://schemas.openxmlformats.org/drawingml/2006/main">
            <a:r>
              <a:t>output/tables/portfolio_metrics.csv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50 segundos.</a:t>
            </a:r>
          </a:p>
          <a:p xmlns:a="http://schemas.openxmlformats.org/drawingml/2006/main">
            <a:r>
              <a:t>Ideia central: As duas carteiras incluem juros, câmbio e custos. O ranking com previsão termina abaixo do carry por juros.</a:t>
            </a:r>
          </a:p>
          <a:p xmlns:a="http://schemas.openxmlformats.org/drawingml/2006/main">
            <a:r>
              <a:t/>
            </a:r>
          </a:p>
          <a:p xmlns:a="http://schemas.openxmlformats.org/drawingml/2006/main">
            <a:r>
              <a:t>FALA</a:t>
            </a:r>
          </a:p>
          <a:p xmlns:a="http://schemas.openxmlformats.org/drawingml/2006/main">
            <a:r>
              <a:t>Este é o resultado acumulado das mesmas duas regras. A linha do carry por juros termina acima da linha que acrescenta a previsão cambial. A diferença não vem de excluir os juros de uma delas: ambas incluem juros, câmbio, financiamento e negociação. A linha de caixa permite visualizar quanto seria recebido apenas no colateral em dólar. O gráfico reforça o fracasso da alteração direta do ranking nesta implementação.</a:t>
            </a:r>
          </a:p>
          <a:p xmlns:a="http://schemas.openxmlformats.org/drawingml/2006/main">
            <a:r>
              <a:t/>
            </a:r>
          </a:p>
          <a:p xmlns:a="http://schemas.openxmlformats.org/drawingml/2006/main">
            <a:r>
              <a:t>CONCEITOS</a:t>
            </a:r>
          </a:p>
          <a:p xmlns:a="http://schemas.openxmlformats.org/drawingml/2006/main">
            <a:r>
              <a:t>Patrimônio base 100 é o valor acumulado após reinvestir os retornos mensais líquidos. Um nível de 195 significa ganho total próximo de 95%, e não retorno anual de 95%. A linha de caixa usa a mesma remuneração USD do backtest. Comparar o patrimônio não muda a estratégia: é outra forma de mostrar os resultados da tabela anterior.</a:t>
            </a:r>
          </a:p>
          <a:p xmlns:a="http://schemas.openxmlformats.org/drawingml/2006/main">
            <a:r>
              <a:t/>
            </a:r>
          </a:p>
          <a:p xmlns:a="http://schemas.openxmlformats.org/drawingml/2006/main">
            <a:r>
              <a:t>LEITURA</a:t>
            </a:r>
          </a:p>
          <a:p xmlns:a="http://schemas.openxmlformats.org/drawingml/2006/main">
            <a:r>
              <a:t>As linhas cobrem março de 2010 a agosto de 2026. Compare os pontos finais e depois o caminho, sem tentar explicar cada oscilação. O gráfico usa os mesmos 198 retornos da tabela do slide 6, com inicialização em 100 antes do primeiro retorno.</a:t>
            </a:r>
          </a:p>
          <a:p xmlns:a="http://schemas.openxmlformats.org/drawingml/2006/main">
            <a:r>
              <a:t/>
            </a:r>
          </a:p>
          <a:p xmlns:a="http://schemas.openxmlformats.org/drawingml/2006/main">
            <a:r>
              <a:t>TREINO E AVALIAÇÃO</a:t>
            </a:r>
          </a:p>
          <a:p xmlns:a="http://schemas.openxmlformats.org/drawingml/2006/main">
            <a:r>
              <a:t>Primeiro sinal: jan/2010. Treino EJR: origens out/1999–dez/2004 (63 meses por moeda), alvos até dez/2009. A janela se expande mensalmente. Previsão: 60 meses. Sinal t, execução t+1 e retorno t+2. Backtest: mar/2010–ago/2026.</a:t>
            </a:r>
          </a:p>
          <a:p xmlns:a="http://schemas.openxmlformats.org/drawingml/2006/main">
            <a:r>
              <a:t/>
            </a:r>
          </a:p>
          <a:p xmlns:a="http://schemas.openxmlformats.org/drawingml/2006/main">
            <a:r>
              <a:t>CUIDADO</a:t>
            </a:r>
          </a:p>
          <a:p xmlns:a="http://schemas.openxmlformats.org/drawingml/2006/main">
            <a:r>
              <a:t>O horizonte de cinco anos pertence à previsão. A regra da carteira revê posições todo mês e pode continuar na mesma moeda por vários meses.</a:t>
            </a:r>
          </a:p>
          <a:p xmlns:a="http://schemas.openxmlformats.org/drawingml/2006/main">
            <a:r>
              <a:t/>
            </a:r>
          </a:p>
          <a:p xmlns:a="http://schemas.openxmlformats.org/drawingml/2006/main">
            <a:r>
              <a:t>PERGUNTA</a:t>
            </a:r>
          </a:p>
          <a:p xmlns:a="http://schemas.openxmlformats.org/drawingml/2006/main">
            <a:r>
              <a:t>São operações independentes de um mês? A carteira tem decisões mensais. Uma moeda pode permanecer na posição se o ranking continuar favorável. Calculamos o resultado dessa exposição sucessiva, com custos sobre as mudanças do notional.</a:t>
            </a:r>
          </a:p>
          <a:p xmlns:a="http://schemas.openxmlformats.org/drawingml/2006/main">
            <a:r>
              <a:t/>
            </a:r>
          </a:p>
          <a:p xmlns:a="http://schemas.openxmlformats.org/drawingml/2006/main">
            <a:r>
              <a:t>TRANSIÇÃO</a:t>
            </a:r>
          </a:p>
          <a:p xmlns:a="http://schemas.openxmlformats.org/drawingml/2006/main">
            <a:r>
              <a:t>Depois desse resultado, investiguei se commodities e comércio ajudam a própria previsão.</a:t>
            </a:r>
          </a:p>
          <a:p xmlns:a="http://schemas.openxmlformats.org/drawingml/2006/main">
            <a:r>
              <a:t/>
            </a:r>
          </a:p>
          <a:p xmlns:a="http://schemas.openxmlformats.org/drawingml/2006/main">
            <a:r>
              <a:t>FONTES</a:t>
            </a:r>
          </a:p>
          <a:p xmlns:a="http://schemas.openxmlformats.org/drawingml/2006/main">
            <a:r>
              <a:t>output/tables/portfolio_returns.csv</a:t>
            </a:r>
          </a:p>
          <a:p xmlns:a="http://schemas.openxmlformats.org/drawingml/2006/main">
            <a:r>
              <a:t>output/tables/portfolio_metrics.csv</a:t>
            </a:r>
          </a:p>
          <a:p xmlns:a="http://schemas.openxmlformats.org/drawingml/2006/main">
            <a:r>
              <a:t>src/models.py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65 segundos.</a:t>
            </a:r>
          </a:p>
          <a:p xmlns:a="http://schemas.openxmlformats.org/drawingml/2006/main">
            <a:r>
              <a:t>Ideia central: Uma mesma alta de commodities pode beneficiar um exportador e prejudicar um importador, alterando a referência econômica da moeda.</a:t>
            </a:r>
          </a:p>
          <a:p xmlns:a="http://schemas.openxmlformats.org/drawingml/2006/main">
            <a:r>
              <a:t/>
            </a:r>
          </a:p>
          <a:p xmlns:a="http://schemas.openxmlformats.org/drawingml/2006/main">
            <a:r>
              <a:t>FALA</a:t>
            </a:r>
          </a:p>
          <a:p xmlns:a="http://schemas.openxmlformats.org/drawingml/2006/main">
            <a:r>
              <a:t>A média histórica do câmbio real pode ser uma referência limitada. Imagine uma alta persistente do petróleo: o efeito econômico é diferente para um exportador líquido e para um importador líquido. Os termos de troca resumem a relação entre os preços do que o país vende e do que compra. Eu acrescentei preços de commodities e informações sobre a exposição comercial às regressões. A hipótese é que parte do aparente desvio cambial reflita uma mudança nos fundamentos. Aqui é importante separar três medidas: preços de commodities, termos de troca agregados e composição do comércio. Elas são relacionadas, mas não são a mesma variável. Nesta etapa, o resultado avaliado é apenas a previsão.</a:t>
            </a:r>
          </a:p>
          <a:p xmlns:a="http://schemas.openxmlformats.org/drawingml/2006/main">
            <a:r>
              <a:t/>
            </a:r>
          </a:p>
          <a:p xmlns:a="http://schemas.openxmlformats.org/drawingml/2006/main">
            <a:r>
              <a:t>CONCEITOS</a:t>
            </a:r>
          </a:p>
          <a:p xmlns:a="http://schemas.openxmlformats.org/drawingml/2006/main">
            <a:r>
              <a:t>Termos de troca são a razão entre preços das exportações e preços das importações. Sua melhora significa que uma dada quantidade exportada compra mais importações. Isso é diferente de saldo comercial, que também depende de quantidades, e de composição comercial, que descreve o que o país compra e vende. Um índice de preços de commodities ponderado pela exposição comercial é uma proxy parcial desses incentivos. Ele não é automaticamente o índice agregado de termos de troca do país. A hipótese é que o câmbio real compatível com os fundamentos possa mudar, tornando a média histórica uma referência incompleta.</a:t>
            </a:r>
          </a:p>
          <a:p xmlns:a="http://schemas.openxmlformats.org/drawingml/2006/main">
            <a:r>
              <a:t/>
            </a:r>
          </a:p>
          <a:p xmlns:a="http://schemas.openxmlformats.org/drawingml/2006/main">
            <a:r>
              <a:t>LEITURA</a:t>
            </a:r>
          </a:p>
          <a:p xmlns:a="http://schemas.openxmlformats.org/drawingml/2006/main">
            <a:r>
              <a:t>O exemplo de petróleo é ilustrativo: a alta tende a favorecer o exportador líquido e a encarecer a conta do importador líquido. Diga ‘pode’ ao falar do efeito cambial. A resposta depende também de importações, quantidades, política econômica e outros choques. Os testes seguintes só preveem variáveis, sem construir carteiras de commodities.</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Não chame toda alta de commodity de melhora nos termos de troca. Não interprete mudanças em pesos comerciais medidos em valor como prova de mudança estrutural de quantidades.</a:t>
            </a:r>
          </a:p>
          <a:p xmlns:a="http://schemas.openxmlformats.org/drawingml/2006/main">
            <a:r>
              <a:t/>
            </a:r>
          </a:p>
          <a:p xmlns:a="http://schemas.openxmlformats.org/drawingml/2006/main">
            <a:r>
              <a:t>PERGUNTA</a:t>
            </a:r>
          </a:p>
          <a:p xmlns:a="http://schemas.openxmlformats.org/drawingml/2006/main">
            <a:r>
              <a:t>O teste identifica o câmbio de equilíbrio? Não. Estima relações preditivas condicionais. Um equilíbrio estrutural exigiria hipóteses e identificação adicionais.</a:t>
            </a:r>
          </a:p>
          <a:p xmlns:a="http://schemas.openxmlformats.org/drawingml/2006/main">
            <a:r>
              <a:t/>
            </a:r>
          </a:p>
          <a:p xmlns:a="http://schemas.openxmlformats.org/drawingml/2006/main">
            <a:r>
              <a:t>TRANSIÇÃO</a:t>
            </a:r>
          </a:p>
          <a:p xmlns:a="http://schemas.openxmlformats.org/drawingml/2006/main">
            <a:r>
              <a:t>A primeira extensão manteve o alvo do artigo: a mudança futura do câmbio nominal.</a:t>
            </a:r>
          </a:p>
          <a:p xmlns:a="http://schemas.openxmlformats.org/drawingml/2006/main">
            <a:r>
              <a:t/>
            </a:r>
          </a:p>
          <a:p xmlns:a="http://schemas.openxmlformats.org/drawingml/2006/main">
            <a:r>
              <a:t>FONTES</a:t>
            </a:r>
          </a:p>
          <a:p xmlns:a="http://schemas.openxmlformats.org/drawingml/2006/main">
            <a:r>
              <a:t>third/README.md</a:t>
            </a:r>
          </a:p>
          <a:p xmlns:a="http://schemas.openxmlformats.org/drawingml/2006/main">
            <a:r>
              <a:t>third/data/trade_weights.csv</a:t>
            </a:r>
          </a:p>
          <a:p xmlns:a="http://schemas.openxmlformats.org/drawingml/2006/main">
            <a:r>
              <a:t>trade_extension/build_report.py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A extensão nominal reduz o erro na janela completa, mas perde para nenhuma mudança nas origens mais recentes.</a:t>
            </a:r>
          </a:p>
          <a:p xmlns:a="http://schemas.openxmlformats.org/drawingml/2006/main">
            <a:r>
              <a:t/>
            </a:r>
          </a:p>
          <a:p xmlns:a="http://schemas.openxmlformats.org/drawingml/2006/main">
            <a:r>
              <a:t>FALA</a:t>
            </a:r>
          </a:p>
          <a:p xmlns:a="http://schemas.openxmlformats.org/drawingml/2006/main">
            <a:r>
              <a:t>Origem é a data em que emitimos uma previsão. Se ela nasce em janeiro de 2010 e olha cinco anos à frente, verificamos seu resultado em janeiro de 2015. Aqui, cada previsão usa uma regressão reestimada com a história admissível naquela data. Na coluna completa há 140 previsões mensais por moeda. Na recente, usamos apenas as 32 feitas de 2019 a agosto de 2021. Acrescentar commodities reduz o erro para 0,890 no conjunto completo, mas o erro recente é 1,630, acima da referência. Assim, há uma melhora em parte da história, sem estabilidade no período recente. Essas datas não são o treinamento: são as datas em que as previsões foram feitas.</a:t>
            </a:r>
          </a:p>
          <a:p xmlns:a="http://schemas.openxmlformats.org/drawingml/2006/main">
            <a:r>
              <a:t/>
            </a:r>
          </a:p>
          <a:p xmlns:a="http://schemas.openxmlformats.org/drawingml/2006/main">
            <a:r>
              <a:t>CONCEITOS</a:t>
            </a:r>
          </a:p>
          <a:p xmlns:a="http://schemas.openxmlformats.org/drawingml/2006/main">
            <a:r>
              <a:t>Origem é o mês em que fazemos a previsão. Exemplo: origem em janeiro de 2010 com horizonte de 60 meses tem alvo em janeiro de 2015. A tabela não separa treinos feitos em 2010 e 2019. Ela compara conjuntos de previsões emitidas nessas datas, cada uma com seu treinamento admissível. O modelo mantém o desvio real EJR e acrescenta preços reais de commodities, com componente global e componente de exposição comercial específica. Pesos comerciais fixos usam 1994–1996. Os preços entram defasados dois meses. Estimamos os coeficientes em conjunto, com janela expansiva e sem usar resultados futuros.</a:t>
            </a:r>
          </a:p>
          <a:p xmlns:a="http://schemas.openxmlformats.org/drawingml/2006/main">
            <a:r>
              <a:t/>
            </a:r>
          </a:p>
          <a:p xmlns:a="http://schemas.openxmlformats.org/drawingml/2006/main">
            <a:r>
              <a:t>LEITURA</a:t>
            </a:r>
          </a:p>
          <a:p xmlns:a="http://schemas.openxmlformats.org/drawingml/2006/main">
            <a:r>
              <a:t>A coluna de 2010–2021 contém 140 origens mensais, de janeiro de 2010 a agosto de 2021, cujos alvos terminam de janeiro de 2015 a agosto de 2026. A coluna de 2019–2021 contém 32 origens, com alvos de janeiro de 2024 a agosto de 2026. Ela é um subconjunto recente, não um teste independente. O erro da referência de nenhuma mudança vale 1 em cada coluna. EJR + commodities tem 0,890 na janela completa e 1,630 na recente. Os alvos de cinco anos se sobrepõem fortemente.</a:t>
            </a:r>
          </a:p>
          <a:p xmlns:a="http://schemas.openxmlformats.org/drawingml/2006/main">
            <a:r>
              <a:t/>
            </a:r>
          </a:p>
          <a:p xmlns:a="http://schemas.openxmlformats.org/drawingml/2006/main">
            <a:r>
              <a:t>TREINO E AVALIAÇÃO</a:t>
            </a:r>
          </a:p>
          <a:p xmlns:a="http://schemas.openxmlformats.org/drawingml/2006/main">
            <a:r>
              <a:t>Primeira origem avaliada: jan/2010. Treino: origens out/1999–dez/2004, alvos até dez/2009. Janela expansiva, mínimo 60 origens maduras por moeda. Previsão nominal de 60 meses. Última origem avaliada: ago/2021, alvo ago/2026.</a:t>
            </a:r>
          </a:p>
          <a:p xmlns:a="http://schemas.openxmlformats.org/drawingml/2006/main">
            <a:r>
              <a:t/>
            </a:r>
          </a:p>
          <a:p xmlns:a="http://schemas.openxmlformats.org/drawingml/2006/main">
            <a:r>
              <a:t>CUIDADO</a:t>
            </a:r>
          </a:p>
          <a:p xmlns:a="http://schemas.openxmlformats.org/drawingml/2006/main">
            <a:r>
              <a:t>‘Reduziu o erro’ precisa sempre nomear o benchmark e a janela. Não use a melhora sobre um modelo fraco como prova de previsibilidade robusta.</a:t>
            </a:r>
          </a:p>
          <a:p xmlns:a="http://schemas.openxmlformats.org/drawingml/2006/main">
            <a:r>
              <a:t/>
            </a:r>
          </a:p>
          <a:p xmlns:a="http://schemas.openxmlformats.org/drawingml/2006/main">
            <a:r>
              <a:t>PERGUNTA</a:t>
            </a:r>
          </a:p>
          <a:p xmlns:a="http://schemas.openxmlformats.org/drawingml/2006/main">
            <a:r>
              <a:t>Por que paramos as origens em agosto de 2021 se temos dados até 2026? Porque precisamos observar os cinco anos seguintes para avaliar cada previsão. Uma previsão emitida em 2025 ainda não pode ser avaliada em seu horizonte completo de 60 meses.</a:t>
            </a:r>
          </a:p>
          <a:p xmlns:a="http://schemas.openxmlformats.org/drawingml/2006/main">
            <a:r>
              <a:t/>
            </a:r>
          </a:p>
          <a:p xmlns:a="http://schemas.openxmlformats.org/drawingml/2006/main">
            <a:r>
              <a:t>TRANSIÇÃO</a:t>
            </a:r>
          </a:p>
          <a:p xmlns:a="http://schemas.openxmlformats.org/drawingml/2006/main">
            <a:r>
              <a:t>Também testei uma pergunta diferente: prever o próprio câmbio real de longo prazo.</a:t>
            </a:r>
          </a:p>
          <a:p xmlns:a="http://schemas.openxmlformats.org/drawingml/2006/main">
            <a:r>
              <a:t/>
            </a:r>
          </a:p>
          <a:p xmlns:a="http://schemas.openxmlformats.org/drawingml/2006/main">
            <a:r>
              <a:t>FONTES</a:t>
            </a:r>
          </a:p>
          <a:p xmlns:a="http://schemas.openxmlformats.org/drawingml/2006/main">
            <a:r>
              <a:t>third/tables/metrics.csv: B_FX_60, REJR_Specific, benchmark EJR</a:t>
            </a:r>
          </a:p>
          <a:p xmlns:a="http://schemas.openxmlformats.org/drawingml/2006/main">
            <a:r>
              <a:t>third/tables/sensitivity.csv</a:t>
            </a:r>
          </a:p>
          <a:p xmlns:a="http://schemas.openxmlformats.org/drawingml/2006/main">
            <a:r>
              <a:t>third/engine.py: ejr_extension</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65 segundos.</a:t>
            </a:r>
          </a:p>
          <a:p xmlns:a="http://schemas.openxmlformats.org/drawingml/2006/main">
            <a:r>
              <a:t>Ideia central: A informação comercial melhora um pouco a regressão de câmbio real, mas não supera a previsão de nenhuma mudança.</a:t>
            </a:r>
          </a:p>
          <a:p xmlns:a="http://schemas.openxmlformats.org/drawingml/2006/main">
            <a:r>
              <a:t/>
            </a:r>
          </a:p>
          <a:p xmlns:a="http://schemas.openxmlformats.org/drawingml/2006/main">
            <a:r>
              <a:t>FALA</a:t>
            </a:r>
          </a:p>
          <a:p xmlns:a="http://schemas.openxmlformats.org/drawingml/2006/main">
            <a:r>
              <a:t>Aqui eu mudo a pergunta. Em vez de prever o câmbio nominal, tento prever a mudança do câmbio real em cinco anos. A informação comercial reduz o erro da regressão base de 2,20 para 2,08. É uma pequena melhora relativa, mas ambos os modelos perdem bastante para nenhuma mudança, que vale um. Os testes com termos de troca agregados anuais também não estabeleceram uma solução robusta e têm uma amostra ainda menor. Assim, não consigo defender que aprendi a prever de forma confiável uma nova referência real de longo prazo. Esse resultado negativo ajuda a limitar o que posso dizer sobre os fundamentos.</a:t>
            </a:r>
          </a:p>
          <a:p xmlns:a="http://schemas.openxmlformats.org/drawingml/2006/main">
            <a:r>
              <a:t/>
            </a:r>
          </a:p>
          <a:p xmlns:a="http://schemas.openxmlformats.org/drawingml/2006/main">
            <a:r>
              <a:t>CONCEITOS</a:t>
            </a:r>
          </a:p>
          <a:p xmlns:a="http://schemas.openxmlformats.org/drawingml/2006/main">
            <a:r>
              <a:t>Agora o alvo muda: antes era a cotação nominal, agora é q daqui a cinco anos menos q hoje. A regressão base contém nível real centrado e sua mudança passada. A extensão adiciona o índice de preços comerciais com pesos que se atualizam usando informações históricas defasadas, além da variação passada desse índice. Para comparar modelos, a base é reestimada nas mesmas observações disponíveis para a extensão. Esse cuidado evita atribuir às novas variáveis uma melhora causada apenas por mudança de amostra.</a:t>
            </a:r>
          </a:p>
          <a:p xmlns:a="http://schemas.openxmlformats.org/drawingml/2006/main">
            <a:r>
              <a:t/>
            </a:r>
          </a:p>
          <a:p xmlns:a="http://schemas.openxmlformats.org/drawingml/2006/main">
            <a:r>
              <a:t>LEITURA</a:t>
            </a:r>
          </a:p>
          <a:p xmlns:a="http://schemas.openxmlformats.org/drawingml/2006/main">
            <a:r>
              <a:t>A previsão de nenhuma mudança real tem erro relativo 1. A base tem 2,20 e a extensão com preços e pesos comerciais tem 2,08. São 104 origens de janeiro de 2013 a agosto de 2021. A redução em relação à regressão base é aproximadamente 5%, mas o erro continua mais que o dobro do benchmark simples. Não compare esses níveis de erro diretamente aos do slide anterior: o alvo e a amostra são diferentes.</a:t>
            </a:r>
          </a:p>
          <a:p xmlns:a="http://schemas.openxmlformats.org/drawingml/2006/main">
            <a:r>
              <a:t/>
            </a:r>
          </a:p>
          <a:p xmlns:a="http://schemas.openxmlformats.org/drawingml/2006/main">
            <a:r>
              <a:t>TREINO E AVALIAÇÃO</a:t>
            </a:r>
          </a:p>
          <a:p xmlns:a="http://schemas.openxmlformats.org/drawingml/2006/main">
            <a:r>
              <a:t>Primeira origem avaliada: jan/2013. Treino da extensão e da base pareada: dez/2000–out/2007, com disponibilidade dos alvos até dez/2012. Expansivo, mínimo 60 origens. Alvo de cinco anos, com CPI defasado dois meses. Avaliação: jan/2013–ago/2021, alvos até ago/2026.</a:t>
            </a:r>
          </a:p>
          <a:p xmlns:a="http://schemas.openxmlformats.org/drawingml/2006/main">
            <a:r>
              <a:t/>
            </a:r>
          </a:p>
          <a:p xmlns:a="http://schemas.openxmlformats.org/drawingml/2006/main">
            <a:r>
              <a:t>CUIDADO</a:t>
            </a:r>
          </a:p>
          <a:p xmlns:a="http://schemas.openxmlformats.org/drawingml/2006/main">
            <a:r>
              <a:t>O número 2,08 é razão de erro, não previsão de depreciação de 208%. A proxy comercial mensal e os termos de troca agregados anuais são testes distintos.</a:t>
            </a:r>
          </a:p>
          <a:p xmlns:a="http://schemas.openxmlformats.org/drawingml/2006/main">
            <a:r>
              <a:t/>
            </a:r>
          </a:p>
          <a:p xmlns:a="http://schemas.openxmlformats.org/drawingml/2006/main">
            <a:r>
              <a:t>PERGUNTA</a:t>
            </a:r>
          </a:p>
          <a:p xmlns:a="http://schemas.openxmlformats.org/drawingml/2006/main">
            <a:r>
              <a:t>E a hipótese de mudança no equilíbrio? Continua economicamente plausível, mas estes resultados preditivos não a estabelecem nem identificam um novo valor de equilíbrio.</a:t>
            </a:r>
          </a:p>
          <a:p xmlns:a="http://schemas.openxmlformats.org/drawingml/2006/main">
            <a:r>
              <a:t/>
            </a:r>
          </a:p>
          <a:p xmlns:a="http://schemas.openxmlformats.org/drawingml/2006/main">
            <a:r>
              <a:t>TRANSIÇÃO</a:t>
            </a:r>
          </a:p>
          <a:p xmlns:a="http://schemas.openxmlformats.org/drawingml/2006/main">
            <a:r>
              <a:t>Com previsões frágeis, eu passei a testar decisões de exposição mais específicas.</a:t>
            </a:r>
          </a:p>
          <a:p xmlns:a="http://schemas.openxmlformats.org/drawingml/2006/main">
            <a:r>
              <a:t/>
            </a:r>
          </a:p>
          <a:p xmlns:a="http://schemas.openxmlformats.org/drawingml/2006/main">
            <a:r>
              <a:t>FONTES</a:t>
            </a:r>
          </a:p>
          <a:p xmlns:a="http://schemas.openxmlformats.org/drawingml/2006/main">
            <a:r>
              <a:t>trade_extension/tables/prediction_metrics.csv: real_60</a:t>
            </a:r>
          </a:p>
          <a:p xmlns:a="http://schemas.openxmlformats.org/drawingml/2006/main">
            <a:r>
              <a:t>trade_extension/analyze.py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105 segundos.</a:t>
            </a:r>
          </a:p>
          <a:p xmlns:a="http://schemas.openxmlformats.org/drawingml/2006/main">
            <a:r>
              <a:t>Ideia central: A combinação posterior mantém a lógica de carry e usa sinais para dimensionar, permitir ou encerrar posições.</a:t>
            </a:r>
          </a:p>
          <a:p xmlns:a="http://schemas.openxmlformats.org/drawingml/2006/main">
            <a:r>
              <a:t/>
            </a:r>
          </a:p>
          <a:p xmlns:a="http://schemas.openxmlformats.org/drawingml/2006/main">
            <a:r>
              <a:t>FALA</a:t>
            </a:r>
          </a:p>
          <a:p xmlns:a="http://schemas.openxmlformats.org/drawingml/2006/main">
            <a:r>
              <a:t>A mudança foi usar a informação para controlar o carry. O primeiro módulo decide quanto investir: reduz a posição quando a remuneração prevista está fraca e evita mudanças comerciais extremas. O segundo decide quando entrar: exige uma remuneração prevista mínima e evita movimentos comerciais adversos. O terceiro decide quando sair: abre pequenas parcelas ao longo dos meses, com prazo máximo de um ano, e encerra antes quando a informação comercial indica risco adicional relevante de o câmbio consumir os juros. Esse risco adicional compara o modelo com comércio ao modelo base, respeitando a direção original da posição. Eu combino os três com pesos iguais. Essas regras já são mais complexas e foram escolhidas depois de explorar a história, então os resultados seguintes precisam ser tratados como exploratórios.</a:t>
            </a:r>
          </a:p>
          <a:p xmlns:a="http://schemas.openxmlformats.org/drawingml/2006/main">
            <a:r>
              <a:t/>
            </a:r>
          </a:p>
          <a:p xmlns:a="http://schemas.openxmlformats.org/drawingml/2006/main">
            <a:r>
              <a:t>CONCEITOS</a:t>
            </a:r>
          </a:p>
          <a:p xmlns:a="http://schemas.openxmlformats.org/drawingml/2006/main">
            <a:r>
              <a:t>O módulo A reduz o tamanho do carry quando o retorno previsto é baixo em relação à referência passada e elimina pares com mudança comercial observada muito alta. O módulo B só entra se o retorno previsto anualizado, suavizado por seis meses, superar 2%, e evita pares com movimento adverso forte dos preços comerciais. O módulo C distribui entradas mensais em parcelas, cada uma com duração máxima de 12 meses, e antecipa a saída quando o modelo com composição comercial indica aumento relevante do risco de o câmbio consumir os juros, relativamente ao modelo base. Os limites de eventos extremos usam o percentil 80 da história passada. A combinação usa um terço dos pesos de cada módulo e calcula custos após agregar as posições.</a:t>
            </a:r>
          </a:p>
          <a:p xmlns:a="http://schemas.openxmlformats.org/drawingml/2006/main">
            <a:r>
              <a:t/>
            </a:r>
          </a:p>
          <a:p xmlns:a="http://schemas.openxmlformats.org/drawingml/2006/main">
            <a:r>
              <a:t>LEITURA</a:t>
            </a:r>
          </a:p>
          <a:p xmlns:a="http://schemas.openxmlformats.org/drawingml/2006/main">
            <a:r>
              <a:t>Explique cada linha como uma decisão concreta: quanto comprar, quando entrar, quando sair. Dê mais tempo ao terceiro módulo. Uma ‘coorte’ é simplesmente o lote de posições aberto em um mês. Cada lote tem orçamento limitado, em vez de multiplicar a exposição ao somar vários meses. Os pares retirados saem com as duas pontas, preservando a neutralidade líquida.</a:t>
            </a:r>
          </a:p>
          <a:p xmlns:a="http://schemas.openxmlformats.org/drawingml/2006/main">
            <a:r>
              <a:t/>
            </a:r>
          </a:p>
          <a:p xmlns:a="http://schemas.openxmlformats.org/drawingml/2006/main">
            <a:r>
              <a:t>TREINO E AVALIAÇÃO</a:t>
            </a:r>
          </a:p>
          <a:p xmlns:a="http://schemas.openxmlformats.org/drawingml/2006/main">
            <a:r>
              <a:t>EJR: janela expansiva desde out/1999 e previsão nominal de 60 meses. Risco comercial: origens desde jan/2011, mínimo 36 datas maduras e alvo de 12 meses, mais atraso de execução. Limiares comerciais: mínimo 36 meses anteriores. Backtest comum: abr/2018–ago/2026.</a:t>
            </a:r>
          </a:p>
          <a:p xmlns:a="http://schemas.openxmlformats.org/drawingml/2006/main">
            <a:r>
              <a:t/>
            </a:r>
          </a:p>
          <a:p xmlns:a="http://schemas.openxmlformats.org/drawingml/2006/main">
            <a:r>
              <a:t>CUIDADO</a:t>
            </a:r>
          </a:p>
          <a:p xmlns:a="http://schemas.openxmlformats.org/drawingml/2006/main">
            <a:r>
              <a:t>O sinal de risco adicional é uma diferença entre modelos, não simplesmente a mudança mensal de uma probabilidade. Não chame a combinação de modelo ótimo ou escolhido em uma amostra totalmente intocada.</a:t>
            </a:r>
          </a:p>
          <a:p xmlns:a="http://schemas.openxmlformats.org/drawingml/2006/main">
            <a:r>
              <a:t/>
            </a:r>
          </a:p>
          <a:p xmlns:a="http://schemas.openxmlformats.org/drawingml/2006/main">
            <a:r>
              <a:t>PERGUNTA</a:t>
            </a:r>
          </a:p>
          <a:p xmlns:a="http://schemas.openxmlformats.org/drawingml/2006/main">
            <a:r>
              <a:t>Por que pesos iguais? É uma combinação simples, que evita otimizar os pesos para o maior Sharpe. Ainda assim, a escolha dos componentes já usa aprendizados da história examinada.</a:t>
            </a:r>
          </a:p>
          <a:p xmlns:a="http://schemas.openxmlformats.org/drawingml/2006/main">
            <a:r>
              <a:t/>
            </a:r>
          </a:p>
          <a:p xmlns:a="http://schemas.openxmlformats.org/drawingml/2006/main">
            <a:r>
              <a:t>TRANSIÇÃO</a:t>
            </a:r>
          </a:p>
          <a:p xmlns:a="http://schemas.openxmlformats.org/drawingml/2006/main">
            <a:r>
              <a:t>Para comparar, eu coloco o carry e a combinação exatamente nas mesmas datas.</a:t>
            </a:r>
          </a:p>
          <a:p xmlns:a="http://schemas.openxmlformats.org/drawingml/2006/main">
            <a:r>
              <a:t/>
            </a:r>
          </a:p>
          <a:p xmlns:a="http://schemas.openxmlformats.org/drawingml/2006/main">
            <a:r>
              <a:t>FONTES</a:t>
            </a:r>
          </a:p>
          <a:p xmlns:a="http://schemas.openxmlformats.org/drawingml/2006/main">
            <a:r>
              <a:t>synthesis/model.py: make_policies</a:t>
            </a:r>
          </a:p>
          <a:p xmlns:a="http://schemas.openxmlformats.org/drawingml/2006/main">
            <a:r>
              <a:t>synthesis/PROTOCOL.md</a:t>
            </a:r>
          </a:p>
          <a:p xmlns:a="http://schemas.openxmlformats.org/drawingml/2006/main">
            <a:r>
              <a:t>synthesis/EXPLORATION.md</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Entre abril de 2018 e agosto de 2026, a combinação apresentou retorno semelhante ao carry com menor volatilidade e menor exposição.</a:t>
            </a:r>
          </a:p>
          <a:p xmlns:a="http://schemas.openxmlformats.org/drawingml/2006/main">
            <a:r>
              <a:t/>
            </a:r>
          </a:p>
          <a:p xmlns:a="http://schemas.openxmlformats.org/drawingml/2006/main">
            <a:r>
              <a:t>FALA</a:t>
            </a:r>
          </a:p>
          <a:p xmlns:a="http://schemas.openxmlformats.org/drawingml/2006/main">
            <a:r>
              <a:t>Na janela comum, o retorno anual ficou próximo: 5,78% no carry e 5,94% na combinação. A diferença mais visível aparece no risco: a volatilidade caiu de 4,11% para 2,33% e a queda máxima observada caiu de 9,09% para 1,43%. O Sharpe aumentou. Mas existe uma explicação importante: a combinação carregou, em média, apenas 48% de exposição bruta. Parte do resultado vem simplesmente de assumir menos risco e permanecer mais em caixa. Eu fiz controles de exposição, mas eles não eliminam toda a incerteza sobre a vantagem. O que posso mostrar é uma trajetória histórica mais estável, sem afirmar uma rentabilidade superior garantida.</a:t>
            </a:r>
          </a:p>
          <a:p xmlns:a="http://schemas.openxmlformats.org/drawingml/2006/main">
            <a:r>
              <a:t/>
            </a:r>
          </a:p>
          <a:p xmlns:a="http://schemas.openxmlformats.org/drawingml/2006/main">
            <a:r>
              <a:t>CONCEITOS</a:t>
            </a:r>
          </a:p>
          <a:p xmlns:a="http://schemas.openxmlformats.org/drawingml/2006/main">
            <a:r>
              <a:t>A janela comum começa quando todos os módulos já podem funcionar. Tem 101 retornos mensais. O retorno total inclui remuneração do caixa em dólar, contribuições dos ativos e financiamento, além de custos assumidos. O Sharpe usa excesso sobre o caixa. Exposição bruta é a soma do valor absoluto das posições dividida pelo patrimônio. A combinação teve exposição bruta média de 48%, contra 100% do carry. Isso explica parte da queda de risco e deve aparecer ao lado das métricas, não como ressalva escondida.</a:t>
            </a:r>
          </a:p>
          <a:p xmlns:a="http://schemas.openxmlformats.org/drawingml/2006/main">
            <a:r>
              <a:t/>
            </a:r>
          </a:p>
          <a:p xmlns:a="http://schemas.openxmlformats.org/drawingml/2006/main">
            <a:r>
              <a:t>LEITURA</a:t>
            </a:r>
          </a:p>
          <a:p xmlns:a="http://schemas.openxmlformats.org/drawingml/2006/main">
            <a:r>
              <a:t>Leia primeiro retorno anual de 5,78% e 5,94%: são próximos. Depois destaque volatilidade de 4,11% e 2,33%, e queda máxima de 9,09% e 1,43% em magnitude. Termine obrigatoriamente na exposição de 100% e 48%. O Sharpe sobe de 0,75 para 1,37. Os sinais negativos na linha de queda máxima representam perdas em relação ao pico.</a:t>
            </a:r>
          </a:p>
          <a:p xmlns:a="http://schemas.openxmlformats.org/drawingml/2006/main">
            <a:r>
              <a:t/>
            </a:r>
          </a:p>
          <a:p xmlns:a="http://schemas.openxmlformats.org/drawingml/2006/main">
            <a:r>
              <a:t>TREINO E AVALIAÇÃO</a:t>
            </a:r>
          </a:p>
          <a:p xmlns:a="http://schemas.openxmlformats.org/drawingml/2006/main">
            <a:r>
              <a:t>Primeiro sinal da janela comum: fev/2018. EJR: origens out/1999–jan/2013. Risco comercial: jan/2011–dez/2016. Resultados disponíveis até jan/2018. Reestimação expansiva mensal. Backtest: abr/2018–ago/2026.</a:t>
            </a:r>
          </a:p>
          <a:p xmlns:a="http://schemas.openxmlformats.org/drawingml/2006/main">
            <a:r>
              <a:t/>
            </a:r>
          </a:p>
          <a:p xmlns:a="http://schemas.openxmlformats.org/drawingml/2006/main">
            <a:r>
              <a:t>CUIDADO</a:t>
            </a:r>
          </a:p>
          <a:p xmlns:a="http://schemas.openxmlformats.org/drawingml/2006/main">
            <a:r>
              <a:t>A diferença de retorno de 0,16 ponto percentual de CAGR é pequena. Não apresente o Sharpe observado como prova estatística de alfa.</a:t>
            </a:r>
          </a:p>
          <a:p xmlns:a="http://schemas.openxmlformats.org/drawingml/2006/main">
            <a:r>
              <a:t/>
            </a:r>
          </a:p>
          <a:p xmlns:a="http://schemas.openxmlformats.org/drawingml/2006/main">
            <a:r>
              <a:t>PERGUNTA</a:t>
            </a:r>
          </a:p>
          <a:p xmlns:a="http://schemas.openxmlformats.org/drawingml/2006/main">
            <a:r>
              <a:t>Bastava investir metade no carry? O controle retrospectivo com exposição média de 48% rendeu 4,18% ao ano e teve queda máxima de 4,02%, contra 5,94% e 1,43% da combinação. Isso é diagnóstico útil, mas usa a média conhecida depois e não prova superioridade futura.</a:t>
            </a:r>
          </a:p>
          <a:p xmlns:a="http://schemas.openxmlformats.org/drawingml/2006/main">
            <a:r>
              <a:t/>
            </a:r>
          </a:p>
          <a:p xmlns:a="http://schemas.openxmlformats.org/drawingml/2006/main">
            <a:r>
              <a:t>TRANSIÇÃO</a:t>
            </a:r>
          </a:p>
          <a:p xmlns:a="http://schemas.openxmlformats.org/drawingml/2006/main">
            <a:r>
              <a:t>Antes de ver o gráfico, verifico o que muda quando altero o prazo dos lotes.</a:t>
            </a:r>
          </a:p>
          <a:p xmlns:a="http://schemas.openxmlformats.org/drawingml/2006/main">
            <a:r>
              <a:t/>
            </a:r>
          </a:p>
          <a:p xmlns:a="http://schemas.openxmlformats.org/drawingml/2006/main">
            <a:r>
              <a:t>FONTES</a:t>
            </a:r>
          </a:p>
          <a:p xmlns:a="http://schemas.openxmlformats.org/drawingml/2006/main">
            <a:r>
              <a:t>synthesis/tables/metrics.csv: common, all</a:t>
            </a:r>
          </a:p>
          <a:p xmlns:a="http://schemas.openxmlformats.org/drawingml/2006/main">
            <a:r>
              <a:t>synthesis/tables/exposure_controls.csv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65 segundos.</a:t>
            </a:r>
          </a:p>
          <a:p xmlns:a="http://schemas.openxmlformats.org/drawingml/2006/main">
            <a:r>
              <a:t>Ideia central: A carteira funciona continuamente, mas a duração máxima dos lotes do módulo de permanência modifica a composição, a exposição e o risco.</a:t>
            </a:r>
          </a:p>
          <a:p xmlns:a="http://schemas.openxmlformats.org/drawingml/2006/main">
            <a:r>
              <a:t/>
            </a:r>
          </a:p>
          <a:p xmlns:a="http://schemas.openxmlformats.org/drawingml/2006/main">
            <a:r>
              <a:t>FALA</a:t>
            </a:r>
          </a:p>
          <a:p xmlns:a="http://schemas.openxmlformats.org/drawingml/2006/main">
            <a:r>
              <a:t>Mesmo com uma carteira contínua, o prazo importa. Aqui mantive os outros dois módulos e alterei apenas o prazo máximo dos lotes do módulo de permanência. O retorno muda pouco entre seis e doze meses e cai um pouco em vinte e quatro. A exposição também cai conforme aumenta o prazo máximo, porque as entradas são menores e podem sair antes por risco. Isso mostra que o prazo muda a política, mas não prova que doze meses seja ótimo. E não mudamos o horizonte do modelo de risco: ele continua olhando doze meses.</a:t>
            </a:r>
          </a:p>
          <a:p xmlns:a="http://schemas.openxmlformats.org/drawingml/2006/main">
            <a:r>
              <a:t/>
            </a:r>
          </a:p>
          <a:p xmlns:a="http://schemas.openxmlformats.org/drawingml/2006/main">
            <a:r>
              <a:t>CONCEITOS</a:t>
            </a:r>
          </a:p>
          <a:p xmlns:a="http://schemas.openxmlformats.org/drawingml/2006/main">
            <a:r>
              <a:t>A combinação tem três módulos. Os dois primeiros revêm o carry mensalmente. O terceiro abre novos lotes mensais e permite carregá-los até um prazo máximo, com saída antecipada por risco. Aqui só variamos esse máximo entre 6, 12 e 24 meses. O orçamento de entrada mensal desse módulo é 1/H, onde H é o prazo máximo, preservando o teto de exposição. As previsões permanecem as mesmas: EJR de 60 meses e risco de consumo dos juros em 12 meses. Portanto, é uma sensibilidade de política de permanência, não uma comparação de novos modelos de previsão para cada prazo.</a:t>
            </a:r>
          </a:p>
          <a:p xmlns:a="http://schemas.openxmlformats.org/drawingml/2006/main">
            <a:r>
              <a:t/>
            </a:r>
          </a:p>
          <a:p xmlns:a="http://schemas.openxmlformats.org/drawingml/2006/main">
            <a:r>
              <a:t>LEITURA</a:t>
            </a:r>
          </a:p>
          <a:p xmlns:a="http://schemas.openxmlformats.org/drawingml/2006/main">
            <a:r>
              <a:t>A tabela mostra a combinação inteira na mesma janela de abril de 2018 a agosto de 2026, com os mesmos custos. Para 6, 12 e 24 meses, os retornos anuais são 5,96%, 5,94% e 5,77%. A exposição média cai de 51% para 48% e 44%. Essa mudança de exposição participa da diferença de risco. A saída pode ocorrer antes do máximo e a entrada é gradual.</a:t>
            </a:r>
          </a:p>
          <a:p xmlns:a="http://schemas.openxmlformats.org/drawingml/2006/main">
            <a:r>
              <a:t/>
            </a:r>
          </a:p>
          <a:p xmlns:a="http://schemas.openxmlformats.org/drawingml/2006/main">
            <a:r>
              <a:t>TREINO E AVALIAÇÃO</a:t>
            </a:r>
          </a:p>
          <a:p xmlns:a="http://schemas.openxmlformats.org/drawingml/2006/main">
            <a:r>
              <a:t>Primeiro sinal da janela comum: fev/2018. EJR: origens out/1999–jan/2013. Risco comercial: jan/2011–dez/2016. Resultados disponíveis até jan/2018. Reestimação expansiva mensal. Backtest: abr/2018–ago/2026.</a:t>
            </a:r>
          </a:p>
          <a:p xmlns:a="http://schemas.openxmlformats.org/drawingml/2006/main">
            <a:r>
              <a:t/>
            </a:r>
          </a:p>
          <a:p xmlns:a="http://schemas.openxmlformats.org/drawingml/2006/main">
            <a:r>
              <a:t>CUIDADO</a:t>
            </a:r>
          </a:p>
          <a:p xmlns:a="http://schemas.openxmlformats.org/drawingml/2006/main">
            <a:r>
              <a:t>Os prazos são máximos, não permanências garantidas. Não confunda prazo do lote, frequência mensal de revisão, previsão nominal de 60 meses e previsão de risco de 12 meses. Os testes usam a mesma história exploratória.</a:t>
            </a:r>
          </a:p>
          <a:p xmlns:a="http://schemas.openxmlformats.org/drawingml/2006/main">
            <a:r>
              <a:t/>
            </a:r>
          </a:p>
          <a:p xmlns:a="http://schemas.openxmlformats.org/drawingml/2006/main">
            <a:r>
              <a:t>PERGUNTA</a:t>
            </a:r>
          </a:p>
          <a:p xmlns:a="http://schemas.openxmlformats.org/drawingml/2006/main">
            <a:r>
              <a:t>Por que o prazo maior reduziu a exposição? Com orçamento 1/H por entrada e saída antecipada, muitos lotes podem sair antes de completar H meses. A formação gradual e o cancelamento entre pontas também influenciam a exposição líquida por moeda. Isso deve ser considerado ao comparar o risco.</a:t>
            </a:r>
          </a:p>
          <a:p xmlns:a="http://schemas.openxmlformats.org/drawingml/2006/main">
            <a:r>
              <a:t/>
            </a:r>
          </a:p>
          <a:p xmlns:a="http://schemas.openxmlformats.org/drawingml/2006/main">
            <a:r>
              <a:t>TRANSIÇÃO</a:t>
            </a:r>
          </a:p>
          <a:p xmlns:a="http://schemas.openxmlformats.org/drawingml/2006/main">
            <a:r>
              <a:t>A trajetória do patrimônio da combinação-base, com lotes de até doze meses, aparece no próximo gráfico.</a:t>
            </a:r>
          </a:p>
          <a:p xmlns:a="http://schemas.openxmlformats.org/drawingml/2006/main">
            <a:r>
              <a:t/>
            </a:r>
          </a:p>
          <a:p xmlns:a="http://schemas.openxmlformats.org/drawingml/2006/main">
            <a:r>
              <a:t>FONTES</a:t>
            </a:r>
          </a:p>
          <a:p xmlns:a="http://schemas.openxmlformats.org/drawingml/2006/main">
            <a:r>
              <a:t>synthesis/tables/robustness.csv: Base, Tenure6, Tenure24</a:t>
            </a:r>
          </a:p>
          <a:p xmlns:a="http://schemas.openxmlformats.org/drawingml/2006/main">
            <a:r>
              <a:t>synthesis/model.py: make_policies, cohorts</a:t>
            </a:r>
          </a:p>
          <a:p xmlns:a="http://schemas.openxmlformats.org/drawingml/2006/main">
            <a:r>
              <a:t>synthesis/robustness.py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50 segundos.</a:t>
            </a:r>
          </a:p>
          <a:p xmlns:a="http://schemas.openxmlformats.org/drawingml/2006/main">
            <a:r>
              <a:t>Ideia central: O patrimônio final é parecido, mas o carry apresenta perdas e recuperações mais pronunciadas.</a:t>
            </a:r>
          </a:p>
          <a:p xmlns:a="http://schemas.openxmlformats.org/drawingml/2006/main">
            <a:r>
              <a:t/>
            </a:r>
          </a:p>
          <a:p xmlns:a="http://schemas.openxmlformats.org/drawingml/2006/main">
            <a:r>
              <a:t>FALA</a:t>
            </a:r>
          </a:p>
          <a:p xmlns:a="http://schemas.openxmlformats.org/drawingml/2006/main">
            <a:r>
              <a:t>Aqui todas as estratégias começam em 100. O ponto final do carry e da combinação é próximo, mas o caminho é diferente. O carry atravessa uma queda mais pronunciada em torno de 2020, enquanto a combinação mantém uma trajetória mais estável nessa janela. O painel de baixo mostra a perda em relação ao pico anterior. A linha do caixa lembra que parte do retorno total vem da remuneração em dólar, mesmo quando a exposição cai. Esta figura ajuda a entender por que duas carteiras com retorno final parecido podem ter riscos bastante diferentes.</a:t>
            </a:r>
          </a:p>
          <a:p xmlns:a="http://schemas.openxmlformats.org/drawingml/2006/main">
            <a:r>
              <a:t/>
            </a:r>
          </a:p>
          <a:p xmlns:a="http://schemas.openxmlformats.org/drawingml/2006/main">
            <a:r>
              <a:t>CONCEITOS</a:t>
            </a:r>
          </a:p>
          <a:p xmlns:a="http://schemas.openxmlformats.org/drawingml/2006/main">
            <a:r>
              <a:t>O gráfico acumula retornos líquidos, com patrimônio inicial 100. O retorno final é semelhante, mas as trajetórias de perdas diferem. A carteira recebe novas decisões mensais e não tem uma única janela fixa de treinamento. Em fevereiro de 2018, primeiro sinal para retorno em abril, o EJR usa origens de outubro de 1999 a janeiro de 2013, com alvos terminados até janeiro de 2018. O modelo de risco comercial usa origens de janeiro de 2011 a dezembro de 2016, com resultados disponíveis até janeiro de 2018. Depois as duas janelas se expandem e os modelos são reestimados. A combinação contém também regras baseadas em preços e limiares calculados com a história passada.</a:t>
            </a:r>
          </a:p>
          <a:p xmlns:a="http://schemas.openxmlformats.org/drawingml/2006/main">
            <a:r>
              <a:t/>
            </a:r>
          </a:p>
          <a:p xmlns:a="http://schemas.openxmlformats.org/drawingml/2006/main">
            <a:r>
              <a:t>LEITURA</a:t>
            </a:r>
          </a:p>
          <a:p xmlns:a="http://schemas.openxmlformats.org/drawingml/2006/main">
            <a:r>
              <a:t>Aponte a trajetória, sem tentar explicar cada oscilação. A queda do carry em torno de 2020 é mais visível que a da combinação. O painel de perdas mostra a profundidade em relação ao pico. Como o retorno final é semelhante, este slide reforça que o achado principal é a suavização histórica do caminho.</a:t>
            </a:r>
          </a:p>
          <a:p xmlns:a="http://schemas.openxmlformats.org/drawingml/2006/main">
            <a:r>
              <a:t/>
            </a:r>
          </a:p>
          <a:p xmlns:a="http://schemas.openxmlformats.org/drawingml/2006/main">
            <a:r>
              <a:t>TREINO E AVALIAÇÃO</a:t>
            </a:r>
          </a:p>
          <a:p xmlns:a="http://schemas.openxmlformats.org/drawingml/2006/main">
            <a:r>
              <a:t>Primeiro sinal: fev/2018. EJR: out/1999–jan/2013, alvos até jan/2018. Risco comercial: jan/2011–dez/2016, alvos disponíveis até jan/2018. Janelas expansivas. Backtest: abr/2018–ago/2026.</a:t>
            </a:r>
          </a:p>
          <a:p xmlns:a="http://schemas.openxmlformats.org/drawingml/2006/main">
            <a:r>
              <a:t/>
            </a:r>
          </a:p>
          <a:p xmlns:a="http://schemas.openxmlformats.org/drawingml/2006/main">
            <a:r>
              <a:t>CUIDADO</a:t>
            </a:r>
          </a:p>
          <a:p xmlns:a="http://schemas.openxmlformats.org/drawingml/2006/main">
            <a:r>
              <a:t>O gráfico descreve o que ocorreu. Ele não identifica que um filtro específico causou cada diferença durante uma crise.</a:t>
            </a:r>
          </a:p>
          <a:p xmlns:a="http://schemas.openxmlformats.org/drawingml/2006/main">
            <a:r>
              <a:t/>
            </a:r>
          </a:p>
          <a:p xmlns:a="http://schemas.openxmlformats.org/drawingml/2006/main">
            <a:r>
              <a:t>PERGUNTA</a:t>
            </a:r>
          </a:p>
          <a:p xmlns:a="http://schemas.openxmlformats.org/drawingml/2006/main">
            <a:r>
              <a:t>A previsão foi treinada de 2018 a 2026? Não em uma única estimação que olha todo o período. A cada mês, usamos apenas a história admissível, mas a escolha dos módulos usou pesquisa sobre essa história já examinada. Para o primeiro retorno, o sinal vem de fevereiro de 2018 e a execução de março. Em junho de 2026, o EJR já usa origens até maio de 2021 e alvos até maio de 2026.</a:t>
            </a:r>
          </a:p>
          <a:p xmlns:a="http://schemas.openxmlformats.org/drawingml/2006/main">
            <a:r>
              <a:t/>
            </a:r>
          </a:p>
          <a:p xmlns:a="http://schemas.openxmlformats.org/drawingml/2006/main">
            <a:r>
              <a:t>TRANSIÇÃO</a:t>
            </a:r>
          </a:p>
          <a:p xmlns:a="http://schemas.openxmlformats.org/drawingml/2006/main">
            <a:r>
              <a:t>Também vale separar contabilmente o que veio dos juros e o que veio do câmbio.</a:t>
            </a:r>
          </a:p>
          <a:p xmlns:a="http://schemas.openxmlformats.org/drawingml/2006/main">
            <a:r>
              <a:t/>
            </a:r>
          </a:p>
          <a:p xmlns:a="http://schemas.openxmlformats.org/drawingml/2006/main">
            <a:r>
              <a:t>FONTES</a:t>
            </a:r>
          </a:p>
          <a:p xmlns:a="http://schemas.openxmlformats.org/drawingml/2006/main">
            <a:r>
              <a:t>synthesis/tables/returns.csv.gz: common</a:t>
            </a:r>
          </a:p>
          <a:p xmlns:a="http://schemas.openxmlformats.org/drawingml/2006/main">
            <a:r>
              <a:t>synthesis/tables/metrics.csv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55 segundos.</a:t>
            </a:r>
          </a:p>
          <a:p xmlns:a="http://schemas.openxmlformats.org/drawingml/2006/main">
            <a:r>
              <a:t>Ideia central: Na combinação, a menor exposição reduziu o recebimento de juros, enquanto a contribuição cambial histórica melhorou.</a:t>
            </a:r>
          </a:p>
          <a:p xmlns:a="http://schemas.openxmlformats.org/drawingml/2006/main">
            <a:r>
              <a:t/>
            </a:r>
          </a:p>
          <a:p xmlns:a="http://schemas.openxmlformats.org/drawingml/2006/main">
            <a:r>
              <a:t>FALA</a:t>
            </a:r>
          </a:p>
          <a:p xmlns:a="http://schemas.openxmlformats.org/drawingml/2006/main">
            <a:r>
              <a:t>A decomposição contábil ajuda a entender o resultado. A combinação recebeu menos contribuição de juros, o que faz sentido porque operou com menor exposição. Em compensação, teve contribuição cambial maior na amostra. Isso manteve o excesso médio de retorno próximo ao do carry, com menos risco. Mas ficar de fora também tem custo: em 2019, a combinação ganhou pouco acima do caixa e ficou bastante atrás do carry. Em 2020 e 2021, ocorreu o contrário. Portanto, os filtros podem proteger em alguns episódios e deixar ganhos para trás em outros. Essa alternância é parte do resultado, não uma exceção a esconder.</a:t>
            </a:r>
          </a:p>
          <a:p xmlns:a="http://schemas.openxmlformats.org/drawingml/2006/main">
            <a:r>
              <a:t/>
            </a:r>
          </a:p>
          <a:p xmlns:a="http://schemas.openxmlformats.org/drawingml/2006/main">
            <a:r>
              <a:t>CONCEITOS</a:t>
            </a:r>
          </a:p>
          <a:p xmlns:a="http://schemas.openxmlformats.org/drawingml/2006/main">
            <a:r>
              <a:t>A atribuição divide a média mensal do retorno em excesso em parcelas contábeis e multiplica por 12. Os valores são pontos percentuais de contribuição anual, não CAGRs separáveis. Carry: câmbio 0,74 p.p. e juros 2,62 p.p. Combinação: câmbio 1,82 p.p. e juros 1,50 p.p. Interação, spread de financiamento e custos completam a conta. O excesso médio total é aproximadamente 3,07% e 3,17% ao ano, respectivamente. Isso é consistente com melhor seleção de exposição na história, mas não identifica um mecanismo causal.</a:t>
            </a:r>
          </a:p>
          <a:p xmlns:a="http://schemas.openxmlformats.org/drawingml/2006/main">
            <a:r>
              <a:t/>
            </a:r>
          </a:p>
          <a:p xmlns:a="http://schemas.openxmlformats.org/drawingml/2006/main">
            <a:r>
              <a:t>LEITURA</a:t>
            </a:r>
          </a:p>
          <a:p xmlns:a="http://schemas.openxmlformats.org/drawingml/2006/main">
            <a:r>
              <a:t>Compare as barras de cada componente. A remuneração de juros cai na combinação, enquanto a contribuição de câmbio sobe. Diga que os componentes mostrados não somam o retorno composto da tabela anterior. Para ilustrar custo de oportunidade, em 2019 o excesso médio anualizado da combinação foi 0,40%, contra 3,83% do carry. Em 2020–2021, foi 2,39% contra −1,43%.</a:t>
            </a:r>
          </a:p>
          <a:p xmlns:a="http://schemas.openxmlformats.org/drawingml/2006/main">
            <a:r>
              <a:t/>
            </a:r>
          </a:p>
          <a:p xmlns:a="http://schemas.openxmlformats.org/drawingml/2006/main">
            <a:r>
              <a:t>TREINO E AVALIAÇÃO</a:t>
            </a:r>
          </a:p>
          <a:p xmlns:a="http://schemas.openxmlformats.org/drawingml/2006/main">
            <a:r>
              <a:t>Mesmas previsões, regras e treinamento expansivo da combinação. Atribuição realizada no backtest de abr/2018 a ago/2026. Não há um novo modelo de previsão para a atribuição.</a:t>
            </a:r>
          </a:p>
          <a:p xmlns:a="http://schemas.openxmlformats.org/drawingml/2006/main">
            <a:r>
              <a:t/>
            </a:r>
          </a:p>
          <a:p xmlns:a="http://schemas.openxmlformats.org/drawingml/2006/main">
            <a:r>
              <a:t>CUIDADO</a:t>
            </a:r>
          </a:p>
          <a:p xmlns:a="http://schemas.openxmlformats.org/drawingml/2006/main">
            <a:r>
              <a:t>Não some 1,82% e 1,50% para chegar ao CAGR de 5,94%. A tabela de CAGR inclui caixa e composição. A atribuição usa médias aritméticas do excesso e ainda desconta outras parcelas.</a:t>
            </a:r>
          </a:p>
          <a:p xmlns:a="http://schemas.openxmlformats.org/drawingml/2006/main">
            <a:r>
              <a:t/>
            </a:r>
          </a:p>
          <a:p xmlns:a="http://schemas.openxmlformats.org/drawingml/2006/main">
            <a:r>
              <a:t>PERGUNTA</a:t>
            </a:r>
          </a:p>
          <a:p xmlns:a="http://schemas.openxmlformats.org/drawingml/2006/main">
            <a:r>
              <a:t>O resultado vem só do carrego? Não. As duas estratégias recebem juros e carregam risco cambial. A combinação mudou a exposição a essas duas fontes de resultado.</a:t>
            </a:r>
          </a:p>
          <a:p xmlns:a="http://schemas.openxmlformats.org/drawingml/2006/main">
            <a:r>
              <a:t/>
            </a:r>
          </a:p>
          <a:p xmlns:a="http://schemas.openxmlformats.org/drawingml/2006/main">
            <a:r>
              <a:t>TRANSIÇÃO</a:t>
            </a:r>
          </a:p>
          <a:p xmlns:a="http://schemas.openxmlformats.org/drawingml/2006/main">
            <a:r>
              <a:t>Os resultados são interessantes, mas há limites claros para a interpretação.</a:t>
            </a:r>
          </a:p>
          <a:p xmlns:a="http://schemas.openxmlformats.org/drawingml/2006/main">
            <a:r>
              <a:t/>
            </a:r>
          </a:p>
          <a:p xmlns:a="http://schemas.openxmlformats.org/drawingml/2006/main">
            <a:r>
              <a:t>FONTES</a:t>
            </a:r>
          </a:p>
          <a:p xmlns:a="http://schemas.openxmlformats.org/drawingml/2006/main">
            <a:r>
              <a:t>synthesis/tables/attribution.csv</a:t>
            </a:r>
          </a:p>
          <a:p xmlns:a="http://schemas.openxmlformats.org/drawingml/2006/main">
            <a:r>
              <a:t>synthesis/tables/episodes.csv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60 segundos.</a:t>
            </a:r>
          </a:p>
          <a:p xmlns:a="http://schemas.openxmlformats.org/drawingml/2006/main">
            <a:r>
              <a:t>Ideia central: Há uma melhora histórica de risco, mas a pesquisa ainda não estabelece uma vantagem generalizável de retorno.</a:t>
            </a:r>
          </a:p>
          <a:p xmlns:a="http://schemas.openxmlformats.org/drawingml/2006/main">
            <a:r>
              <a:t/>
            </a:r>
          </a:p>
          <a:p xmlns:a="http://schemas.openxmlformats.org/drawingml/2006/main">
            <a:r>
              <a:t>FALA</a:t>
            </a:r>
          </a:p>
          <a:p xmlns:a="http://schemas.openxmlformats.org/drawingml/2006/main">
            <a:r>
              <a:t>A principal limitação é que os módulos foram escolhidos após explorar essa mesma história. Eu cuidei para que as decisões mensais não usassem o futuro, mas isso não transforma o resultado em uma validação independente da escolha das regras. O desempenho também depende bastante do Brasil e do iene, e a menor exposição explica parte da queda de risco. Os testes corrigidos para as alternativas principais não sustentam ganho de retorno médio sobre o carry. Finalmente, taxas oficiais e séries revisadas são aproximações da informação e dos preços disponíveis para um investidor. Por isso, a próxima validação teria de congelar as regras e acompanhar dados futuros e custos executáveis.</a:t>
            </a:r>
          </a:p>
          <a:p xmlns:a="http://schemas.openxmlformats.org/drawingml/2006/main">
            <a:r>
              <a:t/>
            </a:r>
          </a:p>
          <a:p xmlns:a="http://schemas.openxmlformats.org/drawingml/2006/main">
            <a:r>
              <a:t>CONCEITOS</a:t>
            </a:r>
          </a:p>
          <a:p xmlns:a="http://schemas.openxmlformats.org/drawingml/2006/main">
            <a:r>
              <a:t>Vazamento temporal ocorre quando a decisão usa informação que só seria conhecida depois. O projeto controla defasagens, maturação dos alvos e atraso de execução. Seleção de modelos é outro problema: depois de testar muitas ideias, as que parecem melhores podem ser apenas as que tiveram sorte nessa história. Um backtest pode respeitar o calendário e ainda sofrer com seleção retrospectiva. Além disso, os dados macroeconômicos disponíveis foram revisados e as taxas são proxies, não cotações executáveis. A dependência de países também limita a generalização.</a:t>
            </a:r>
          </a:p>
          <a:p xmlns:a="http://schemas.openxmlformats.org/drawingml/2006/main">
            <a:r>
              <a:t/>
            </a:r>
          </a:p>
          <a:p xmlns:a="http://schemas.openxmlformats.org/drawingml/2006/main">
            <a:r>
              <a:t>LEITURA</a:t>
            </a:r>
          </a:p>
          <a:p xmlns:a="http://schemas.openxmlformats.org/drawingml/2006/main">
            <a:r>
              <a:t>Explique quatro limites em linguagem simples: mesma história explorada, exposição menor, concentração por país e dados sem todas as versões históricas. A atribuição de BRL e JPY representa cerca de 86% da contribuição por moeda antes de custos de negociação. Na sensibilidade sem BRL, o excesso da combinação cai de 3,17% para aproximadamente 0,65% ao ano. O teste corrigido para a grade principal não estabelece ganho de retorno médio sobre carry.</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Evite ‘não houve nenhum vazamento’ como certificação absoluta. Diga quais controles existem e quais limitações permanecem.</a:t>
            </a:r>
          </a:p>
          <a:p xmlns:a="http://schemas.openxmlformats.org/drawingml/2006/main">
            <a:r>
              <a:t/>
            </a:r>
          </a:p>
          <a:p xmlns:a="http://schemas.openxmlformats.org/drawingml/2006/main">
            <a:r>
              <a:t>PERGUNTA</a:t>
            </a:r>
          </a:p>
          <a:p xmlns:a="http://schemas.openxmlformats.org/drawingml/2006/main">
            <a:r>
              <a:t>Então o trabalho não tem valor? Tem. Reproduz a relação da aula, mostra onde extensões preditivas falham e documenta uma hipótese de controle de risco com resultados e limites transparentes.</a:t>
            </a:r>
          </a:p>
          <a:p xmlns:a="http://schemas.openxmlformats.org/drawingml/2006/main">
            <a:r>
              <a:t/>
            </a:r>
          </a:p>
          <a:p xmlns:a="http://schemas.openxmlformats.org/drawingml/2006/main">
            <a:r>
              <a:t>TRANSIÇÃO</a:t>
            </a:r>
          </a:p>
          <a:p xmlns:a="http://schemas.openxmlformats.org/drawingml/2006/main">
            <a:r>
              <a:t>Com esses limites, a conclusão fica mais simples e mais defensável.</a:t>
            </a:r>
          </a:p>
          <a:p xmlns:a="http://schemas.openxmlformats.org/drawingml/2006/main">
            <a:r>
              <a:t/>
            </a:r>
          </a:p>
          <a:p xmlns:a="http://schemas.openxmlformats.org/drawingml/2006/main">
            <a:r>
              <a:t>FONTES</a:t>
            </a:r>
          </a:p>
          <a:p xmlns:a="http://schemas.openxmlformats.org/drawingml/2006/main">
            <a:r>
              <a:t>synthesis/tables/search_adjustment.csv</a:t>
            </a:r>
          </a:p>
          <a:p xmlns:a="http://schemas.openxmlformats.org/drawingml/2006/main">
            <a:r>
              <a:t>synthesis/tables/robustness.csv</a:t>
            </a:r>
          </a:p>
          <a:p xmlns:a="http://schemas.openxmlformats.org/drawingml/2006/main">
            <a:r>
              <a:t>synthesis/PROTOCOL.md</a:t>
            </a:r>
          </a:p>
          <a:p xmlns:a="http://schemas.openxmlformats.org/drawingml/2006/main">
            <a:r>
              <a:t>AUDITORIA.md</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35 segundos.</a:t>
            </a:r>
          </a:p>
          <a:p xmlns:a="http://schemas.openxmlformats.org/drawingml/2006/main">
            <a:r>
              <a:t>Ideia central: A relação econômica se replica, a extensão preditiva é instável e o uso mais promissor apareceu no controle da exposição ao carry.</a:t>
            </a:r>
          </a:p>
          <a:p xmlns:a="http://schemas.openxmlformats.org/drawingml/2006/main">
            <a:r>
              <a:t/>
            </a:r>
          </a:p>
          <a:p xmlns:a="http://schemas.openxmlformats.org/drawingml/2006/main">
            <a:r>
              <a:t>FALA</a:t>
            </a:r>
          </a:p>
          <a:p xmlns:a="http://schemas.openxmlformats.org/drawingml/2006/main">
            <a:r>
              <a:t>O trabalho deixa três aprendizados. A relação histórica da aula aparece na replicação. Commodities acrescentam informação em alguns testes, mas a capacidade preditiva depende da amostra. E a primeira tentativa de carteira falhou, enquanto o uso da informação para controlar a exposição produziu resultados históricos de risco mais favoráveis. A hipótese que merece continuidade é essa utilidade para a gestão da posição. Para transformá-la em uma conclusão de mercado, seria necessário validar regras congeladas em dados futuros.</a:t>
            </a:r>
          </a:p>
          <a:p xmlns:a="http://schemas.openxmlformats.org/drawingml/2006/main">
            <a:r>
              <a:t/>
            </a:r>
          </a:p>
          <a:p xmlns:a="http://schemas.openxmlformats.org/drawingml/2006/main">
            <a:r>
              <a:t>CONCEITOS</a:t>
            </a:r>
          </a:p>
          <a:p xmlns:a="http://schemas.openxmlformats.org/drawingml/2006/main">
            <a:r>
              <a:t>A conclusão deve separar o que foi reproduzido do que ficou como hipótese. Primeiro, a relação histórica brasileira apresentada na aula foi recuperada. Segundo, acrescentar commodities melhora uma comparação nominal, mas não de forma estável, e prever a mudança real continua difícil. Terceiro, somar a previsão ao ranking falhou, enquanto regras de exposição apresentaram risco histórico menor. Nenhuma dessas etapas prova arbitragem, ganho causal de uma variável ou alfa persistente.</a:t>
            </a:r>
          </a:p>
          <a:p xmlns:a="http://schemas.openxmlformats.org/drawingml/2006/main">
            <a:r>
              <a:t/>
            </a:r>
          </a:p>
          <a:p xmlns:a="http://schemas.openxmlformats.org/drawingml/2006/main">
            <a:r>
              <a:t>LEITURA</a:t>
            </a:r>
          </a:p>
          <a:p xmlns:a="http://schemas.openxmlformats.org/drawingml/2006/main">
            <a:r>
              <a:t>Este é o fechamento. Não abra novos resultados e não leia uma lista de números. Reforce uma frase final: informação macroeconômica pode ser útil para decidir a exposição, mas o valor econômico precisa ser testado separadamente da qualidade da regressão.</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Encerre no slide 17. Os slides 18 e 19 são apoio para perguntas e ficam fora dos 19 minutos.</a:t>
            </a:r>
          </a:p>
          <a:p xmlns:a="http://schemas.openxmlformats.org/drawingml/2006/main">
            <a:r>
              <a:t/>
            </a:r>
          </a:p>
          <a:p xmlns:a="http://schemas.openxmlformats.org/drawingml/2006/main">
            <a:r>
              <a:t>PERGUNTA</a:t>
            </a:r>
          </a:p>
          <a:p xmlns:a="http://schemas.openxmlformats.org/drawingml/2006/main">
            <a:r>
              <a:t>Qual é a contribuição em uma frase? Separar uma regularidade cambial replicável de seu valor preditivo e mostrar que o controle de exposição é uma hipótese econômica mais promissora que o ranking direto nesta amostra.</a:t>
            </a:r>
          </a:p>
          <a:p xmlns:a="http://schemas.openxmlformats.org/drawingml/2006/main">
            <a:r>
              <a:t/>
            </a:r>
          </a:p>
          <a:p xmlns:a="http://schemas.openxmlformats.org/drawingml/2006/main">
            <a:r>
              <a:t>TRANSIÇÃO</a:t>
            </a:r>
          </a:p>
          <a:p xmlns:a="http://schemas.openxmlformats.org/drawingml/2006/main">
            <a:r>
              <a:t>Obrigado. Posso detalhar a metodologia ou os resultados nas perguntas.</a:t>
            </a:r>
          </a:p>
          <a:p xmlns:a="http://schemas.openxmlformats.org/drawingml/2006/main">
            <a:r>
              <a:t/>
            </a:r>
          </a:p>
          <a:p xmlns:a="http://schemas.openxmlformats.org/drawingml/2006/main">
            <a:r>
              <a:t>FONTES</a:t>
            </a:r>
          </a:p>
          <a:p xmlns:a="http://schemas.openxmlformats.org/drawingml/2006/main">
            <a:r>
              <a:t>Relatórios original, terciário, termos de troca e síntese</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0 segundos.</a:t>
            </a:r>
          </a:p>
          <a:p xmlns:a="http://schemas.openxmlformats.org/drawingml/2006/main">
            <a:r>
              <a:t>Ideia central: A regressão nominal usa o desvio real e, na extensão, informações de preços comerciais disponíveis na origem.</a:t>
            </a:r>
          </a:p>
          <a:p xmlns:a="http://schemas.openxmlformats.org/drawingml/2006/main">
            <a:r>
              <a:t/>
            </a:r>
          </a:p>
          <a:p xmlns:a="http://schemas.openxmlformats.org/drawingml/2006/main">
            <a:r>
              <a:t>FALA</a:t>
            </a:r>
          </a:p>
          <a:p xmlns:a="http://schemas.openxmlformats.org/drawingml/2006/main">
            <a:r>
              <a:t>Esta é a forma simplificada das regressões. A variável prevista é a mudança futura do log da cotação. A base usa o desvio do câmbio real. A extensão mantém esse regressor e adiciona informação global e específica de commodities. O cuidado temporal principal é que um alvo só entra no treinamento depois de terminar. Não treino uma previsão de cinco anos com resultados que ainda não poderiam ser conhecidos.</a:t>
            </a:r>
          </a:p>
          <a:p xmlns:a="http://schemas.openxmlformats.org/drawingml/2006/main">
            <a:r>
              <a:t/>
            </a:r>
          </a:p>
          <a:p xmlns:a="http://schemas.openxmlformats.org/drawingml/2006/main">
            <a:r>
              <a:t>CONCEITOS</a:t>
            </a:r>
          </a:p>
          <a:p xmlns:a="http://schemas.openxmlformats.org/drawingml/2006/main">
            <a:r>
              <a:t>No EJR implementado, Δs(t,t+h) = β_h × [q_t − média histórica de q] + erro, com coeficiente agrupado e sem intercepto adicional. A média é calculada com dados disponíveis na origem. A extensão adiciona níveis centrados do componente global de preços reais de commodities e da exposição específica do país. Cada regressão em t só usa alvos j+h que terminaram até t−1. A observação atual do CPI entra com dois meses de atraso. Pesos fixos comerciais do exercício nominal usam 1994–1996. A previsão mensal usada no sinal de carry é a previsão de Δs em 60 meses dividida por 60, uma aproximação de ritmo médio, não uma trajetória estimada.</a:t>
            </a:r>
          </a:p>
          <a:p xmlns:a="http://schemas.openxmlformats.org/drawingml/2006/main">
            <a:r>
              <a:t/>
            </a:r>
          </a:p>
          <a:p xmlns:a="http://schemas.openxmlformats.org/drawingml/2006/main">
            <a:r>
              <a:t>LEITURA</a:t>
            </a:r>
          </a:p>
          <a:p xmlns:a="http://schemas.openxmlformats.org/drawingml/2006/main">
            <a:r>
              <a:t>Use somente se houver pergunta técnica. Explique cada letra antes de interpretar o coeficiente. Na extensão, β, γ e δ são estimados em conjunto, sem impor que o coeficiente EJR original permaneça fixo.</a:t>
            </a:r>
          </a:p>
          <a:p xmlns:a="http://schemas.openxmlformats.org/drawingml/2006/main">
            <a:r>
              <a:t/>
            </a:r>
          </a:p>
          <a:p xmlns:a="http://schemas.openxmlformats.org/drawingml/2006/main">
            <a:r>
              <a:t>TREINO E AVALIAÇÃO</a:t>
            </a:r>
          </a:p>
          <a:p xmlns:a="http://schemas.openxmlformats.org/drawingml/2006/main">
            <a:r>
              <a:t>Janela de treinamento começa em out/1999 no EJR nominal. Para horizonte h, uma origem j só entra se j+h ≤ t−1. Mínimo 60 origens maduras por moeda. CPI e preços defasados. As janelas de avaliação variam por horizonte.</a:t>
            </a:r>
          </a:p>
          <a:p xmlns:a="http://schemas.openxmlformats.org/drawingml/2006/main">
            <a:r>
              <a:t/>
            </a:r>
          </a:p>
          <a:p xmlns:a="http://schemas.openxmlformats.org/drawingml/2006/main">
            <a:r>
              <a:t>CUIDADO</a:t>
            </a:r>
          </a:p>
          <a:p xmlns:a="http://schemas.openxmlformats.org/drawingml/2006/main">
            <a:r>
              <a:t>A equação simplificada do slide omite índices de país para legibilidade. O exercício de dispersão da aula tem ajuste dentro da amostra e intercepto, diferentemente da previsão agrupada.</a:t>
            </a:r>
          </a:p>
          <a:p xmlns:a="http://schemas.openxmlformats.org/drawingml/2006/main">
            <a:r>
              <a:t/>
            </a:r>
          </a:p>
          <a:p xmlns:a="http://schemas.openxmlformats.org/drawingml/2006/main">
            <a:r>
              <a:t>PERGUNTA</a:t>
            </a:r>
          </a:p>
          <a:p xmlns:a="http://schemas.openxmlformats.org/drawingml/2006/main">
            <a:r>
              <a:t>Há identificação causal? Não. Há uma avaliação preditiva condicional. Não usamos uma fonte exógena de variação para identificar um efeito causal de commodities.</a:t>
            </a:r>
          </a:p>
          <a:p xmlns:a="http://schemas.openxmlformats.org/drawingml/2006/main">
            <a:r>
              <a:t/>
            </a:r>
          </a:p>
          <a:p xmlns:a="http://schemas.openxmlformats.org/drawingml/2006/main">
            <a:r>
              <a:t>TRANSIÇÃO</a:t>
            </a:r>
          </a:p>
          <a:p xmlns:a="http://schemas.openxmlformats.org/drawingml/2006/main">
            <a:r>
              <a:t>O segundo apoio detalha a comparação econômica e o calendário de negociação.</a:t>
            </a:r>
          </a:p>
          <a:p xmlns:a="http://schemas.openxmlformats.org/drawingml/2006/main">
            <a:r>
              <a:t/>
            </a:r>
          </a:p>
          <a:p xmlns:a="http://schemas.openxmlformats.org/drawingml/2006/main">
            <a:r>
              <a:t>FONTES</a:t>
            </a:r>
          </a:p>
          <a:p xmlns:a="http://schemas.openxmlformats.org/drawingml/2006/main">
            <a:r>
              <a:t>src/models.py</a:t>
            </a:r>
          </a:p>
          <a:p xmlns:a="http://schemas.openxmlformats.org/drawingml/2006/main">
            <a:r>
              <a:t>third/engine.py</a:t>
            </a:r>
          </a:p>
          <a:p xmlns:a="http://schemas.openxmlformats.org/drawingml/2006/main">
            <a:r>
              <a:t>synthesis/model.py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0 segundos.</a:t>
            </a:r>
          </a:p>
          <a:p xmlns:a="http://schemas.openxmlformats.org/drawingml/2006/main">
            <a:r>
              <a:t>Ideia central: Comparações econômicas precisam manter datas, numerário e custos consistentes, além de distinguir controle retrospectivo de estratégia executável.</a:t>
            </a:r>
          </a:p>
          <a:p xmlns:a="http://schemas.openxmlformats.org/drawingml/2006/main">
            <a:r>
              <a:t/>
            </a:r>
          </a:p>
          <a:p xmlns:a="http://schemas.openxmlformats.org/drawingml/2006/main">
            <a:r>
              <a:t>FALA</a:t>
            </a:r>
          </a:p>
          <a:p xmlns:a="http://schemas.openxmlformats.org/drawingml/2006/main">
            <a:r>
              <a:t>O controle com o mesmo tamanho médio ajuda a separar exposição e seleção. Ele tem volatilidade até um pouco menor que a combinação, mas retorno menor e drawdown maior na história. Como usa a exposição média conhecida ao final, eu o trato como diagnóstico. Os retornos da simulação incluem juros, variação cambial e os custos definidos, sempre em dólar. Para execução real ainda faltariam cotações negociáveis, vintages históricas e outras fricções específicas do investidor.</a:t>
            </a:r>
          </a:p>
          <a:p xmlns:a="http://schemas.openxmlformats.org/drawingml/2006/main">
            <a:r>
              <a:t/>
            </a:r>
          </a:p>
          <a:p xmlns:a="http://schemas.openxmlformats.org/drawingml/2006/main">
            <a:r>
              <a:t>CONCEITOS</a:t>
            </a:r>
          </a:p>
          <a:p xmlns:a="http://schemas.openxmlformats.org/drawingml/2006/main">
            <a:r>
              <a:t>No controle retrospectivo, o carry é escalado pela exposição média realizada da combinação, conhecida ao final. Serve para investigar quanto da melhora decorre de menor tamanho, não como regra que poderia ser escolhida antecipadamente. O controle estimado apenas com história passada tem outra exposição média e não iguala ex post o risco. O backtest calcula o ativo local em dólar como (1+i_local) × S_anterior/S_atual − 1. Soma o caixa USD e o resultado das posições, descontando financiamento adicional e negociação. Custos por notional: 10 pontos-base para BRL, 3 para SEK e 2 para as demais moedas, além de 50 pontos-base anuais de spread na ponta vendida. Um ponto-base é 0,01 ponto percentual.</a:t>
            </a:r>
          </a:p>
          <a:p xmlns:a="http://schemas.openxmlformats.org/drawingml/2006/main">
            <a:r>
              <a:t/>
            </a:r>
          </a:p>
          <a:p xmlns:a="http://schemas.openxmlformats.org/drawingml/2006/main">
            <a:r>
              <a:t>LEITURA</a:t>
            </a:r>
          </a:p>
          <a:p xmlns:a="http://schemas.openxmlformats.org/drawingml/2006/main">
            <a:r>
              <a:t>A tabela compara, em 2018–2026, carry a 100%, carry reduzido retrospectivamente a 48% e combinação. O calendário é sinal no fechamento de t, execução no fechamento de t+1 e primeiro retorno em t+2. As taxas curtas são proxies, não contratos a termo efetivamente negociados.</a:t>
            </a:r>
          </a:p>
          <a:p xmlns:a="http://schemas.openxmlformats.org/drawingml/2006/main">
            <a:r>
              <a:t/>
            </a:r>
          </a:p>
          <a:p xmlns:a="http://schemas.openxmlformats.org/drawingml/2006/main">
            <a:r>
              <a:t>TREINO E AVALIAÇÃO</a:t>
            </a:r>
          </a:p>
          <a:p xmlns:a="http://schemas.openxmlformats.org/drawingml/2006/main">
            <a:r>
              <a:t>Treino mensal expansivo da combinação, com primeiro sinal em fev/2018. Backtest comum: abr/2018–ago/2026. A exposição média do controle retrospectivo só é conhecida ao final.</a:t>
            </a:r>
          </a:p>
          <a:p xmlns:a="http://schemas.openxmlformats.org/drawingml/2006/main">
            <a:r>
              <a:t/>
            </a:r>
          </a:p>
          <a:p xmlns:a="http://schemas.openxmlformats.org/drawingml/2006/main">
            <a:r>
              <a:t>CUIDADO</a:t>
            </a:r>
          </a:p>
          <a:p xmlns:a="http://schemas.openxmlformats.org/drawingml/2006/main">
            <a:r>
              <a:t>Drawdown é uma estatística da trajetória observada, não um limite de perda futura. Custos assumidos não são custos garantidos para qualquer investidor.</a:t>
            </a:r>
          </a:p>
          <a:p xmlns:a="http://schemas.openxmlformats.org/drawingml/2006/main">
            <a:r>
              <a:t/>
            </a:r>
          </a:p>
          <a:p xmlns:a="http://schemas.openxmlformats.org/drawingml/2006/main">
            <a:r>
              <a:t>PERGUNTA</a:t>
            </a:r>
          </a:p>
          <a:p xmlns:a="http://schemas.openxmlformats.org/drawingml/2006/main">
            <a:r>
              <a:t>Por que não é arbitragem? Porque há risco de perda, incerteza de convergência e custos de financiamento. Nenhum resultado positivo é garantido.</a:t>
            </a:r>
          </a:p>
          <a:p xmlns:a="http://schemas.openxmlformats.org/drawingml/2006/main">
            <a:r>
              <a:t/>
            </a:r>
          </a:p>
          <a:p xmlns:a="http://schemas.openxmlformats.org/drawingml/2006/main">
            <a:r>
              <a:t>TRANSIÇÃO</a:t>
            </a:r>
          </a:p>
          <a:p xmlns:a="http://schemas.openxmlformats.org/drawingml/2006/main">
            <a:r>
              <a:t>Esses detalhes sustentam a leitura cautelosa dos resultados principais.</a:t>
            </a:r>
          </a:p>
          <a:p xmlns:a="http://schemas.openxmlformats.org/drawingml/2006/main">
            <a:r>
              <a:t/>
            </a:r>
          </a:p>
          <a:p xmlns:a="http://schemas.openxmlformats.org/drawingml/2006/main">
            <a:r>
              <a:t>FONTES</a:t>
            </a:r>
          </a:p>
          <a:p xmlns:a="http://schemas.openxmlformats.org/drawingml/2006/main">
            <a:r>
              <a:t>synthesis/tables/exposure_controls.csv</a:t>
            </a:r>
          </a:p>
          <a:p xmlns:a="http://schemas.openxmlformats.org/drawingml/2006/main">
            <a:r>
              <a:t>src/models.py: run_book</a:t>
            </a:r>
          </a:p>
          <a:p xmlns:a="http://schemas.openxmlformats.org/drawingml/2006/main">
            <a:r>
              <a:t>synthesis/model.py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718e85c9ae4a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56823a6c68435e" /><Relationship Type="http://schemas.openxmlformats.org/officeDocument/2006/relationships/slideLayout" Target="/ppt/slideLayouts/slideLayout1.xml" Id="R3eea07d4003a47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ea07d4003a47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fc351951504fd7" /><Relationship Type="http://schemas.openxmlformats.org/officeDocument/2006/relationships/notesSlide" Target="/ppt/notesSlides/notesSlide1.xml" Id="R7a1a155c2e4f43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122b6ab4de74f7b" /><Relationship Type="http://schemas.openxmlformats.org/officeDocument/2006/relationships/notesSlide" Target="/ppt/notesSlides/notesSlide2.xml" Id="R1321a07504c249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156dcedd48b43cd" /><Relationship Type="http://schemas.openxmlformats.org/officeDocument/2006/relationships/chart" Target="/ppt/slides/charts/chart1.xml" Id="R5f4fd93d536b482c" /><Relationship Type="http://schemas.openxmlformats.org/officeDocument/2006/relationships/notesSlide" Target="/ppt/notesSlides/notesSlide3.xml" Id="R93449b396cf24e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b42330cd7aa4d82" /><Relationship Type="http://schemas.openxmlformats.org/officeDocument/2006/relationships/notesSlide" Target="/ppt/notesSlides/notesSlide4.xml" Id="Rfc8cad959ae147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829c3f3ae304ca8" /><Relationship Type="http://schemas.openxmlformats.org/officeDocument/2006/relationships/notesSlide" Target="/ppt/notesSlides/notesSlide5.xml" Id="R771996482f7c4e3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4e12b9c6be74b38" /><Relationship Type="http://schemas.openxmlformats.org/officeDocument/2006/relationships/notesSlide" Target="/ppt/notesSlides/notesSlide6.xml" Id="R79fef313019846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609d7d6162845a1" /><Relationship Type="http://schemas.openxmlformats.org/officeDocument/2006/relationships/chart" Target="/ppt/slides/charts/chart2.xml" Id="R8f834b4c89204bee" /><Relationship Type="http://schemas.openxmlformats.org/officeDocument/2006/relationships/notesSlide" Target="/ppt/notesSlides/notesSlide7.xml" Id="R0a18c7322d1f4b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2bf0a86d15c49ef" /><Relationship Type="http://schemas.openxmlformats.org/officeDocument/2006/relationships/notesSlide" Target="/ppt/notesSlides/notesSlide8.xml" Id="R733adeb469f44e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6b47efe148b4d05" /><Relationship Type="http://schemas.openxmlformats.org/officeDocument/2006/relationships/notesSlide" Target="/ppt/notesSlides/notesSlide9.xml" Id="Rc38b275585ce49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88f2a1a41644ec6" /><Relationship Type="http://schemas.openxmlformats.org/officeDocument/2006/relationships/notesSlide" Target="/ppt/notesSlides/notesSlide10.xml" Id="R6c72891692314f1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28f3092f3654753" /><Relationship Type="http://schemas.openxmlformats.org/officeDocument/2006/relationships/notesSlide" Target="/ppt/notesSlides/notesSlide11.xml" Id="R6193fc859cd4499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1f9b8c723cd4a50" /><Relationship Type="http://schemas.openxmlformats.org/officeDocument/2006/relationships/notesSlide" Target="/ppt/notesSlides/notesSlide12.xml" Id="R20c8c503c901401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b37cde8e63940b0" /><Relationship Type="http://schemas.openxmlformats.org/officeDocument/2006/relationships/notesSlide" Target="/ppt/notesSlides/notesSlide13.xml" Id="Rf5a5778d5ab3433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b8d036e6e6e488d" /><Relationship Type="http://schemas.openxmlformats.org/officeDocument/2006/relationships/chart" Target="/ppt/slides/charts/chart3.xml" Id="Rbcf87efb1c9f4346" /><Relationship Type="http://schemas.openxmlformats.org/officeDocument/2006/relationships/chart" Target="/ppt/slides/charts/chart4.xml" Id="R4e68885bac3a47f7" /><Relationship Type="http://schemas.openxmlformats.org/officeDocument/2006/relationships/notesSlide" Target="/ppt/notesSlides/notesSlide14.xml" Id="R2fb620ecc2d34e8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cfa9f8f46914c1d" /><Relationship Type="http://schemas.openxmlformats.org/officeDocument/2006/relationships/chart" Target="/ppt/slides/charts/chart5.xml" Id="R4d541ed0b99c43b4" /><Relationship Type="http://schemas.openxmlformats.org/officeDocument/2006/relationships/notesSlide" Target="/ppt/notesSlides/notesSlide15.xml" Id="Re94c5c9b91174b5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499d538c2f24497" /><Relationship Type="http://schemas.openxmlformats.org/officeDocument/2006/relationships/notesSlide" Target="/ppt/notesSlides/notesSlide16.xml" Id="Rff2d6de03693447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9496f89522f48b2" /><Relationship Type="http://schemas.openxmlformats.org/officeDocument/2006/relationships/notesSlide" Target="/ppt/notesSlides/notesSlide17.xml" Id="R63661a46361d4a8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a1a608535fd4960" /><Relationship Type="http://schemas.openxmlformats.org/officeDocument/2006/relationships/notesSlide" Target="/ppt/notesSlides/notesSlide18.xml" Id="Rc73e265c9cbe4e3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da37198f79d40b8" /><Relationship Type="http://schemas.openxmlformats.org/officeDocument/2006/relationships/notesSlide" Target="/ppt/notesSlides/notesSlide19.xml" Id="R63107d37f3d548f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Origens mensais</c:v>
          </c:tx>
          <c:spPr>
            <a:solidFill xmlns:a="http://schemas.openxmlformats.org/drawingml/2006/main">
              <a:srgbClr val="007F7B"/>
            </a:solidFill>
            <a:ln xmlns:a="http://schemas.openxmlformats.org/drawingml/2006/main" w="0">
              <a:noFill/>
            </a:ln>
          </c:spPr>
          <c:marker>
            <c:symbol val="circle"/>
            <c:size val="4"/>
            <c:spPr>
              <a:noFill xmlns:a="http://schemas.openxmlformats.org/drawingml/2006/main"/>
            </c:spPr>
          </c:marker>
          <c:xVal>
            <c:numRef>
              <c:f>'Chart Data'!$A$2:$A$281</c:f>
              <c:numCache>
                <c:formatCode>General</c:formatCode>
                <c:ptCount val="280"/>
                <c:pt idx="0">
                  <c:v>-0.359307655444</c:v>
                </c:pt>
                <c:pt idx="1">
                  <c:v>-0.374266636785</c:v>
                </c:pt>
                <c:pt idx="2">
                  <c:v>-0.331468382338</c:v>
                </c:pt>
                <c:pt idx="3">
                  <c:v>-0.33137094552</c:v>
                </c:pt>
                <c:pt idx="4">
                  <c:v>-0.366938259136</c:v>
                </c:pt>
                <c:pt idx="5">
                  <c:v>-0.3689873409</c:v>
                </c:pt>
                <c:pt idx="6">
                  <c:v>-0.374938831676</c:v>
                </c:pt>
                <c:pt idx="7">
                  <c:v>-0.36871430945</c:v>
                </c:pt>
                <c:pt idx="8">
                  <c:v>-0.365858692307</c:v>
                </c:pt>
                <c:pt idx="9">
                  <c:v>-0.370035229996</c:v>
                </c:pt>
                <c:pt idx="10">
                  <c:v>-0.379478190209</c:v>
                </c:pt>
                <c:pt idx="11">
                  <c:v>-0.388584108336</c:v>
                </c:pt>
                <c:pt idx="12">
                  <c:v>-0.390327843331</c:v>
                </c:pt>
                <c:pt idx="13">
                  <c:v>-0.391887928221</c:v>
                </c:pt>
                <c:pt idx="14">
                  <c:v>-0.387077824606</c:v>
                </c:pt>
                <c:pt idx="15">
                  <c:v>-0.391598835669</c:v>
                </c:pt>
                <c:pt idx="16">
                  <c:v>-0.396667758552</c:v>
                </c:pt>
                <c:pt idx="17">
                  <c:v>-0.400570953593</c:v>
                </c:pt>
                <c:pt idx="18">
                  <c:v>-0.404119996514</c:v>
                </c:pt>
                <c:pt idx="19">
                  <c:v>-0.400802560049</c:v>
                </c:pt>
                <c:pt idx="20">
                  <c:v>-0.393320719066</c:v>
                </c:pt>
                <c:pt idx="21">
                  <c:v>-0.387476615066</c:v>
                </c:pt>
                <c:pt idx="22">
                  <c:v>-0.382359026203</c:v>
                </c:pt>
                <c:pt idx="23">
                  <c:v>-0.37785660079</c:v>
                </c:pt>
                <c:pt idx="24">
                  <c:v>-0.382319581964</c:v>
                </c:pt>
                <c:pt idx="25">
                  <c:v>-0.379308853574</c:v>
                </c:pt>
                <c:pt idx="26">
                  <c:v>-0.376742345228</c:v>
                </c:pt>
                <c:pt idx="27">
                  <c:v>-0.38091150437</c:v>
                </c:pt>
                <c:pt idx="28">
                  <c:v>-0.378052126787</c:v>
                </c:pt>
                <c:pt idx="29">
                  <c:v>-0.375683284926</c:v>
                </c:pt>
                <c:pt idx="30">
                  <c:v>-0.370972727657</c:v>
                </c:pt>
                <c:pt idx="31">
                  <c:v>-0.361641793224</c:v>
                </c:pt>
                <c:pt idx="32">
                  <c:v>-0.354531365986</c:v>
                </c:pt>
                <c:pt idx="33">
                  <c:v>-0.349043334108</c:v>
                </c:pt>
                <c:pt idx="34">
                  <c:v>-0.342980731865</c:v>
                </c:pt>
                <c:pt idx="35">
                  <c:v>-0.340979884365</c:v>
                </c:pt>
                <c:pt idx="36">
                  <c:v>-0.34117808242</c:v>
                </c:pt>
                <c:pt idx="37">
                  <c:v>-0.339358968095</c:v>
                </c:pt>
                <c:pt idx="38">
                  <c:v>-0.336914543387</c:v>
                </c:pt>
                <c:pt idx="39">
                  <c:v>-0.331484141222</c:v>
                </c:pt>
                <c:pt idx="40">
                  <c:v>-0.32798056554</c:v>
                </c:pt>
                <c:pt idx="41">
                  <c:v>-0.321305727561</c:v>
                </c:pt>
                <c:pt idx="42">
                  <c:v>-0.31169270844</c:v>
                </c:pt>
                <c:pt idx="43">
                  <c:v>-0.296611506693</c:v>
                </c:pt>
                <c:pt idx="44">
                  <c:v>-0.285976101293</c:v>
                </c:pt>
                <c:pt idx="45">
                  <c:v>-0.277401580902</c:v>
                </c:pt>
                <c:pt idx="46">
                  <c:v>-0.270531485467</c:v>
                </c:pt>
                <c:pt idx="47">
                  <c:v>-0.262245832943</c:v>
                </c:pt>
                <c:pt idx="48">
                  <c:v>-0.0474787809548</c:v>
                </c:pt>
                <c:pt idx="49">
                  <c:v>0.184383528888</c:v>
                </c:pt>
                <c:pt idx="50">
                  <c:v>0.165180283977</c:v>
                </c:pt>
                <c:pt idx="51">
                  <c:v>0.0532318559996</c:v>
                </c:pt>
                <c:pt idx="52">
                  <c:v>0.0445622714341</c:v>
                </c:pt>
                <c:pt idx="53">
                  <c:v>0.0901664081361</c:v>
                </c:pt>
                <c:pt idx="54">
                  <c:v>0.103109410436</c:v>
                </c:pt>
                <c:pt idx="55">
                  <c:v>0.143612408271</c:v>
                </c:pt>
                <c:pt idx="56">
                  <c:v>0.153906899668</c:v>
                </c:pt>
                <c:pt idx="57">
                  <c:v>0.180789711886</c:v>
                </c:pt>
                <c:pt idx="58">
                  <c:v>0.152806099183</c:v>
                </c:pt>
                <c:pt idx="59">
                  <c:v>0.103014473836</c:v>
                </c:pt>
                <c:pt idx="60">
                  <c:v>0.0783452783526</c:v>
                </c:pt>
                <c:pt idx="61">
                  <c:v>0.0653015825687</c:v>
                </c:pt>
                <c:pt idx="62">
                  <c:v>0.0500335741773</c:v>
                </c:pt>
                <c:pt idx="63">
                  <c:v>0.060185604737</c:v>
                </c:pt>
                <c:pt idx="64">
                  <c:v>0.0950451702736</c:v>
                </c:pt>
                <c:pt idx="65">
                  <c:v>0.0877913499793</c:v>
                </c:pt>
                <c:pt idx="66">
                  <c:v>0.068895491377</c:v>
                </c:pt>
                <c:pt idx="67">
                  <c:v>0.0622016177639</c:v>
                </c:pt>
                <c:pt idx="68">
                  <c:v>0.0815480116341</c:v>
                </c:pt>
                <c:pt idx="69">
                  <c:v>0.103603903634</c:v>
                </c:pt>
                <c:pt idx="70">
                  <c:v>0.13787687277</c:v>
                </c:pt>
                <c:pt idx="71">
                  <c:v>0.142111314301</c:v>
                </c:pt>
                <c:pt idx="72">
                  <c:v>0.137646210956</c:v>
                </c:pt>
                <c:pt idx="73">
                  <c:v>0.159294395804</c:v>
                </c:pt>
                <c:pt idx="74">
                  <c:v>0.198658371008</c:v>
                </c:pt>
                <c:pt idx="75">
                  <c:v>0.242934217013</c:v>
                </c:pt>
                <c:pt idx="76">
                  <c:v>0.290580213361</c:v>
                </c:pt>
                <c:pt idx="77">
                  <c:v>0.321290441619</c:v>
                </c:pt>
                <c:pt idx="78">
                  <c:v>0.343651626731</c:v>
                </c:pt>
                <c:pt idx="79">
                  <c:v>0.354600376654</c:v>
                </c:pt>
                <c:pt idx="80">
                  <c:v>0.417935615293</c:v>
                </c:pt>
                <c:pt idx="81">
                  <c:v>0.432174447653</c:v>
                </c:pt>
                <c:pt idx="82">
                  <c:v>0.349889211202</c:v>
                </c:pt>
                <c:pt idx="83">
                  <c:v>0.269267929651</c:v>
                </c:pt>
                <c:pt idx="84">
                  <c:v>0.272183780601</c:v>
                </c:pt>
                <c:pt idx="85">
                  <c:v>0.287661552234</c:v>
                </c:pt>
                <c:pt idx="86">
                  <c:v>0.25384976624</c:v>
                </c:pt>
                <c:pt idx="87">
                  <c:v>0.239125488585</c:v>
                </c:pt>
                <c:pt idx="88">
                  <c:v>0.304822770704</c:v>
                </c:pt>
                <c:pt idx="89">
                  <c:v>0.391192237944</c:v>
                </c:pt>
                <c:pt idx="90">
                  <c:v>0.459734777591</c:v>
                </c:pt>
                <c:pt idx="91">
                  <c:v>0.5141134606</c:v>
                </c:pt>
                <c:pt idx="92">
                  <c:v>0.580514477196</c:v>
                </c:pt>
                <c:pt idx="93">
                  <c:v>0.699692549821</c:v>
                </c:pt>
                <c:pt idx="94">
                  <c:v>0.609398065421</c:v>
                </c:pt>
                <c:pt idx="95">
                  <c:v>0.604012879752</c:v>
                </c:pt>
                <c:pt idx="96">
                  <c:v>0.533056770787</c:v>
                </c:pt>
                <c:pt idx="97">
                  <c:v>0.566309022844</c:v>
                </c:pt>
                <c:pt idx="98">
                  <c:v>0.514816964124</c:v>
                </c:pt>
                <c:pt idx="99">
                  <c:v>0.401290999671</c:v>
                </c:pt>
                <c:pt idx="100">
                  <c:v>0.339889893625</c:v>
                </c:pt>
                <c:pt idx="101">
                  <c:v>0.317649195029</c:v>
                </c:pt>
                <c:pt idx="102">
                  <c:v>0.317742791767</c:v>
                </c:pt>
                <c:pt idx="103">
                  <c:v>0.360418457638</c:v>
                </c:pt>
                <c:pt idx="104">
                  <c:v>0.328992262436</c:v>
                </c:pt>
                <c:pt idx="105">
                  <c:v>0.303819280069</c:v>
                </c:pt>
                <c:pt idx="106">
                  <c:v>0.319077842057</c:v>
                </c:pt>
                <c:pt idx="107">
                  <c:v>0.320529340629</c:v>
                </c:pt>
                <c:pt idx="108">
                  <c:v>0.291814805031</c:v>
                </c:pt>
                <c:pt idx="109">
                  <c:v>0.315032540656</c:v>
                </c:pt>
                <c:pt idx="110">
                  <c:v>0.303984419569</c:v>
                </c:pt>
                <c:pt idx="111">
                  <c:v>0.30206545687</c:v>
                </c:pt>
                <c:pt idx="112">
                  <c:v>0.365991845446</c:v>
                </c:pt>
                <c:pt idx="113">
                  <c:v>0.371843766973</c:v>
                </c:pt>
                <c:pt idx="114">
                  <c:v>0.333902029807</c:v>
                </c:pt>
                <c:pt idx="115">
                  <c:v>0.316328565801</c:v>
                </c:pt>
                <c:pt idx="116">
                  <c:v>0.278258792539</c:v>
                </c:pt>
                <c:pt idx="117">
                  <c:v>0.265822285327</c:v>
                </c:pt>
                <c:pt idx="118">
                  <c:v>0.239922726989</c:v>
                </c:pt>
                <c:pt idx="119">
                  <c:v>0.20672251751</c:v>
                </c:pt>
                <c:pt idx="120">
                  <c:v>0.19110340553</c:v>
                </c:pt>
                <c:pt idx="121">
                  <c:v>0.153396534228</c:v>
                </c:pt>
                <c:pt idx="122">
                  <c:v>0.191272782542</c:v>
                </c:pt>
                <c:pt idx="123">
                  <c:v>0.138201063354</c:v>
                </c:pt>
                <c:pt idx="124">
                  <c:v>0.0825475895159</c:v>
                </c:pt>
                <c:pt idx="125">
                  <c:v>0.067111752072</c:v>
                </c:pt>
                <c:pt idx="126">
                  <c:v>0.0540785908648</c:v>
                </c:pt>
                <c:pt idx="127">
                  <c:v>0.0530683259216</c:v>
                </c:pt>
                <c:pt idx="128">
                  <c:v>0.0348045450978</c:v>
                </c:pt>
                <c:pt idx="129">
                  <c:v>0.0121840159686</c:v>
                </c:pt>
                <c:pt idx="130">
                  <c:v>-0.0187966709356</c:v>
                </c:pt>
                <c:pt idx="131">
                  <c:v>0.010840171367</c:v>
                </c:pt>
                <c:pt idx="132">
                  <c:v>0.00590838192101</c:v>
                </c:pt>
                <c:pt idx="133">
                  <c:v>-0.0481905599826</c:v>
                </c:pt>
                <c:pt idx="134">
                  <c:v>-0.0555677808844</c:v>
                </c:pt>
                <c:pt idx="135">
                  <c:v>-0.0632749186754</c:v>
                </c:pt>
                <c:pt idx="136">
                  <c:v>-0.0386296922362</c:v>
                </c:pt>
                <c:pt idx="137">
                  <c:v>-0.00232527092479</c:v>
                </c:pt>
                <c:pt idx="138">
                  <c:v>-0.0253798463493</c:v>
                </c:pt>
                <c:pt idx="139">
                  <c:v>-0.0368274356834</c:v>
                </c:pt>
                <c:pt idx="140">
                  <c:v>-0.0379244429267</c:v>
                </c:pt>
                <c:pt idx="141">
                  <c:v>-0.0551178342678</c:v>
                </c:pt>
                <c:pt idx="142">
                  <c:v>-0.0532591722322</c:v>
                </c:pt>
                <c:pt idx="143">
                  <c:v>-0.0563311149082</c:v>
                </c:pt>
                <c:pt idx="144">
                  <c:v>-0.0643802378984</c:v>
                </c:pt>
                <c:pt idx="145">
                  <c:v>-0.0848304997633</c:v>
                </c:pt>
                <c:pt idx="146">
                  <c:v>-0.0869690472163</c:v>
                </c:pt>
                <c:pt idx="147">
                  <c:v>-0.113991091096</c:v>
                </c:pt>
                <c:pt idx="148">
                  <c:v>-0.137778632264</c:v>
                </c:pt>
                <c:pt idx="149">
                  <c:v>-0.163661271963</c:v>
                </c:pt>
                <c:pt idx="150">
                  <c:v>-0.190023328168</c:v>
                </c:pt>
                <c:pt idx="151">
                  <c:v>-0.151163093274</c:v>
                </c:pt>
                <c:pt idx="152">
                  <c:v>-0.183090559002</c:v>
                </c:pt>
                <c:pt idx="153">
                  <c:v>-0.236308845079</c:v>
                </c:pt>
                <c:pt idx="154">
                  <c:v>-0.249692497615</c:v>
                </c:pt>
                <c:pt idx="155">
                  <c:v>-0.245115993901</c:v>
                </c:pt>
                <c:pt idx="156">
                  <c:v>-0.253632194317</c:v>
                </c:pt>
                <c:pt idx="157">
                  <c:v>-0.282720254501</c:v>
                </c:pt>
                <c:pt idx="158">
                  <c:v>-0.295639297637</c:v>
                </c:pt>
                <c:pt idx="159">
                  <c:v>-0.309823967362</c:v>
                </c:pt>
                <c:pt idx="160">
                  <c:v>-0.32875154128</c:v>
                </c:pt>
                <c:pt idx="161">
                  <c:v>-0.351072432382</c:v>
                </c:pt>
                <c:pt idx="162">
                  <c:v>-0.366375145721</c:v>
                </c:pt>
                <c:pt idx="163">
                  <c:v>-0.357613218605</c:v>
                </c:pt>
                <c:pt idx="164">
                  <c:v>-0.249452431156</c:v>
                </c:pt>
                <c:pt idx="165">
                  <c:v>-0.0740796899258</c:v>
                </c:pt>
                <c:pt idx="166">
                  <c:v>-0.0534514546933</c:v>
                </c:pt>
                <c:pt idx="167">
                  <c:v>-0.00953101521573</c:v>
                </c:pt>
                <c:pt idx="168">
                  <c:v>-0.0488032856606</c:v>
                </c:pt>
                <c:pt idx="169">
                  <c:v>-0.0483578500196</c:v>
                </c:pt>
                <c:pt idx="170">
                  <c:v>-0.050868101762</c:v>
                </c:pt>
                <c:pt idx="171">
                  <c:v>-0.102405648466</c:v>
                </c:pt>
                <c:pt idx="172">
                  <c:v>-0.173617033912</c:v>
                </c:pt>
                <c:pt idx="173">
                  <c:v>-0.220368757016</c:v>
                </c:pt>
                <c:pt idx="174">
                  <c:v>-0.235813395859</c:v>
                </c:pt>
                <c:pt idx="175">
                  <c:v>-0.280351468249</c:v>
                </c:pt>
                <c:pt idx="176">
                  <c:v>-0.294680635143</c:v>
                </c:pt>
                <c:pt idx="177">
                  <c:v>-0.340240742426</c:v>
                </c:pt>
                <c:pt idx="178">
                  <c:v>-0.348032052941</c:v>
                </c:pt>
                <c:pt idx="179">
                  <c:v>-0.337340442613</c:v>
                </c:pt>
                <c:pt idx="180">
                  <c:v>-0.32745013895</c:v>
                </c:pt>
                <c:pt idx="181">
                  <c:v>-0.302038345546</c:v>
                </c:pt>
                <c:pt idx="182">
                  <c:v>-0.337661823872</c:v>
                </c:pt>
                <c:pt idx="183">
                  <c:v>-0.359601997863</c:v>
                </c:pt>
                <c:pt idx="184">
                  <c:v>-0.332699568861</c:v>
                </c:pt>
                <c:pt idx="185">
                  <c:v>-0.336820420217</c:v>
                </c:pt>
                <c:pt idx="186">
                  <c:v>-0.355690645816</c:v>
                </c:pt>
                <c:pt idx="187">
                  <c:v>-0.360297290964</c:v>
                </c:pt>
                <c:pt idx="188">
                  <c:v>-0.386691569318</c:v>
                </c:pt>
                <c:pt idx="189">
                  <c:v>-0.411381016936</c:v>
                </c:pt>
                <c:pt idx="190">
                  <c:v>-0.399569748756</c:v>
                </c:pt>
                <c:pt idx="191">
                  <c:v>-0.413524448405</c:v>
                </c:pt>
                <c:pt idx="192">
                  <c:v>-0.429537278165</c:v>
                </c:pt>
                <c:pt idx="193">
                  <c:v>-0.438424286629</c:v>
                </c:pt>
                <c:pt idx="194">
                  <c:v>-0.446483050891</c:v>
                </c:pt>
                <c:pt idx="195">
                  <c:v>-0.49427842959</c:v>
                </c:pt>
                <c:pt idx="196">
                  <c:v>-0.478852320998</c:v>
                </c:pt>
                <c:pt idx="197">
                  <c:v>-0.496911488088</c:v>
                </c:pt>
                <c:pt idx="198">
                  <c:v>-0.510556339017</c:v>
                </c:pt>
                <c:pt idx="199">
                  <c:v>-0.490155845793</c:v>
                </c:pt>
                <c:pt idx="200">
                  <c:v>-0.401898030309</c:v>
                </c:pt>
                <c:pt idx="201">
                  <c:v>-0.392567932417</c:v>
                </c:pt>
                <c:pt idx="202">
                  <c:v>-0.38586079909</c:v>
                </c:pt>
                <c:pt idx="203">
                  <c:v>-0.365026202645</c:v>
                </c:pt>
                <c:pt idx="204">
                  <c:v>-0.393921448911</c:v>
                </c:pt>
                <c:pt idx="205">
                  <c:v>-0.436930571855</c:v>
                </c:pt>
                <c:pt idx="206">
                  <c:v>-0.393158574244</c:v>
                </c:pt>
                <c:pt idx="207">
                  <c:v>-0.365274035801</c:v>
                </c:pt>
                <c:pt idx="208">
                  <c:v>-0.302592200994</c:v>
                </c:pt>
                <c:pt idx="209">
                  <c:v>-0.272891678502</c:v>
                </c:pt>
                <c:pt idx="210">
                  <c:v>-0.286947970947</c:v>
                </c:pt>
                <c:pt idx="211">
                  <c:v>-0.284901882069</c:v>
                </c:pt>
                <c:pt idx="212">
                  <c:v>-0.286466567359</c:v>
                </c:pt>
                <c:pt idx="213">
                  <c:v>-0.288818193908</c:v>
                </c:pt>
                <c:pt idx="214">
                  <c:v>-0.277933047622</c:v>
                </c:pt>
                <c:pt idx="215">
                  <c:v>-0.281098693452</c:v>
                </c:pt>
                <c:pt idx="216">
                  <c:v>-0.310415217785</c:v>
                </c:pt>
                <c:pt idx="217">
                  <c:v>-0.339852301636</c:v>
                </c:pt>
                <c:pt idx="218">
                  <c:v>-0.342554452125</c:v>
                </c:pt>
                <c:pt idx="219">
                  <c:v>-0.340392955651</c:v>
                </c:pt>
                <c:pt idx="220">
                  <c:v>-0.327521099774</c:v>
                </c:pt>
                <c:pt idx="221">
                  <c:v>-0.262028978792</c:v>
                </c:pt>
                <c:pt idx="222">
                  <c:v>-0.224574579807</c:v>
                </c:pt>
                <c:pt idx="223">
                  <c:v>-0.18540411643</c:v>
                </c:pt>
                <c:pt idx="224">
                  <c:v>-0.219611719089</c:v>
                </c:pt>
                <c:pt idx="225">
                  <c:v>-0.261498449247</c:v>
                </c:pt>
                <c:pt idx="226">
                  <c:v>-0.217396080816</c:v>
                </c:pt>
                <c:pt idx="227">
                  <c:v>-0.202321860585</c:v>
                </c:pt>
                <c:pt idx="228">
                  <c:v>-0.18985971742</c:v>
                </c:pt>
                <c:pt idx="229">
                  <c:v>-0.195006376258</c:v>
                </c:pt>
                <c:pt idx="230">
                  <c:v>-0.226585197827</c:v>
                </c:pt>
                <c:pt idx="231">
                  <c:v>-0.272337044606</c:v>
                </c:pt>
                <c:pt idx="232">
                  <c:v>-0.280369183563</c:v>
                </c:pt>
                <c:pt idx="233">
                  <c:v>-0.276488546997</c:v>
                </c:pt>
                <c:pt idx="234">
                  <c:v>-0.280351482111</c:v>
                </c:pt>
                <c:pt idx="235">
                  <c:v>-0.263687114769</c:v>
                </c:pt>
                <c:pt idx="236">
                  <c:v>-0.241085599806</c:v>
                </c:pt>
                <c:pt idx="237">
                  <c:v>-0.197192960608</c:v>
                </c:pt>
                <c:pt idx="238">
                  <c:v>-0.164092629142</c:v>
                </c:pt>
                <c:pt idx="239">
                  <c:v>-0.139865835725</c:v>
                </c:pt>
                <c:pt idx="240">
                  <c:v>-0.160552366924</c:v>
                </c:pt>
                <c:pt idx="241">
                  <c:v>-0.103231661063</c:v>
                </c:pt>
                <c:pt idx="242">
                  <c:v>-0.00508639839258</c:v>
                </c:pt>
                <c:pt idx="243">
                  <c:v>-0.0422733343753</c:v>
                </c:pt>
                <c:pt idx="244">
                  <c:v>-0.0402930451136</c:v>
                </c:pt>
                <c:pt idx="245">
                  <c:v>-0.0291990229355</c:v>
                </c:pt>
                <c:pt idx="246">
                  <c:v>0.00137960959785</c:v>
                </c:pt>
                <c:pt idx="247">
                  <c:v>0.085674554535</c:v>
                </c:pt>
                <c:pt idx="248">
                  <c:v>0.183840438663</c:v>
                </c:pt>
                <c:pt idx="249">
                  <c:v>0.169881962843</c:v>
                </c:pt>
                <c:pt idx="250">
                  <c:v>0.133963259765</c:v>
                </c:pt>
                <c:pt idx="251">
                  <c:v>0.14807396432</c:v>
                </c:pt>
                <c:pt idx="252">
                  <c:v>0.1807659781</c:v>
                </c:pt>
                <c:pt idx="253">
                  <c:v>0.150864028996</c:v>
                </c:pt>
                <c:pt idx="254">
                  <c:v>0.0793918085764</c:v>
                </c:pt>
                <c:pt idx="255">
                  <c:v>0.039135779223</c:v>
                </c:pt>
                <c:pt idx="256">
                  <c:v>0.0262678826108</c:v>
                </c:pt>
                <c:pt idx="257">
                  <c:v>-0.00742738703313</c:v>
                </c:pt>
                <c:pt idx="258">
                  <c:v>-0.0575721586057</c:v>
                </c:pt>
                <c:pt idx="259">
                  <c:v>-0.0804385764101</c:v>
                </c:pt>
                <c:pt idx="260">
                  <c:v>-0.0641736655088</c:v>
                </c:pt>
                <c:pt idx="261">
                  <c:v>-0.0863491995116</c:v>
                </c:pt>
                <c:pt idx="262">
                  <c:v>-0.0391033328545</c:v>
                </c:pt>
                <c:pt idx="263">
                  <c:v>-0.0365002536801</c:v>
                </c:pt>
                <c:pt idx="264">
                  <c:v>-0.0838170589645</c:v>
                </c:pt>
                <c:pt idx="265">
                  <c:v>-0.114851947208</c:v>
                </c:pt>
                <c:pt idx="266">
                  <c:v>-0.110210318578</c:v>
                </c:pt>
                <c:pt idx="267">
                  <c:v>-0.107725924508</c:v>
                </c:pt>
                <c:pt idx="268">
                  <c:v>-0.0884921212463</c:v>
                </c:pt>
                <c:pt idx="269">
                  <c:v>-0.059125660868</c:v>
                </c:pt>
                <c:pt idx="270">
                  <c:v>-0.0886675005861</c:v>
                </c:pt>
                <c:pt idx="271">
                  <c:v>-0.104091577623</c:v>
                </c:pt>
                <c:pt idx="272">
                  <c:v>-0.105719652578</c:v>
                </c:pt>
                <c:pt idx="273">
                  <c:v>-0.0913044597371</c:v>
                </c:pt>
                <c:pt idx="274">
                  <c:v>-0.0702899846741</c:v>
                </c:pt>
                <c:pt idx="275">
                  <c:v>-0.0626538837862</c:v>
                </c:pt>
                <c:pt idx="276">
                  <c:v>-0.086312432556</c:v>
                </c:pt>
                <c:pt idx="277">
                  <c:v>-0.0772403034966</c:v>
                </c:pt>
                <c:pt idx="278">
                  <c:v>-0.0663842502528</c:v>
                </c:pt>
                <c:pt idx="279">
                  <c:v>-0.0276014183497</c:v>
                </c:pt>
              </c:numCache>
            </c:numRef>
          </c:xVal>
          <c:yVal>
            <c:numRef>
              <c:f>'Chart Data'!$B$2:$B$281</c:f>
              <c:numCache>
                <c:formatCode>0.00</c:formatCode>
                <c:ptCount val="280"/>
                <c:pt idx="0">
                  <c:v>1.40094277445</c:v>
                </c:pt>
                <c:pt idx="1">
                  <c:v>1.45177647832</c:v>
                </c:pt>
                <c:pt idx="2">
                  <c:v>1.35468347729</c:v>
                </c:pt>
                <c:pt idx="3">
                  <c:v>1.23447796117</c:v>
                </c:pt>
                <c:pt idx="4">
                  <c:v>1.19198909488</c:v>
                </c:pt>
                <c:pt idx="5">
                  <c:v>1.14882549596</c:v>
                </c:pt>
                <c:pt idx="6">
                  <c:v>1.13158269589</c:v>
                </c:pt>
                <c:pt idx="7">
                  <c:v>1.15919527938</c:v>
                </c:pt>
                <c:pt idx="8">
                  <c:v>1.12089232188</c:v>
                </c:pt>
                <c:pt idx="9">
                  <c:v>1.09248050623</c:v>
                </c:pt>
                <c:pt idx="10">
                  <c:v>1.10674465602</c:v>
                </c:pt>
                <c:pt idx="11">
                  <c:v>1.10561036189</c:v>
                </c:pt>
                <c:pt idx="12">
                  <c:v>1.0737811339</c:v>
                </c:pt>
                <c:pt idx="13">
                  <c:v>1.09418569468</c:v>
                </c:pt>
                <c:pt idx="14">
                  <c:v>1.08060300218</c:v>
                </c:pt>
                <c:pt idx="15">
                  <c:v>1.0766259012</c:v>
                </c:pt>
                <c:pt idx="16">
                  <c:v>1.13624221516</c:v>
                </c:pt>
                <c:pt idx="17">
                  <c:v>1.13944626754</c:v>
                </c:pt>
                <c:pt idx="18">
                  <c:v>1.10392802549</c:v>
                </c:pt>
                <c:pt idx="19">
                  <c:v>1.08626747435</c:v>
                </c:pt>
                <c:pt idx="20">
                  <c:v>1.04252093535</c:v>
                </c:pt>
                <c:pt idx="21">
                  <c:v>1.02354585199</c:v>
                </c:pt>
                <c:pt idx="22">
                  <c:v>0.99465979899</c:v>
                </c:pt>
                <c:pt idx="23">
                  <c:v>0.963348713083</c:v>
                </c:pt>
                <c:pt idx="24">
                  <c:v>0.948650519684</c:v>
                </c:pt>
                <c:pt idx="25">
                  <c:v>0.906541657809</c:v>
                </c:pt>
                <c:pt idx="26">
                  <c:v>0.939840155953</c:v>
                </c:pt>
                <c:pt idx="27">
                  <c:v>0.888361668847</c:v>
                </c:pt>
                <c:pt idx="28">
                  <c:v>0.831161629166</c:v>
                </c:pt>
                <c:pt idx="29">
                  <c:v>0.809129476806</c:v>
                </c:pt>
                <c:pt idx="30">
                  <c:v>0.786756679682</c:v>
                </c:pt>
                <c:pt idx="31">
                  <c:v>0.774666591568</c:v>
                </c:pt>
                <c:pt idx="32">
                  <c:v>0.740996364996</c:v>
                </c:pt>
                <c:pt idx="33">
                  <c:v>0.718413855522</c:v>
                </c:pt>
                <c:pt idx="34">
                  <c:v>0.691429821255</c:v>
                </c:pt>
                <c:pt idx="35">
                  <c:v>0.718986808192</c:v>
                </c:pt>
                <c:pt idx="36">
                  <c:v>0.708257023381</c:v>
                </c:pt>
                <c:pt idx="37">
                  <c:v>0.651339502412</c:v>
                </c:pt>
                <c:pt idx="38">
                  <c:v>0.640911022258</c:v>
                </c:pt>
                <c:pt idx="39">
                  <c:v>0.623712946853</c:v>
                </c:pt>
                <c:pt idx="40">
                  <c:v>0.640344535021</c:v>
                </c:pt>
                <c:pt idx="41">
                  <c:v>0.66642041144</c:v>
                </c:pt>
                <c:pt idx="42">
                  <c:v>0.633869584803</c:v>
                </c:pt>
                <c:pt idx="43">
                  <c:v>0.60975258409</c:v>
                </c:pt>
                <c:pt idx="44">
                  <c:v>0.607851050067</c:v>
                </c:pt>
                <c:pt idx="45">
                  <c:v>0.592068967093</c:v>
                </c:pt>
                <c:pt idx="46">
                  <c:v>0.59207779944</c:v>
                </c:pt>
                <c:pt idx="47">
                  <c:v>0.578609867363</c:v>
                </c:pt>
                <c:pt idx="48">
                  <c:v>0.353373675455</c:v>
                </c:pt>
                <c:pt idx="49">
                  <c:v>0.0911353450538</c:v>
                </c:pt>
                <c:pt idx="50">
                  <c:v>0.0963736071101</c:v>
                </c:pt>
                <c:pt idx="51">
                  <c:v>0.181868903351</c:v>
                </c:pt>
                <c:pt idx="52">
                  <c:v>0.163029639574</c:v>
                </c:pt>
                <c:pt idx="53">
                  <c:v>0.0901266810124</c:v>
                </c:pt>
                <c:pt idx="54">
                  <c:v>0.0448067128634</c:v>
                </c:pt>
                <c:pt idx="55">
                  <c:v>0.0443569737591</c:v>
                </c:pt>
                <c:pt idx="56">
                  <c:v>0.000789951854019</c:v>
                </c:pt>
                <c:pt idx="57">
                  <c:v>-0.089437637235</c:v>
                </c:pt>
                <c:pt idx="58">
                  <c:v>-0.0865451402884</c:v>
                </c:pt>
                <c:pt idx="59">
                  <c:v>-0.0313076716253</c:v>
                </c:pt>
                <c:pt idx="60">
                  <c:v>-0.0164341317466</c:v>
                </c:pt>
                <c:pt idx="61">
                  <c:v>-0.027178378532</c:v>
                </c:pt>
                <c:pt idx="62">
                  <c:v>-0.0199450025286</c:v>
                </c:pt>
                <c:pt idx="63">
                  <c:v>-0.0458846505478</c:v>
                </c:pt>
                <c:pt idx="64">
                  <c:v>-0.0960490051058</c:v>
                </c:pt>
                <c:pt idx="65">
                  <c:v>-0.110640271143</c:v>
                </c:pt>
                <c:pt idx="66">
                  <c:v>-0.121949563196</c:v>
                </c:pt>
                <c:pt idx="67">
                  <c:v>-0.115223027634</c:v>
                </c:pt>
                <c:pt idx="68">
                  <c:v>-0.021766276482</c:v>
                </c:pt>
                <c:pt idx="69">
                  <c:v>0.145003692641</c:v>
                </c:pt>
                <c:pt idx="70">
                  <c:v>0.151345340502</c:v>
                </c:pt>
                <c:pt idx="71">
                  <c:v>0.198505946634</c:v>
                </c:pt>
                <c:pt idx="72">
                  <c:v>0.16598694326</c:v>
                </c:pt>
                <c:pt idx="73">
                  <c:v>0.144318943556</c:v>
                </c:pt>
                <c:pt idx="74">
                  <c:v>0.102205712038</c:v>
                </c:pt>
                <c:pt idx="75">
                  <c:v>0.00609314362395</c:v>
                </c:pt>
                <c:pt idx="76">
                  <c:v>-0.108548209413</c:v>
                </c:pt>
                <c:pt idx="77">
                  <c:v>-0.193614989727</c:v>
                </c:pt>
                <c:pt idx="78">
                  <c:v>-0.243627675984</c:v>
                </c:pt>
                <c:pt idx="79">
                  <c:v>-0.3079340957</c:v>
                </c:pt>
                <c:pt idx="80">
                  <c:v>-0.383988368981</c:v>
                </c:pt>
                <c:pt idx="81">
                  <c:v>-0.455065760477</c:v>
                </c:pt>
                <c:pt idx="82">
                  <c:v>-0.387461348497</c:v>
                </c:pt>
                <c:pt idx="83">
                  <c:v>-0.300017831073</c:v>
                </c:pt>
                <c:pt idx="84">
                  <c:v>-0.289716746799</c:v>
                </c:pt>
                <c:pt idx="85">
                  <c:v>-0.272967478265</c:v>
                </c:pt>
                <c:pt idx="86">
                  <c:v>-0.273100977906</c:v>
                </c:pt>
                <c:pt idx="87">
                  <c:v>-0.278359462109</c:v>
                </c:pt>
                <c:pt idx="88">
                  <c:v>-0.313326597409</c:v>
                </c:pt>
                <c:pt idx="89">
                  <c:v>-0.407032289807</c:v>
                </c:pt>
                <c:pt idx="90">
                  <c:v>-0.505817625445</c:v>
                </c:pt>
                <c:pt idx="91">
                  <c:v>-0.569568369523</c:v>
                </c:pt>
                <c:pt idx="92">
                  <c:v>-0.665001239073</c:v>
                </c:pt>
                <c:pt idx="93">
                  <c:v>-0.815677534606</c:v>
                </c:pt>
                <c:pt idx="94">
                  <c:v>-0.735935372522</c:v>
                </c:pt>
                <c:pt idx="95">
                  <c:v>-0.761364191127</c:v>
                </c:pt>
                <c:pt idx="96">
                  <c:v>-0.719252784904</c:v>
                </c:pt>
                <c:pt idx="97">
                  <c:v>-0.766749714964</c:v>
                </c:pt>
                <c:pt idx="98">
                  <c:v>-0.731199989713</c:v>
                </c:pt>
                <c:pt idx="99">
                  <c:v>-0.675948950102</c:v>
                </c:pt>
                <c:pt idx="100">
                  <c:v>-0.605329776928</c:v>
                </c:pt>
                <c:pt idx="101">
                  <c:v>-0.597055346888</c:v>
                </c:pt>
                <c:pt idx="102">
                  <c:v>-0.610538145832</c:v>
                </c:pt>
                <c:pt idx="103">
                  <c:v>-0.631318405739</c:v>
                </c:pt>
                <c:pt idx="104">
                  <c:v>-0.513040565245</c:v>
                </c:pt>
                <c:pt idx="105">
                  <c:v>-0.478898567545</c:v>
                </c:pt>
                <c:pt idx="106">
                  <c:v>-0.486963160781</c:v>
                </c:pt>
                <c:pt idx="107">
                  <c:v>-0.465317671357</c:v>
                </c:pt>
                <c:pt idx="108">
                  <c:v>-0.465902365825</c:v>
                </c:pt>
                <c:pt idx="109">
                  <c:v>-0.533711181534</c:v>
                </c:pt>
                <c:pt idx="110">
                  <c:v>-0.481433353638</c:v>
                </c:pt>
                <c:pt idx="111">
                  <c:v>-0.449000691613</c:v>
                </c:pt>
                <c:pt idx="112">
                  <c:v>-0.445408569802</c:v>
                </c:pt>
                <c:pt idx="113">
                  <c:v>-0.423295950186</c:v>
                </c:pt>
                <c:pt idx="114">
                  <c:v>-0.403409135608</c:v>
                </c:pt>
                <c:pt idx="115">
                  <c:v>-0.391838305551</c:v>
                </c:pt>
                <c:pt idx="116">
                  <c:v>-0.354537658365</c:v>
                </c:pt>
                <c:pt idx="117">
                  <c:v>-0.340398754761</c:v>
                </c:pt>
                <c:pt idx="118">
                  <c:v>-0.298121635187</c:v>
                </c:pt>
                <c:pt idx="119">
                  <c:v>-0.268660254885</c:v>
                </c:pt>
                <c:pt idx="120">
                  <c:v>-0.282078295614</c:v>
                </c:pt>
                <c:pt idx="121">
                  <c:v>-0.274957664798</c:v>
                </c:pt>
                <c:pt idx="122">
                  <c:v>-0.310481013254</c:v>
                </c:pt>
                <c:pt idx="123">
                  <c:v>-0.253232697327</c:v>
                </c:pt>
                <c:pt idx="124">
                  <c:v>-0.186832695169</c:v>
                </c:pt>
                <c:pt idx="125">
                  <c:v>-0.104969274844</c:v>
                </c:pt>
                <c:pt idx="126">
                  <c:v>-0.0524581427284</c:v>
                </c:pt>
                <c:pt idx="127">
                  <c:v>-0.00782516538693</c:v>
                </c:pt>
                <c:pt idx="128">
                  <c:v>-0.0104712998673</c:v>
                </c:pt>
                <c:pt idx="129">
                  <c:v>-0.0305528702827</c:v>
                </c:pt>
                <c:pt idx="130">
                  <c:v>0.0375526792875</c:v>
                </c:pt>
                <c:pt idx="131">
                  <c:v>0.0259137799967</c:v>
                </c:pt>
                <c:pt idx="132">
                  <c:v>0.0465280114771</c:v>
                </c:pt>
                <c:pt idx="133">
                  <c:v>0.0976664376803</c:v>
                </c:pt>
                <c:pt idx="134">
                  <c:v>0.0777954031342</c:v>
                </c:pt>
                <c:pt idx="135">
                  <c:v>0.0474631160298</c:v>
                </c:pt>
                <c:pt idx="136">
                  <c:v>0.019459581996</c:v>
                </c:pt>
                <c:pt idx="137">
                  <c:v>-0.00570945839292</c:v>
                </c:pt>
                <c:pt idx="138">
                  <c:v>0.0159952661446</c:v>
                </c:pt>
                <c:pt idx="139">
                  <c:v>0.0506901160837</c:v>
                </c:pt>
                <c:pt idx="140">
                  <c:v>0.0729842191622</c:v>
                </c:pt>
                <c:pt idx="141">
                  <c:v>0.130717074462</c:v>
                </c:pt>
                <c:pt idx="142">
                  <c:v>0.166330184701</c:v>
                </c:pt>
                <c:pt idx="143">
                  <c:v>0.205130289171</c:v>
                </c:pt>
                <c:pt idx="144">
                  <c:v>0.208474881898</c:v>
                </c:pt>
                <c:pt idx="145">
                  <c:v>0.295321093365</c:v>
                </c:pt>
                <c:pt idx="146">
                  <c:v>0.407521688693</c:v>
                </c:pt>
                <c:pt idx="147">
                  <c:v>0.403889063653</c:v>
                </c:pt>
                <c:pt idx="148">
                  <c:v>0.435065718063</c:v>
                </c:pt>
                <c:pt idx="149">
                  <c:v>0.476665226025</c:v>
                </c:pt>
                <c:pt idx="150">
                  <c:v>0.537583598801</c:v>
                </c:pt>
                <c:pt idx="151">
                  <c:v>0.58083933719</c:v>
                </c:pt>
                <c:pt idx="152">
                  <c:v>0.720998494762</c:v>
                </c:pt>
                <c:pt idx="153">
                  <c:v>0.767518860305</c:v>
                </c:pt>
                <c:pt idx="154">
                  <c:v>0.757874606957</c:v>
                </c:pt>
                <c:pt idx="155">
                  <c:v>0.773560221926</c:v>
                </c:pt>
                <c:pt idx="156">
                  <c:v>0.82590331925</c:v>
                </c:pt>
                <c:pt idx="157">
                  <c:v>0.832906606392</c:v>
                </c:pt>
                <c:pt idx="158">
                  <c:v>0.774297442678</c:v>
                </c:pt>
                <c:pt idx="159">
                  <c:v>0.747311003177</c:v>
                </c:pt>
                <c:pt idx="160">
                  <c:v>0.756810205645</c:v>
                </c:pt>
                <c:pt idx="161">
                  <c:v>0.74920856939</c:v>
                </c:pt>
                <c:pt idx="162">
                  <c:v>0.721886926453</c:v>
                </c:pt>
                <c:pt idx="163">
                  <c:v>0.688515743843</c:v>
                </c:pt>
                <c:pt idx="164">
                  <c:v>0.593057872733</c:v>
                </c:pt>
                <c:pt idx="165">
                  <c:v>0.382640753991</c:v>
                </c:pt>
                <c:pt idx="166">
                  <c:v>0.38842088445</c:v>
                </c:pt>
                <c:pt idx="167">
                  <c:v>0.336513999865</c:v>
                </c:pt>
                <c:pt idx="168">
                  <c:v>0.325966395441</c:v>
                </c:pt>
                <c:pt idx="169">
                  <c:v>0.294340360084</c:v>
                </c:pt>
                <c:pt idx="170">
                  <c:v>0.30147065825</c:v>
                </c:pt>
                <c:pt idx="171">
                  <c:v>0.351876287077</c:v>
                </c:pt>
                <c:pt idx="172">
                  <c:v>0.442972381174</c:v>
                </c:pt>
                <c:pt idx="173">
                  <c:v>0.520808323495</c:v>
                </c:pt>
                <c:pt idx="174">
                  <c:v>0.506085516458</c:v>
                </c:pt>
                <c:pt idx="175">
                  <c:v>0.535100453613</c:v>
                </c:pt>
                <c:pt idx="176">
                  <c:v>0.543838771256</c:v>
                </c:pt>
                <c:pt idx="177">
                  <c:v>0.607431871649</c:v>
                </c:pt>
                <c:pt idx="178">
                  <c:v>0.635620668556</c:v>
                </c:pt>
                <c:pt idx="179">
                  <c:v>0.631677703868</c:v>
                </c:pt>
                <c:pt idx="180">
                  <c:v>0.589956837123</c:v>
                </c:pt>
                <c:pt idx="181">
                  <c:v>0.565401426647</c:v>
                </c:pt>
                <c:pt idx="182">
                  <c:v>0.607732996107</c:v>
                </c:pt>
                <c:pt idx="183">
                  <c:v>0.662598762088</c:v>
                </c:pt>
                <c:pt idx="184">
                  <c:v>0.695818438603</c:v>
                </c:pt>
                <c:pt idx="185">
                  <c:v>0.736532176188</c:v>
                </c:pt>
                <c:pt idx="186">
                  <c:v>0.771797905826</c:v>
                </c:pt>
                <c:pt idx="187">
                  <c:v>0.803502023509</c:v>
                </c:pt>
                <c:pt idx="188">
                  <c:v>0.873435096656</c:v>
                </c:pt>
                <c:pt idx="189">
                  <c:v>0.803118375304</c:v>
                </c:pt>
                <c:pt idx="190">
                  <c:v>0.793073592046</c:v>
                </c:pt>
                <c:pt idx="191">
                  <c:v>0.830410381288</c:v>
                </c:pt>
                <c:pt idx="192">
                  <c:v>0.803786591604</c:v>
                </c:pt>
                <c:pt idx="193">
                  <c:v>0.803065638324</c:v>
                </c:pt>
                <c:pt idx="194">
                  <c:v>0.84088835725</c:v>
                </c:pt>
                <c:pt idx="195">
                  <c:v>0.898534420942</c:v>
                </c:pt>
                <c:pt idx="196">
                  <c:v>0.908263558315</c:v>
                </c:pt>
                <c:pt idx="197">
                  <c:v>0.88851081277</c:v>
                </c:pt>
                <c:pt idx="198">
                  <c:v>0.882356105837</c:v>
                </c:pt>
                <c:pt idx="199">
                  <c:v>0.923155033398</c:v>
                </c:pt>
                <c:pt idx="200">
                  <c:v>0.856715679081</c:v>
                </c:pt>
                <c:pt idx="201">
                  <c:v>0.83536380926</c:v>
                </c:pt>
                <c:pt idx="202">
                  <c:v>0.841889717411</c:v>
                </c:pt>
                <c:pt idx="203">
                  <c:v>0.805246332001</c:v>
                </c:pt>
                <c:pt idx="204">
                  <c:v>0.840939837015</c:v>
                </c:pt>
                <c:pt idx="205">
                  <c:v>0.926711110985</c:v>
                </c:pt>
                <c:pt idx="206">
                  <c:v>1.00077194212</c:v>
                </c:pt>
                <c:pt idx="207">
                  <c:v>1.05474850777</c:v>
                </c:pt>
                <c:pt idx="208">
                  <c:v>1.04436415513</c:v>
                </c:pt>
                <c:pt idx="209">
                  <c:v>0.9305550925</c:v>
                </c:pt>
                <c:pt idx="210">
                  <c:v>0.956568781964</c:v>
                </c:pt>
                <c:pt idx="211">
                  <c:v>0.989928362966</c:v>
                </c:pt>
                <c:pt idx="212">
                  <c:v>0.979206962513</c:v>
                </c:pt>
                <c:pt idx="213">
                  <c:v>1.01942589417</c:v>
                </c:pt>
                <c:pt idx="214">
                  <c:v>0.963204588821</c:v>
                </c:pt>
                <c:pt idx="215">
                  <c:v>0.906832338908</c:v>
                </c:pt>
                <c:pt idx="216">
                  <c:v>0.969677250216</c:v>
                </c:pt>
                <c:pt idx="217">
                  <c:v>1.00974258221</c:v>
                </c:pt>
                <c:pt idx="218">
                  <c:v>1.04645505416</c:v>
                </c:pt>
                <c:pt idx="219">
                  <c:v>1.02172915879</c:v>
                </c:pt>
                <c:pt idx="220">
                  <c:v>0.955628629796</c:v>
                </c:pt>
                <c:pt idx="221">
                  <c:v>0.839688945112</c:v>
                </c:pt>
                <c:pt idx="222">
                  <c:v>0.828389323739</c:v>
                </c:pt>
                <c:pt idx="223">
                  <c:v>0.807461175086</c:v>
                </c:pt>
                <c:pt idx="224">
                  <c:v>0.843869206366</c:v>
                </c:pt>
                <c:pt idx="225">
                  <c:v>0.928732430757</c:v>
                </c:pt>
                <c:pt idx="226">
                  <c:v>0.88413327855</c:v>
                </c:pt>
                <c:pt idx="227">
                  <c:v>0.879404703288</c:v>
                </c:pt>
                <c:pt idx="228">
                  <c:v>0.842904520849</c:v>
                </c:pt>
                <c:pt idx="229">
                  <c:v>0.779350663224</c:v>
                </c:pt>
                <c:pt idx="230">
                  <c:v>0.758904811254</c:v>
                </c:pt>
                <c:pt idx="231">
                  <c:v>0.756571008641</c:v>
                </c:pt>
                <c:pt idx="232">
                  <c:v>0.802504830078</c:v>
                </c:pt>
                <c:pt idx="233">
                  <c:v>0.814764898205</c:v>
                </c:pt>
                <c:pt idx="234">
                  <c:v>0.880896904232</c:v>
                </c:pt>
                <c:pt idx="235">
                  <c:v>0.818796510939</c:v>
                </c:pt>
                <c:pt idx="236">
                  <c:v>0.808636686443</c:v>
                </c:pt>
                <c:pt idx="237">
                  <c:v>0.762891311667</c:v>
                </c:pt>
                <c:pt idx="238">
                  <c:v>0.727456094447</c:v>
                </c:pt>
                <c:pt idx="239">
                  <c:v>0.686227790143</c:v>
                </c:pt>
                <c:pt idx="240">
                  <c:v>0.680213701329</c:v>
                </c:pt>
                <c:pt idx="241">
                  <c:v>0.607706475234</c:v>
                </c:pt>
                <c:pt idx="242">
                  <c:v>0.506804170625</c:v>
                </c:pt>
                <c:pt idx="243">
                  <c:v>0.500460577593</c:v>
                </c:pt>
                <c:pt idx="244">
                  <c:v>0.487021664774</c:v>
                </c:pt>
                <c:pt idx="245">
                  <c:v>0.444139346812</c:v>
                </c:pt>
                <c:pt idx="246">
                  <c:v>0.398438941348</c:v>
                </c:pt>
                <c:pt idx="247">
                  <c:v>0.333108876935</c:v>
                </c:pt>
                <c:pt idx="248">
                  <c:v>0.234116026822</c:v>
                </c:pt>
                <c:pt idx="249">
                  <c:v>0.266453723749</c:v>
                </c:pt>
                <c:pt idx="250">
                  <c:v>0.260090551373</c:v>
                </c:pt>
                <c:pt idx="251">
                  <c:v>0.235124908838</c:v>
                </c:pt>
                <c:pt idx="252">
                  <c:v>0.19286037267</c:v>
                </c:pt>
                <c:pt idx="253">
                  <c:v>0.222594793683</c:v>
                </c:pt>
                <c:pt idx="254">
                  <c:v>0.296063652577</c:v>
                </c:pt>
                <c:pt idx="255">
                  <c:v>0.363541772577</c:v>
                </c:pt>
                <c:pt idx="256">
                  <c:v>0.371761316099</c:v>
                </c:pt>
                <c:pt idx="257">
                  <c:v>0.453404363296</c:v>
                </c:pt>
                <c:pt idx="258">
                  <c:v>0.525854388027</c:v>
                </c:pt>
                <c:pt idx="259">
                  <c:v>0.548088811699</c:v>
                </c:pt>
                <c:pt idx="260">
                  <c:v>0.531660977009</c:v>
                </c:pt>
                <c:pt idx="261">
                  <c:v>0.568357500411</c:v>
                </c:pt>
                <c:pt idx="262">
                  <c:v>0.552511876664</c:v>
                </c:pt>
                <c:pt idx="263">
                  <c:v>0.598150169504</c:v>
                </c:pt>
                <c:pt idx="264">
                  <c:v>0.633298472998</c:v>
                </c:pt>
                <c:pt idx="265">
                  <c:v>0.619153191393</c:v>
                </c:pt>
                <c:pt idx="266">
                  <c:v>0.608281325292</c:v>
                </c:pt>
                <c:pt idx="267">
                  <c:v>0.612031740327</c:v>
                </c:pt>
                <c:pt idx="268">
                  <c:v>0.56861529701</c:v>
                </c:pt>
                <c:pt idx="269">
                  <c:v>0.520747712032</c:v>
                </c:pt>
                <c:pt idx="270">
                  <c:v>0.544861285783</c:v>
                </c:pt>
                <c:pt idx="271">
                  <c:v>0.547358513189</c:v>
                </c:pt>
                <c:pt idx="272">
                  <c:v>0.537778243753</c:v>
                </c:pt>
                <c:pt idx="273">
                  <c:v>0.5233131352</c:v>
                </c:pt>
                <c:pt idx="274">
                  <c:v>0.493851048737</c:v>
                </c:pt>
                <c:pt idx="275">
                  <c:v>0.504719348622</c:v>
                </c:pt>
                <c:pt idx="276">
                  <c:v>0.508393215419</c:v>
                </c:pt>
                <c:pt idx="277">
                  <c:v>0.472737817914</c:v>
                </c:pt>
                <c:pt idx="278">
                  <c:v>0.467117668425</c:v>
                </c:pt>
                <c:pt idx="279">
                  <c:v>0.390057211874</c:v>
                </c:pt>
              </c:numCache>
            </c:numRef>
          </c:yVal>
        </c:ser>
        <c:ser>
          <c:idx val="1"/>
          <c:order val="1"/>
          <c:tx>
            <c:v>Ajuste linear</c:v>
          </c:tx>
          <c:spPr>
            <a:ln xmlns:a="http://schemas.openxmlformats.org/drawingml/2006/main" w="28575">
              <a:solidFill>
                <a:srgbClr val="A14338"/>
              </a:solidFill>
            </a:ln>
          </c:spPr>
          <c:marker>
            <c:symbol val="none"/>
          </c:marker>
          <c:xVal>
            <c:numRef>
              <c:f>'Chart Data'!$C$2:$C$3</c:f>
              <c:numCache>
                <c:formatCode>General</c:formatCode>
                <c:ptCount val="2"/>
                <c:pt idx="0">
                  <c:v>-0.510556339017</c:v>
                </c:pt>
                <c:pt idx="1">
                  <c:v>0.699692549821</c:v>
                </c:pt>
              </c:numCache>
            </c:numRef>
          </c:xVal>
          <c:yVal>
            <c:numRef>
              <c:f>'Chart Data'!$D$2:$D$3</c:f>
              <c:numCache>
                <c:formatCode>0.00</c:formatCode>
                <c:ptCount val="2"/>
                <c:pt idx="0">
                  <c:v>1.17038886821</c:v>
                </c:pt>
                <c:pt idx="1">
                  <c:v>-1.01785312326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1"/>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Variação nominal (log)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0.5"/>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Desvio do câmbio real (log)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Carry por juros</c:v>
          </c:tx>
          <c:spPr>
            <a:ln xmlns:a="http://schemas.openxmlformats.org/drawingml/2006/main" w="28575">
              <a:solidFill>
                <a:srgbClr val="15354D"/>
              </a:solidFill>
            </a:ln>
          </c:spPr>
          <c:marker>
            <c:symbol val="none"/>
          </c:marker>
          <c:xVal>
            <c:numRef>
              <c:f>'Chart Data'!$A$2:$A$200</c:f>
              <c:numCache>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Cache>
            </c:numRef>
          </c:xVal>
          <c:yVal>
            <c:numRef>
              <c:f>'Chart Data'!$B$2:$B$200</c:f>
              <c:numCache>
                <c:formatCode>0.00</c:formatCode>
                <c:ptCount val="199"/>
                <c:pt idx="0">
                  <c:v>100</c:v>
                </c:pt>
                <c:pt idx="1">
                  <c:v>101.89952312</c:v>
                </c:pt>
                <c:pt idx="2">
                  <c:v>103.804937901</c:v>
                </c:pt>
                <c:pt idx="3">
                  <c:v>102.448370139</c:v>
                </c:pt>
                <c:pt idx="4">
                  <c:v>103.012626093</c:v>
                </c:pt>
                <c:pt idx="5">
                  <c:v>102.572836719</c:v>
                </c:pt>
                <c:pt idx="6">
                  <c:v>102.06319004</c:v>
                </c:pt>
                <c:pt idx="7">
                  <c:v>101.731865838</c:v>
                </c:pt>
                <c:pt idx="8">
                  <c:v>100.913174527</c:v>
                </c:pt>
                <c:pt idx="9">
                  <c:v>103.346629199</c:v>
                </c:pt>
                <c:pt idx="10">
                  <c:v>104.32450628</c:v>
                </c:pt>
                <c:pt idx="11">
                  <c:v>104.848790359</c:v>
                </c:pt>
                <c:pt idx="12">
                  <c:v>105.679872807</c:v>
                </c:pt>
                <c:pt idx="13">
                  <c:v>106.217328069</c:v>
                </c:pt>
                <c:pt idx="14">
                  <c:v>106.768546558</c:v>
                </c:pt>
                <c:pt idx="15">
                  <c:v>107.135927442</c:v>
                </c:pt>
                <c:pt idx="16">
                  <c:v>106.545116589</c:v>
                </c:pt>
                <c:pt idx="17">
                  <c:v>105.973340474</c:v>
                </c:pt>
                <c:pt idx="18">
                  <c:v>105.138379036</c:v>
                </c:pt>
                <c:pt idx="19">
                  <c:v>101.089499775</c:v>
                </c:pt>
                <c:pt idx="20">
                  <c:v>105.16583891</c:v>
                </c:pt>
                <c:pt idx="21">
                  <c:v>102.534499315</c:v>
                </c:pt>
                <c:pt idx="22">
                  <c:v>102.070346789</c:v>
                </c:pt>
                <c:pt idx="23">
                  <c:v>103.911635328</c:v>
                </c:pt>
                <c:pt idx="24">
                  <c:v>106.231883553</c:v>
                </c:pt>
                <c:pt idx="25">
                  <c:v>105.164561154</c:v>
                </c:pt>
                <c:pt idx="26">
                  <c:v>103.626849242</c:v>
                </c:pt>
                <c:pt idx="27">
                  <c:v>101.606802271</c:v>
                </c:pt>
                <c:pt idx="28">
                  <c:v>102.167961145</c:v>
                </c:pt>
                <c:pt idx="29">
                  <c:v>103.192186977</c:v>
                </c:pt>
                <c:pt idx="30">
                  <c:v>103.529222256</c:v>
                </c:pt>
                <c:pt idx="31">
                  <c:v>103.288908414</c:v>
                </c:pt>
                <c:pt idx="32">
                  <c:v>103.703358608</c:v>
                </c:pt>
                <c:pt idx="33">
                  <c:v>103.594972577</c:v>
                </c:pt>
                <c:pt idx="34">
                  <c:v>105.802594195</c:v>
                </c:pt>
                <c:pt idx="35">
                  <c:v>108.097101939</c:v>
                </c:pt>
                <c:pt idx="36">
                  <c:v>109.385274661</c:v>
                </c:pt>
                <c:pt idx="37">
                  <c:v>109.975919758</c:v>
                </c:pt>
                <c:pt idx="38">
                  <c:v>110.39044601</c:v>
                </c:pt>
                <c:pt idx="39">
                  <c:v>109.666163906</c:v>
                </c:pt>
                <c:pt idx="40">
                  <c:v>107.824182109</c:v>
                </c:pt>
                <c:pt idx="41">
                  <c:v>107.041096145</c:v>
                </c:pt>
                <c:pt idx="42">
                  <c:v>106.435541639</c:v>
                </c:pt>
                <c:pt idx="43">
                  <c:v>107.940230002</c:v>
                </c:pt>
                <c:pt idx="44">
                  <c:v>108.544209559</c:v>
                </c:pt>
                <c:pt idx="45">
                  <c:v>108.059463038</c:v>
                </c:pt>
                <c:pt idx="46">
                  <c:v>108.640540189</c:v>
                </c:pt>
                <c:pt idx="47">
                  <c:v>107.403623803</c:v>
                </c:pt>
                <c:pt idx="48">
                  <c:v>108.323166061</c:v>
                </c:pt>
                <c:pt idx="49">
                  <c:v>109.872558093</c:v>
                </c:pt>
                <c:pt idx="50">
                  <c:v>110.136608055</c:v>
                </c:pt>
                <c:pt idx="51">
                  <c:v>111.315437639</c:v>
                </c:pt>
                <c:pt idx="52">
                  <c:v>112.177873373</c:v>
                </c:pt>
                <c:pt idx="53">
                  <c:v>112.09305833</c:v>
                </c:pt>
                <c:pt idx="54">
                  <c:v>113.330179376</c:v>
                </c:pt>
                <c:pt idx="55">
                  <c:v>113.186563849</c:v>
                </c:pt>
                <c:pt idx="56">
                  <c:v>113.836754161</c:v>
                </c:pt>
                <c:pt idx="57">
                  <c:v>114.329856366</c:v>
                </c:pt>
                <c:pt idx="58">
                  <c:v>114.952350067</c:v>
                </c:pt>
                <c:pt idx="59">
                  <c:v>116.515887791</c:v>
                </c:pt>
                <c:pt idx="60">
                  <c:v>115.296797274</c:v>
                </c:pt>
                <c:pt idx="61">
                  <c:v>113.960217192</c:v>
                </c:pt>
                <c:pt idx="62">
                  <c:v>116.513806206</c:v>
                </c:pt>
                <c:pt idx="63">
                  <c:v>115.397215218</c:v>
                </c:pt>
                <c:pt idx="64">
                  <c:v>114.807201361</c:v>
                </c:pt>
                <c:pt idx="65">
                  <c:v>113.184948144</c:v>
                </c:pt>
                <c:pt idx="66">
                  <c:v>109.906974911</c:v>
                </c:pt>
                <c:pt idx="67">
                  <c:v>107.072675608</c:v>
                </c:pt>
                <c:pt idx="68">
                  <c:v>109.555829433</c:v>
                </c:pt>
                <c:pt idx="69">
                  <c:v>111.356129856</c:v>
                </c:pt>
                <c:pt idx="70">
                  <c:v>108.170532834</c:v>
                </c:pt>
                <c:pt idx="71">
                  <c:v>107.80502522</c:v>
                </c:pt>
                <c:pt idx="72">
                  <c:v>109.714022085</c:v>
                </c:pt>
                <c:pt idx="73">
                  <c:v>111.394744179</c:v>
                </c:pt>
                <c:pt idx="74">
                  <c:v>113.477278502</c:v>
                </c:pt>
                <c:pt idx="75">
                  <c:v>113.650208773</c:v>
                </c:pt>
                <c:pt idx="76">
                  <c:v>117.844724987</c:v>
                </c:pt>
                <c:pt idx="77">
                  <c:v>117.662479852</c:v>
                </c:pt>
                <c:pt idx="78">
                  <c:v>118.382005271</c:v>
                </c:pt>
                <c:pt idx="79">
                  <c:v>118.706657089</c:v>
                </c:pt>
                <c:pt idx="80">
                  <c:v>121.008298426</c:v>
                </c:pt>
                <c:pt idx="81">
                  <c:v>120.879848952</c:v>
                </c:pt>
                <c:pt idx="82">
                  <c:v>122.318770411</c:v>
                </c:pt>
                <c:pt idx="83">
                  <c:v>123.4084393</c:v>
                </c:pt>
                <c:pt idx="84">
                  <c:v>124.998972951</c:v>
                </c:pt>
                <c:pt idx="85">
                  <c:v>123.708271219</c:v>
                </c:pt>
                <c:pt idx="86">
                  <c:v>122.220622488</c:v>
                </c:pt>
                <c:pt idx="87">
                  <c:v>121.061734587</c:v>
                </c:pt>
                <c:pt idx="88">
                  <c:v>120.815324262</c:v>
                </c:pt>
                <c:pt idx="89">
                  <c:v>121.925170558</c:v>
                </c:pt>
                <c:pt idx="90">
                  <c:v>120.841306708</c:v>
                </c:pt>
                <c:pt idx="91">
                  <c:v>122.115502616</c:v>
                </c:pt>
                <c:pt idx="92">
                  <c:v>121.762542324</c:v>
                </c:pt>
                <c:pt idx="93">
                  <c:v>121.620427624</c:v>
                </c:pt>
                <c:pt idx="94">
                  <c:v>121.34189837</c:v>
                </c:pt>
                <c:pt idx="95">
                  <c:v>121.198072534</c:v>
                </c:pt>
                <c:pt idx="96">
                  <c:v>121.702661826</c:v>
                </c:pt>
                <c:pt idx="97">
                  <c:v>121.057314805</c:v>
                </c:pt>
                <c:pt idx="98">
                  <c:v>121.979036278</c:v>
                </c:pt>
                <c:pt idx="99">
                  <c:v>121.498161348</c:v>
                </c:pt>
                <c:pt idx="100">
                  <c:v>120.742085969</c:v>
                </c:pt>
                <c:pt idx="101">
                  <c:v>121.560355677</c:v>
                </c:pt>
                <c:pt idx="102">
                  <c:v>120.205534163</c:v>
                </c:pt>
                <c:pt idx="103">
                  <c:v>121.258354634</c:v>
                </c:pt>
                <c:pt idx="104">
                  <c:v>125.601139822</c:v>
                </c:pt>
                <c:pt idx="105">
                  <c:v>123.861224875</c:v>
                </c:pt>
                <c:pt idx="106">
                  <c:v>122.686300966</c:v>
                </c:pt>
                <c:pt idx="107">
                  <c:v>126.257419806</c:v>
                </c:pt>
                <c:pt idx="108">
                  <c:v>126.699579628</c:v>
                </c:pt>
                <c:pt idx="109">
                  <c:v>126.134298418</c:v>
                </c:pt>
                <c:pt idx="110">
                  <c:v>126.994110206</c:v>
                </c:pt>
                <c:pt idx="111">
                  <c:v>127.078912746</c:v>
                </c:pt>
                <c:pt idx="112">
                  <c:v>128.499276232</c:v>
                </c:pt>
                <c:pt idx="113">
                  <c:v>130.745277623</c:v>
                </c:pt>
                <c:pt idx="114">
                  <c:v>129.117301975</c:v>
                </c:pt>
                <c:pt idx="115">
                  <c:v>130.035673641</c:v>
                </c:pt>
                <c:pt idx="116">
                  <c:v>130.614535062</c:v>
                </c:pt>
                <c:pt idx="117">
                  <c:v>128.971229553</c:v>
                </c:pt>
                <c:pt idx="118">
                  <c:v>130.142943491</c:v>
                </c:pt>
                <c:pt idx="119">
                  <c:v>129.736875566</c:v>
                </c:pt>
                <c:pt idx="120">
                  <c:v>128.404700586</c:v>
                </c:pt>
                <c:pt idx="121">
                  <c:v>122.432058174</c:v>
                </c:pt>
                <c:pt idx="122">
                  <c:v>122.009869562</c:v>
                </c:pt>
                <c:pt idx="123">
                  <c:v>122.021248568</c:v>
                </c:pt>
                <c:pt idx="124">
                  <c:v>121.628316915</c:v>
                </c:pt>
                <c:pt idx="125">
                  <c:v>121.425296449</c:v>
                </c:pt>
                <c:pt idx="126">
                  <c:v>120.925197817</c:v>
                </c:pt>
                <c:pt idx="127">
                  <c:v>119.486626837</c:v>
                </c:pt>
                <c:pt idx="128">
                  <c:v>118.856857204</c:v>
                </c:pt>
                <c:pt idx="129">
                  <c:v>121.546296041</c:v>
                </c:pt>
                <c:pt idx="130">
                  <c:v>121.682369004</c:v>
                </c:pt>
                <c:pt idx="131">
                  <c:v>120.807597118</c:v>
                </c:pt>
                <c:pt idx="132">
                  <c:v>121.616987638</c:v>
                </c:pt>
                <c:pt idx="133">
                  <c:v>122.675050286</c:v>
                </c:pt>
                <c:pt idx="134">
                  <c:v>124.430595912</c:v>
                </c:pt>
                <c:pt idx="135">
                  <c:v>125.603817396</c:v>
                </c:pt>
                <c:pt idx="136">
                  <c:v>127.66228793</c:v>
                </c:pt>
                <c:pt idx="137">
                  <c:v>126.496138454</c:v>
                </c:pt>
                <c:pt idx="138">
                  <c:v>125.939433667</c:v>
                </c:pt>
                <c:pt idx="139">
                  <c:v>125.701821042</c:v>
                </c:pt>
                <c:pt idx="140">
                  <c:v>125.895345469</c:v>
                </c:pt>
                <c:pt idx="141">
                  <c:v>125.686234811</c:v>
                </c:pt>
                <c:pt idx="142">
                  <c:v>127.014717663</c:v>
                </c:pt>
                <c:pt idx="143">
                  <c:v>128.830255508</c:v>
                </c:pt>
                <c:pt idx="144">
                  <c:v>130.375479887</c:v>
                </c:pt>
                <c:pt idx="145">
                  <c:v>135.876613666</c:v>
                </c:pt>
                <c:pt idx="146">
                  <c:v>137.791477617</c:v>
                </c:pt>
                <c:pt idx="147">
                  <c:v>138.194524579</c:v>
                </c:pt>
                <c:pt idx="148">
                  <c:v>137.953719459</c:v>
                </c:pt>
                <c:pt idx="149">
                  <c:v>139.054136203</c:v>
                </c:pt>
                <c:pt idx="150">
                  <c:v>141.100898508</c:v>
                </c:pt>
                <c:pt idx="151">
                  <c:v>140.875403821</c:v>
                </c:pt>
                <c:pt idx="152">
                  <c:v>142.742423689</c:v>
                </c:pt>
                <c:pt idx="153">
                  <c:v>139.890970872</c:v>
                </c:pt>
                <c:pt idx="154">
                  <c:v>137.934104011</c:v>
                </c:pt>
                <c:pt idx="155">
                  <c:v>139.323973396</c:v>
                </c:pt>
                <c:pt idx="156">
                  <c:v>141.597791899</c:v>
                </c:pt>
                <c:pt idx="157">
                  <c:v>141.726616027</c:v>
                </c:pt>
                <c:pt idx="158">
                  <c:v>143.375530854</c:v>
                </c:pt>
                <c:pt idx="159">
                  <c:v>145.621538095</c:v>
                </c:pt>
                <c:pt idx="160">
                  <c:v>150.022891301</c:v>
                </c:pt>
                <c:pt idx="161">
                  <c:v>151.1262335</c:v>
                </c:pt>
                <c:pt idx="162">
                  <c:v>151.877083457</c:v>
                </c:pt>
                <c:pt idx="163">
                  <c:v>154.129473685</c:v>
                </c:pt>
                <c:pt idx="164">
                  <c:v>154.817830295</c:v>
                </c:pt>
                <c:pt idx="165">
                  <c:v>156.404848583</c:v>
                </c:pt>
                <c:pt idx="166">
                  <c:v>156.27479534</c:v>
                </c:pt>
                <c:pt idx="167">
                  <c:v>158.811929144</c:v>
                </c:pt>
                <c:pt idx="168">
                  <c:v>160.12329019</c:v>
                </c:pt>
                <c:pt idx="169">
                  <c:v>161.496027829</c:v>
                </c:pt>
                <c:pt idx="170">
                  <c:v>163.051796066</c:v>
                </c:pt>
                <c:pt idx="171">
                  <c:v>163.62037599</c:v>
                </c:pt>
                <c:pt idx="172">
                  <c:v>163.633404917</c:v>
                </c:pt>
                <c:pt idx="173">
                  <c:v>162.038721182</c:v>
                </c:pt>
                <c:pt idx="174">
                  <c:v>161.947548362</c:v>
                </c:pt>
                <c:pt idx="175">
                  <c:v>164.052971319</c:v>
                </c:pt>
                <c:pt idx="176">
                  <c:v>166.254491323</c:v>
                </c:pt>
                <c:pt idx="177">
                  <c:v>164.478322804</c:v>
                </c:pt>
                <c:pt idx="178">
                  <c:v>166.771752598</c:v>
                </c:pt>
                <c:pt idx="179">
                  <c:v>169.428387142</c:v>
                </c:pt>
                <c:pt idx="180">
                  <c:v>168.811820027</c:v>
                </c:pt>
                <c:pt idx="181">
                  <c:v>168.02239142</c:v>
                </c:pt>
                <c:pt idx="182">
                  <c:v>168.139953427</c:v>
                </c:pt>
                <c:pt idx="183">
                  <c:v>169.081839079</c:v>
                </c:pt>
                <c:pt idx="184">
                  <c:v>171.072164119</c:v>
                </c:pt>
                <c:pt idx="185">
                  <c:v>172.63392712</c:v>
                </c:pt>
                <c:pt idx="186">
                  <c:v>174.199164548</c:v>
                </c:pt>
                <c:pt idx="187">
                  <c:v>176.117608799</c:v>
                </c:pt>
                <c:pt idx="188">
                  <c:v>178.081175949</c:v>
                </c:pt>
                <c:pt idx="189">
                  <c:v>180.417499507</c:v>
                </c:pt>
                <c:pt idx="190">
                  <c:v>180.035896938</c:v>
                </c:pt>
                <c:pt idx="191">
                  <c:v>181.600047839</c:v>
                </c:pt>
                <c:pt idx="192">
                  <c:v>183.916264922</c:v>
                </c:pt>
                <c:pt idx="193">
                  <c:v>186.969701716</c:v>
                </c:pt>
                <c:pt idx="194">
                  <c:v>189.227760942</c:v>
                </c:pt>
                <c:pt idx="195">
                  <c:v>190.11198887</c:v>
                </c:pt>
                <c:pt idx="196">
                  <c:v>192.56116535</c:v>
                </c:pt>
                <c:pt idx="197">
                  <c:v>194.027383119</c:v>
                </c:pt>
                <c:pt idx="198">
                  <c:v>194.337996395</c:v>
                </c:pt>
              </c:numCache>
            </c:numRef>
          </c:yVal>
        </c:ser>
        <c:ser>
          <c:idx val="1"/>
          <c:order val="1"/>
          <c:tx>
            <c:v>Carry + previsão</c:v>
          </c:tx>
          <c:spPr>
            <a:ln xmlns:a="http://schemas.openxmlformats.org/drawingml/2006/main" w="28575">
              <a:solidFill>
                <a:srgbClr val="007F7B"/>
              </a:solidFill>
            </a:ln>
          </c:spPr>
          <c:marker>
            <c:symbol val="none"/>
          </c:marker>
          <c:xVal>
            <c:numRef>
              <c:f>'Chart Data'!$C$2:$C$200</c:f>
              <c:numCache>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Cache>
            </c:numRef>
          </c:xVal>
          <c:yVal>
            <c:numRef>
              <c:f>'Chart Data'!$D$2:$D$200</c:f>
              <c:numCache>
                <c:formatCode>0.00</c:formatCode>
                <c:ptCount val="199"/>
                <c:pt idx="0">
                  <c:v>100</c:v>
                </c:pt>
                <c:pt idx="1">
                  <c:v>98.87437276</c:v>
                </c:pt>
                <c:pt idx="2">
                  <c:v>99.086900169</c:v>
                </c:pt>
                <c:pt idx="3">
                  <c:v>97.9677705471</c:v>
                </c:pt>
                <c:pt idx="4">
                  <c:v>99.2593470681</c:v>
                </c:pt>
                <c:pt idx="5">
                  <c:v>100.814480997</c:v>
                </c:pt>
                <c:pt idx="6">
                  <c:v>99.984290209</c:v>
                </c:pt>
                <c:pt idx="7">
                  <c:v>102.284896292</c:v>
                </c:pt>
                <c:pt idx="8">
                  <c:v>101.131161796</c:v>
                </c:pt>
                <c:pt idx="9">
                  <c:v>101.377697067</c:v>
                </c:pt>
                <c:pt idx="10">
                  <c:v>101.056037769</c:v>
                </c:pt>
                <c:pt idx="11">
                  <c:v>102.868985552</c:v>
                </c:pt>
                <c:pt idx="12">
                  <c:v>103.383121995</c:v>
                </c:pt>
                <c:pt idx="13">
                  <c:v>103.951027908</c:v>
                </c:pt>
                <c:pt idx="14">
                  <c:v>104.761293863</c:v>
                </c:pt>
                <c:pt idx="15">
                  <c:v>106.112149607</c:v>
                </c:pt>
                <c:pt idx="16">
                  <c:v>105.551926959</c:v>
                </c:pt>
                <c:pt idx="17">
                  <c:v>106.034908405</c:v>
                </c:pt>
                <c:pt idx="18">
                  <c:v>106.221403196</c:v>
                </c:pt>
                <c:pt idx="19">
                  <c:v>103.364603827</c:v>
                </c:pt>
                <c:pt idx="20">
                  <c:v>106.0133427</c:v>
                </c:pt>
                <c:pt idx="21">
                  <c:v>104.258752779</c:v>
                </c:pt>
                <c:pt idx="22">
                  <c:v>103.437060502</c:v>
                </c:pt>
                <c:pt idx="23">
                  <c:v>105.068171921</c:v>
                </c:pt>
                <c:pt idx="24">
                  <c:v>107.121493474</c:v>
                </c:pt>
                <c:pt idx="25">
                  <c:v>106.494431535</c:v>
                </c:pt>
                <c:pt idx="26">
                  <c:v>105.131808032</c:v>
                </c:pt>
                <c:pt idx="27">
                  <c:v>103.17151544</c:v>
                </c:pt>
                <c:pt idx="28">
                  <c:v>103.098982006</c:v>
                </c:pt>
                <c:pt idx="29">
                  <c:v>102.440164706</c:v>
                </c:pt>
                <c:pt idx="30">
                  <c:v>102.654062024</c:v>
                </c:pt>
                <c:pt idx="31">
                  <c:v>103.043442965</c:v>
                </c:pt>
                <c:pt idx="32">
                  <c:v>104.242321213</c:v>
                </c:pt>
                <c:pt idx="33">
                  <c:v>103.939477286</c:v>
                </c:pt>
                <c:pt idx="34">
                  <c:v>106.16561237</c:v>
                </c:pt>
                <c:pt idx="35">
                  <c:v>106.021178195</c:v>
                </c:pt>
                <c:pt idx="36">
                  <c:v>106.768359491</c:v>
                </c:pt>
                <c:pt idx="37">
                  <c:v>106.414163508</c:v>
                </c:pt>
                <c:pt idx="38">
                  <c:v>105.447402953</c:v>
                </c:pt>
                <c:pt idx="39">
                  <c:v>105.033945342</c:v>
                </c:pt>
                <c:pt idx="40">
                  <c:v>105.651037332</c:v>
                </c:pt>
                <c:pt idx="41">
                  <c:v>104.272639627</c:v>
                </c:pt>
                <c:pt idx="42">
                  <c:v>104.248981155</c:v>
                </c:pt>
                <c:pt idx="43">
                  <c:v>104.635757521</c:v>
                </c:pt>
                <c:pt idx="44">
                  <c:v>105.380918818</c:v>
                </c:pt>
                <c:pt idx="45">
                  <c:v>103.461569091</c:v>
                </c:pt>
                <c:pt idx="46">
                  <c:v>102.333903428</c:v>
                </c:pt>
                <c:pt idx="47">
                  <c:v>104.268665558</c:v>
                </c:pt>
                <c:pt idx="48">
                  <c:v>104.575136691</c:v>
                </c:pt>
                <c:pt idx="49">
                  <c:v>105.432902684</c:v>
                </c:pt>
                <c:pt idx="50">
                  <c:v>106.082981929</c:v>
                </c:pt>
                <c:pt idx="51">
                  <c:v>107.821052284</c:v>
                </c:pt>
                <c:pt idx="52">
                  <c:v>108.576390143</c:v>
                </c:pt>
                <c:pt idx="53">
                  <c:v>108.817245095</c:v>
                </c:pt>
                <c:pt idx="54">
                  <c:v>109.081497785</c:v>
                </c:pt>
                <c:pt idx="55">
                  <c:v>107.448708473</c:v>
                </c:pt>
                <c:pt idx="56">
                  <c:v>107.458013037</c:v>
                </c:pt>
                <c:pt idx="57">
                  <c:v>105.561009687</c:v>
                </c:pt>
                <c:pt idx="58">
                  <c:v>105.596225579</c:v>
                </c:pt>
                <c:pt idx="59">
                  <c:v>110.214809144</c:v>
                </c:pt>
                <c:pt idx="60">
                  <c:v>107.52142163</c:v>
                </c:pt>
                <c:pt idx="61">
                  <c:v>106.974868223</c:v>
                </c:pt>
                <c:pt idx="62">
                  <c:v>107.771189399</c:v>
                </c:pt>
                <c:pt idx="63">
                  <c:v>106.524877616</c:v>
                </c:pt>
                <c:pt idx="64">
                  <c:v>106.499361818</c:v>
                </c:pt>
                <c:pt idx="65">
                  <c:v>105.836819959</c:v>
                </c:pt>
                <c:pt idx="66">
                  <c:v>105.550662673</c:v>
                </c:pt>
                <c:pt idx="67">
                  <c:v>104.017824886</c:v>
                </c:pt>
                <c:pt idx="68">
                  <c:v>105.170925135</c:v>
                </c:pt>
                <c:pt idx="69">
                  <c:v>106.735896382</c:v>
                </c:pt>
                <c:pt idx="70">
                  <c:v>106.387524495</c:v>
                </c:pt>
                <c:pt idx="71">
                  <c:v>107.191511646</c:v>
                </c:pt>
                <c:pt idx="72">
                  <c:v>110.762212564</c:v>
                </c:pt>
                <c:pt idx="73">
                  <c:v>111.801734504</c:v>
                </c:pt>
                <c:pt idx="74">
                  <c:v>113.517718797</c:v>
                </c:pt>
                <c:pt idx="75">
                  <c:v>113.888678912</c:v>
                </c:pt>
                <c:pt idx="76">
                  <c:v>119.509171555</c:v>
                </c:pt>
                <c:pt idx="77">
                  <c:v>119.694139234</c:v>
                </c:pt>
                <c:pt idx="78">
                  <c:v>120.160722585</c:v>
                </c:pt>
                <c:pt idx="79">
                  <c:v>119.385663695</c:v>
                </c:pt>
                <c:pt idx="80">
                  <c:v>119.550569667</c:v>
                </c:pt>
                <c:pt idx="81">
                  <c:v>121.807984327</c:v>
                </c:pt>
                <c:pt idx="82">
                  <c:v>124.364295044</c:v>
                </c:pt>
                <c:pt idx="83">
                  <c:v>124.993967177</c:v>
                </c:pt>
                <c:pt idx="84">
                  <c:v>126.167886618</c:v>
                </c:pt>
                <c:pt idx="85">
                  <c:v>126.112242278</c:v>
                </c:pt>
                <c:pt idx="86">
                  <c:v>127.447888574</c:v>
                </c:pt>
                <c:pt idx="87">
                  <c:v>125.547661469</c:v>
                </c:pt>
                <c:pt idx="88">
                  <c:v>124.041418793</c:v>
                </c:pt>
                <c:pt idx="89">
                  <c:v>124.24546225</c:v>
                </c:pt>
                <c:pt idx="90">
                  <c:v>123.870384296</c:v>
                </c:pt>
                <c:pt idx="91">
                  <c:v>124.734486148</c:v>
                </c:pt>
                <c:pt idx="92">
                  <c:v>125.438804588</c:v>
                </c:pt>
                <c:pt idx="93">
                  <c:v>125.477279605</c:v>
                </c:pt>
                <c:pt idx="94">
                  <c:v>123.953302922</c:v>
                </c:pt>
                <c:pt idx="95">
                  <c:v>124.917229972</c:v>
                </c:pt>
                <c:pt idx="96">
                  <c:v>126.758306027</c:v>
                </c:pt>
                <c:pt idx="97">
                  <c:v>126.509504722</c:v>
                </c:pt>
                <c:pt idx="98">
                  <c:v>126.506133282</c:v>
                </c:pt>
                <c:pt idx="99">
                  <c:v>126.649376683</c:v>
                </c:pt>
                <c:pt idx="100">
                  <c:v>126.279323681</c:v>
                </c:pt>
                <c:pt idx="101">
                  <c:v>127.657909792</c:v>
                </c:pt>
                <c:pt idx="102">
                  <c:v>123.519004355</c:v>
                </c:pt>
                <c:pt idx="103">
                  <c:v>124.391003899</c:v>
                </c:pt>
                <c:pt idx="104">
                  <c:v>127.5925989</c:v>
                </c:pt>
                <c:pt idx="105">
                  <c:v>126.854289557</c:v>
                </c:pt>
                <c:pt idx="106">
                  <c:v>127.623139973</c:v>
                </c:pt>
                <c:pt idx="107">
                  <c:v>129.467976733</c:v>
                </c:pt>
                <c:pt idx="108">
                  <c:v>130.459677406</c:v>
                </c:pt>
                <c:pt idx="109">
                  <c:v>129.732741641</c:v>
                </c:pt>
                <c:pt idx="110">
                  <c:v>129.376372507</c:v>
                </c:pt>
                <c:pt idx="111">
                  <c:v>129.502994133</c:v>
                </c:pt>
                <c:pt idx="112">
                  <c:v>130.327914971</c:v>
                </c:pt>
                <c:pt idx="113">
                  <c:v>131.013833498</c:v>
                </c:pt>
                <c:pt idx="114">
                  <c:v>128.197793928</c:v>
                </c:pt>
                <c:pt idx="115">
                  <c:v>129.133281523</c:v>
                </c:pt>
                <c:pt idx="116">
                  <c:v>130.704914113</c:v>
                </c:pt>
                <c:pt idx="117">
                  <c:v>130.215128346</c:v>
                </c:pt>
                <c:pt idx="118">
                  <c:v>131.550482221</c:v>
                </c:pt>
                <c:pt idx="119">
                  <c:v>129.76751522</c:v>
                </c:pt>
                <c:pt idx="120">
                  <c:v>128.929090432</c:v>
                </c:pt>
                <c:pt idx="121">
                  <c:v>125.400867509</c:v>
                </c:pt>
                <c:pt idx="122">
                  <c:v>124.994342738</c:v>
                </c:pt>
                <c:pt idx="123">
                  <c:v>125.964102784</c:v>
                </c:pt>
                <c:pt idx="124">
                  <c:v>125.329680285</c:v>
                </c:pt>
                <c:pt idx="125">
                  <c:v>127.207042219</c:v>
                </c:pt>
                <c:pt idx="126">
                  <c:v>124.884710361</c:v>
                </c:pt>
                <c:pt idx="127">
                  <c:v>123.530480668</c:v>
                </c:pt>
                <c:pt idx="128">
                  <c:v>123.355753276</c:v>
                </c:pt>
                <c:pt idx="129">
                  <c:v>125.93569488</c:v>
                </c:pt>
                <c:pt idx="130">
                  <c:v>126.572708403</c:v>
                </c:pt>
                <c:pt idx="131">
                  <c:v>124.817538262</c:v>
                </c:pt>
                <c:pt idx="132">
                  <c:v>123.994745793</c:v>
                </c:pt>
                <c:pt idx="133">
                  <c:v>122.333027356</c:v>
                </c:pt>
                <c:pt idx="134">
                  <c:v>123.471123707</c:v>
                </c:pt>
                <c:pt idx="135">
                  <c:v>123.15664236</c:v>
                </c:pt>
                <c:pt idx="136">
                  <c:v>126.217169901</c:v>
                </c:pt>
                <c:pt idx="137">
                  <c:v>125.847034125</c:v>
                </c:pt>
                <c:pt idx="138">
                  <c:v>125.931435313</c:v>
                </c:pt>
                <c:pt idx="139">
                  <c:v>125.201938712</c:v>
                </c:pt>
                <c:pt idx="140">
                  <c:v>122.371402078</c:v>
                </c:pt>
                <c:pt idx="141">
                  <c:v>124.769137051</c:v>
                </c:pt>
                <c:pt idx="142">
                  <c:v>124.492284655</c:v>
                </c:pt>
                <c:pt idx="143">
                  <c:v>126.325393709</c:v>
                </c:pt>
                <c:pt idx="144">
                  <c:v>127.709085127</c:v>
                </c:pt>
                <c:pt idx="145">
                  <c:v>128.662376004</c:v>
                </c:pt>
                <c:pt idx="146">
                  <c:v>128.3141106</c:v>
                </c:pt>
                <c:pt idx="147">
                  <c:v>129.30065201</c:v>
                </c:pt>
                <c:pt idx="148">
                  <c:v>126.491879315</c:v>
                </c:pt>
                <c:pt idx="149">
                  <c:v>128.210808302</c:v>
                </c:pt>
                <c:pt idx="150">
                  <c:v>128.978494222</c:v>
                </c:pt>
                <c:pt idx="151">
                  <c:v>128.983022799</c:v>
                </c:pt>
                <c:pt idx="152">
                  <c:v>128.40719917</c:v>
                </c:pt>
                <c:pt idx="153">
                  <c:v>129.335055582</c:v>
                </c:pt>
                <c:pt idx="154">
                  <c:v>130.964961923</c:v>
                </c:pt>
                <c:pt idx="155">
                  <c:v>132.361905216</c:v>
                </c:pt>
                <c:pt idx="156">
                  <c:v>133.522488166</c:v>
                </c:pt>
                <c:pt idx="157">
                  <c:v>134.474988901</c:v>
                </c:pt>
                <c:pt idx="158">
                  <c:v>134.826981179</c:v>
                </c:pt>
                <c:pt idx="159">
                  <c:v>134.22586835</c:v>
                </c:pt>
                <c:pt idx="160">
                  <c:v>133.730411905</c:v>
                </c:pt>
                <c:pt idx="161">
                  <c:v>135.961798001</c:v>
                </c:pt>
                <c:pt idx="162">
                  <c:v>135.949192017</c:v>
                </c:pt>
                <c:pt idx="163">
                  <c:v>135.558785254</c:v>
                </c:pt>
                <c:pt idx="164">
                  <c:v>136.438286966</c:v>
                </c:pt>
                <c:pt idx="165">
                  <c:v>137.121877411</c:v>
                </c:pt>
                <c:pt idx="166">
                  <c:v>138.545260707</c:v>
                </c:pt>
                <c:pt idx="167">
                  <c:v>138.088093808</c:v>
                </c:pt>
                <c:pt idx="168">
                  <c:v>138.415413766</c:v>
                </c:pt>
                <c:pt idx="169">
                  <c:v>138.754459221</c:v>
                </c:pt>
                <c:pt idx="170">
                  <c:v>137.824584946</c:v>
                </c:pt>
                <c:pt idx="171">
                  <c:v>137.364425718</c:v>
                </c:pt>
                <c:pt idx="172">
                  <c:v>135.934432952</c:v>
                </c:pt>
                <c:pt idx="173">
                  <c:v>138.080385286</c:v>
                </c:pt>
                <c:pt idx="174">
                  <c:v>138.236548941</c:v>
                </c:pt>
                <c:pt idx="175">
                  <c:v>140.577719664</c:v>
                </c:pt>
                <c:pt idx="176">
                  <c:v>138.687276037</c:v>
                </c:pt>
                <c:pt idx="177">
                  <c:v>139.252807342</c:v>
                </c:pt>
                <c:pt idx="178">
                  <c:v>139.342364109</c:v>
                </c:pt>
                <c:pt idx="179">
                  <c:v>142.69959881</c:v>
                </c:pt>
                <c:pt idx="180">
                  <c:v>144.247254244</c:v>
                </c:pt>
                <c:pt idx="181">
                  <c:v>144.039743967</c:v>
                </c:pt>
                <c:pt idx="182">
                  <c:v>144.216180914</c:v>
                </c:pt>
                <c:pt idx="183">
                  <c:v>144.419831107</c:v>
                </c:pt>
                <c:pt idx="184">
                  <c:v>144.704246136</c:v>
                </c:pt>
                <c:pt idx="185">
                  <c:v>144.844083804</c:v>
                </c:pt>
                <c:pt idx="186">
                  <c:v>145.993023578</c:v>
                </c:pt>
                <c:pt idx="187">
                  <c:v>147.537093681</c:v>
                </c:pt>
                <c:pt idx="188">
                  <c:v>147.850207937</c:v>
                </c:pt>
                <c:pt idx="189">
                  <c:v>148.354492927</c:v>
                </c:pt>
                <c:pt idx="190">
                  <c:v>146.563211719</c:v>
                </c:pt>
                <c:pt idx="191">
                  <c:v>148.757521624</c:v>
                </c:pt>
                <c:pt idx="192">
                  <c:v>150.266557136</c:v>
                </c:pt>
                <c:pt idx="193">
                  <c:v>152.573023255</c:v>
                </c:pt>
                <c:pt idx="194">
                  <c:v>154.262023985</c:v>
                </c:pt>
                <c:pt idx="195">
                  <c:v>154.418015456</c:v>
                </c:pt>
                <c:pt idx="196">
                  <c:v>155.414705904</c:v>
                </c:pt>
                <c:pt idx="197">
                  <c:v>156.779760558</c:v>
                </c:pt>
                <c:pt idx="198">
                  <c:v>155.940120577</c:v>
                </c:pt>
              </c:numCache>
            </c:numRef>
          </c:yVal>
        </c:ser>
        <c:ser>
          <c:idx val="2"/>
          <c:order val="2"/>
          <c:tx>
            <c:v>Caixa USD</c:v>
          </c:tx>
          <c:spPr>
            <a:ln xmlns:a="http://schemas.openxmlformats.org/drawingml/2006/main" w="19050">
              <a:solidFill>
                <a:srgbClr val="9DA8AF"/>
              </a:solidFill>
            </a:ln>
          </c:spPr>
          <c:marker>
            <c:symbol val="none"/>
          </c:marker>
          <c:xVal>
            <c:numRef>
              <c:f>'Chart Data'!$E$2:$E$200</c:f>
              <c:numCache>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Cache>
            </c:numRef>
          </c:xVal>
          <c:yVal>
            <c:numRef>
              <c:f>'Chart Data'!$F$2:$F$200</c:f>
              <c:numCache>
                <c:formatCode>0.00</c:formatCode>
                <c:ptCount val="199"/>
                <c:pt idx="0">
                  <c:v>100</c:v>
                </c:pt>
                <c:pt idx="1">
                  <c:v>100.0104107</c:v>
                </c:pt>
                <c:pt idx="2">
                  <c:v>100.020822484</c:v>
                </c:pt>
                <c:pt idx="3">
                  <c:v>100.031235352</c:v>
                </c:pt>
                <c:pt idx="4">
                  <c:v>100.041649303</c:v>
                </c:pt>
                <c:pt idx="5">
                  <c:v>100.052064339</c:v>
                </c:pt>
                <c:pt idx="6">
                  <c:v>100.06248046</c:v>
                </c:pt>
                <c:pt idx="7">
                  <c:v>100.072897664</c:v>
                </c:pt>
                <c:pt idx="8">
                  <c:v>100.083315953</c:v>
                </c:pt>
                <c:pt idx="9">
                  <c:v>100.093735327</c:v>
                </c:pt>
                <c:pt idx="10">
                  <c:v>100.104155786</c:v>
                </c:pt>
                <c:pt idx="11">
                  <c:v>100.114577329</c:v>
                </c:pt>
                <c:pt idx="12">
                  <c:v>100.124999957</c:v>
                </c:pt>
                <c:pt idx="13">
                  <c:v>100.135423671</c:v>
                </c:pt>
                <c:pt idx="14">
                  <c:v>100.145848469</c:v>
                </c:pt>
                <c:pt idx="15">
                  <c:v>100.156274353</c:v>
                </c:pt>
                <c:pt idx="16">
                  <c:v>100.166701322</c:v>
                </c:pt>
                <c:pt idx="17">
                  <c:v>100.177129377</c:v>
                </c:pt>
                <c:pt idx="18">
                  <c:v>100.187558518</c:v>
                </c:pt>
                <c:pt idx="19">
                  <c:v>100.197988744</c:v>
                </c:pt>
                <c:pt idx="20">
                  <c:v>100.208420056</c:v>
                </c:pt>
                <c:pt idx="21">
                  <c:v>100.218852454</c:v>
                </c:pt>
                <c:pt idx="22">
                  <c:v>100.229285938</c:v>
                </c:pt>
                <c:pt idx="23">
                  <c:v>100.239720508</c:v>
                </c:pt>
                <c:pt idx="24">
                  <c:v>100.250156165</c:v>
                </c:pt>
                <c:pt idx="25">
                  <c:v>100.260592908</c:v>
                </c:pt>
                <c:pt idx="26">
                  <c:v>100.271030737</c:v>
                </c:pt>
                <c:pt idx="27">
                  <c:v>100.281469653</c:v>
                </c:pt>
                <c:pt idx="28">
                  <c:v>100.291909656</c:v>
                </c:pt>
                <c:pt idx="29">
                  <c:v>100.302350746</c:v>
                </c:pt>
                <c:pt idx="30">
                  <c:v>100.312792923</c:v>
                </c:pt>
                <c:pt idx="31">
                  <c:v>100.323236187</c:v>
                </c:pt>
                <c:pt idx="32">
                  <c:v>100.333680538</c:v>
                </c:pt>
                <c:pt idx="33">
                  <c:v>100.344125977</c:v>
                </c:pt>
                <c:pt idx="34">
                  <c:v>100.354572503</c:v>
                </c:pt>
                <c:pt idx="35">
                  <c:v>100.365020116</c:v>
                </c:pt>
                <c:pt idx="36">
                  <c:v>100.375468817</c:v>
                </c:pt>
                <c:pt idx="37">
                  <c:v>100.385918606</c:v>
                </c:pt>
                <c:pt idx="38">
                  <c:v>100.396369483</c:v>
                </c:pt>
                <c:pt idx="39">
                  <c:v>100.406821448</c:v>
                </c:pt>
                <c:pt idx="40">
                  <c:v>100.417274501</c:v>
                </c:pt>
                <c:pt idx="41">
                  <c:v>100.427728642</c:v>
                </c:pt>
                <c:pt idx="42">
                  <c:v>100.438183871</c:v>
                </c:pt>
                <c:pt idx="43">
                  <c:v>100.448640189</c:v>
                </c:pt>
                <c:pt idx="44">
                  <c:v>100.459097596</c:v>
                </c:pt>
                <c:pt idx="45">
                  <c:v>100.469556091</c:v>
                </c:pt>
                <c:pt idx="46">
                  <c:v>100.480015675</c:v>
                </c:pt>
                <c:pt idx="47">
                  <c:v>100.490476348</c:v>
                </c:pt>
                <c:pt idx="48">
                  <c:v>100.50093811</c:v>
                </c:pt>
                <c:pt idx="49">
                  <c:v>100.511400962</c:v>
                </c:pt>
                <c:pt idx="50">
                  <c:v>100.521864902</c:v>
                </c:pt>
                <c:pt idx="51">
                  <c:v>100.532329932</c:v>
                </c:pt>
                <c:pt idx="52">
                  <c:v>100.542796051</c:v>
                </c:pt>
                <c:pt idx="53">
                  <c:v>100.55326326</c:v>
                </c:pt>
                <c:pt idx="54">
                  <c:v>100.563731559</c:v>
                </c:pt>
                <c:pt idx="55">
                  <c:v>100.574200947</c:v>
                </c:pt>
                <c:pt idx="56">
                  <c:v>100.584671425</c:v>
                </c:pt>
                <c:pt idx="57">
                  <c:v>100.595142994</c:v>
                </c:pt>
                <c:pt idx="58">
                  <c:v>100.605615652</c:v>
                </c:pt>
                <c:pt idx="59">
                  <c:v>100.616089401</c:v>
                </c:pt>
                <c:pt idx="60">
                  <c:v>100.62656424</c:v>
                </c:pt>
                <c:pt idx="61">
                  <c:v>100.63704017</c:v>
                </c:pt>
                <c:pt idx="62">
                  <c:v>100.64751719</c:v>
                </c:pt>
                <c:pt idx="63">
                  <c:v>100.657995301</c:v>
                </c:pt>
                <c:pt idx="64">
                  <c:v>100.668474503</c:v>
                </c:pt>
                <c:pt idx="65">
                  <c:v>100.678954796</c:v>
                </c:pt>
                <c:pt idx="66">
                  <c:v>100.68943618</c:v>
                </c:pt>
                <c:pt idx="67">
                  <c:v>100.699918655</c:v>
                </c:pt>
                <c:pt idx="68">
                  <c:v>100.710402222</c:v>
                </c:pt>
                <c:pt idx="69">
                  <c:v>100.72088688</c:v>
                </c:pt>
                <c:pt idx="70">
                  <c:v>100.731372629</c:v>
                </c:pt>
                <c:pt idx="71">
                  <c:v>100.762797211</c:v>
                </c:pt>
                <c:pt idx="72">
                  <c:v>100.794231596</c:v>
                </c:pt>
                <c:pt idx="73">
                  <c:v>100.825675788</c:v>
                </c:pt>
                <c:pt idx="74">
                  <c:v>100.85712979</c:v>
                </c:pt>
                <c:pt idx="75">
                  <c:v>100.888593603</c:v>
                </c:pt>
                <c:pt idx="76">
                  <c:v>100.920067233</c:v>
                </c:pt>
                <c:pt idx="77">
                  <c:v>100.951550681</c:v>
                </c:pt>
                <c:pt idx="78">
                  <c:v>100.983043951</c:v>
                </c:pt>
                <c:pt idx="79">
                  <c:v>101.014547045</c:v>
                </c:pt>
                <c:pt idx="80">
                  <c:v>101.046059967</c:v>
                </c:pt>
                <c:pt idx="81">
                  <c:v>101.077582721</c:v>
                </c:pt>
                <c:pt idx="82">
                  <c:v>101.109115308</c:v>
                </c:pt>
                <c:pt idx="83">
                  <c:v>101.161626054</c:v>
                </c:pt>
                <c:pt idx="84">
                  <c:v>101.214164071</c:v>
                </c:pt>
                <c:pt idx="85">
                  <c:v>101.266729374</c:v>
                </c:pt>
                <c:pt idx="86">
                  <c:v>101.340275207</c:v>
                </c:pt>
                <c:pt idx="87">
                  <c:v>101.413874454</c:v>
                </c:pt>
                <c:pt idx="88">
                  <c:v>101.487527152</c:v>
                </c:pt>
                <c:pt idx="89">
                  <c:v>101.582184619</c:v>
                </c:pt>
                <c:pt idx="90">
                  <c:v>101.676930374</c:v>
                </c:pt>
                <c:pt idx="91">
                  <c:v>101.771764498</c:v>
                </c:pt>
                <c:pt idx="92">
                  <c:v>101.866687073</c:v>
                </c:pt>
                <c:pt idx="93">
                  <c:v>101.961698183</c:v>
                </c:pt>
                <c:pt idx="94">
                  <c:v>102.05679791</c:v>
                </c:pt>
                <c:pt idx="95">
                  <c:v>102.173007434</c:v>
                </c:pt>
                <c:pt idx="96">
                  <c:v>102.289349284</c:v>
                </c:pt>
                <c:pt idx="97">
                  <c:v>102.405823608</c:v>
                </c:pt>
                <c:pt idx="98">
                  <c:v>102.543475919</c:v>
                </c:pt>
                <c:pt idx="99">
                  <c:v>102.68131326</c:v>
                </c:pt>
                <c:pt idx="100">
                  <c:v>102.819335879</c:v>
                </c:pt>
                <c:pt idx="101">
                  <c:v>102.978626782</c:v>
                </c:pt>
                <c:pt idx="102">
                  <c:v>103.138164463</c:v>
                </c:pt>
                <c:pt idx="103">
                  <c:v>103.297949304</c:v>
                </c:pt>
                <c:pt idx="104">
                  <c:v>103.479114973</c:v>
                </c:pt>
                <c:pt idx="105">
                  <c:v>103.660598373</c:v>
                </c:pt>
                <c:pt idx="106">
                  <c:v>103.842400061</c:v>
                </c:pt>
                <c:pt idx="107">
                  <c:v>104.045717665</c:v>
                </c:pt>
                <c:pt idx="108">
                  <c:v>104.249433354</c:v>
                </c:pt>
                <c:pt idx="109">
                  <c:v>104.453547907</c:v>
                </c:pt>
                <c:pt idx="110">
                  <c:v>104.658062104</c:v>
                </c:pt>
                <c:pt idx="111">
                  <c:v>104.862976729</c:v>
                </c:pt>
                <c:pt idx="112">
                  <c:v>105.068292565</c:v>
                </c:pt>
                <c:pt idx="113">
                  <c:v>105.274010398</c:v>
                </c:pt>
                <c:pt idx="114">
                  <c:v>105.480131015</c:v>
                </c:pt>
                <c:pt idx="115">
                  <c:v>105.66512383</c:v>
                </c:pt>
                <c:pt idx="116">
                  <c:v>105.828823516</c:v>
                </c:pt>
                <c:pt idx="117">
                  <c:v>105.971076969</c:v>
                </c:pt>
                <c:pt idx="118">
                  <c:v>106.113521638</c:v>
                </c:pt>
                <c:pt idx="119">
                  <c:v>106.256157778</c:v>
                </c:pt>
                <c:pt idx="120">
                  <c:v>106.398985648</c:v>
                </c:pt>
                <c:pt idx="121">
                  <c:v>106.542005505</c:v>
                </c:pt>
                <c:pt idx="122">
                  <c:v>106.553097273</c:v>
                </c:pt>
                <c:pt idx="123">
                  <c:v>106.564190197</c:v>
                </c:pt>
                <c:pt idx="124">
                  <c:v>106.575284275</c:v>
                </c:pt>
                <c:pt idx="125">
                  <c:v>106.586379508</c:v>
                </c:pt>
                <c:pt idx="126">
                  <c:v>106.597475896</c:v>
                </c:pt>
                <c:pt idx="127">
                  <c:v>106.608573439</c:v>
                </c:pt>
                <c:pt idx="128">
                  <c:v>106.619672138</c:v>
                </c:pt>
                <c:pt idx="129">
                  <c:v>106.630771992</c:v>
                </c:pt>
                <c:pt idx="130">
                  <c:v>106.641873002</c:v>
                </c:pt>
                <c:pt idx="131">
                  <c:v>106.652975168</c:v>
                </c:pt>
                <c:pt idx="132">
                  <c:v>106.664078489</c:v>
                </c:pt>
                <c:pt idx="133">
                  <c:v>106.675182966</c:v>
                </c:pt>
                <c:pt idx="134">
                  <c:v>106.686288599</c:v>
                </c:pt>
                <c:pt idx="135">
                  <c:v>106.697395389</c:v>
                </c:pt>
                <c:pt idx="136">
                  <c:v>106.708503335</c:v>
                </c:pt>
                <c:pt idx="137">
                  <c:v>106.719612437</c:v>
                </c:pt>
                <c:pt idx="138">
                  <c:v>106.730722695</c:v>
                </c:pt>
                <c:pt idx="139">
                  <c:v>106.741834111</c:v>
                </c:pt>
                <c:pt idx="140">
                  <c:v>106.752946683</c:v>
                </c:pt>
                <c:pt idx="141">
                  <c:v>106.764060412</c:v>
                </c:pt>
                <c:pt idx="142">
                  <c:v>106.775175298</c:v>
                </c:pt>
                <c:pt idx="143">
                  <c:v>106.786291341</c:v>
                </c:pt>
                <c:pt idx="144">
                  <c:v>106.797408542</c:v>
                </c:pt>
                <c:pt idx="145">
                  <c:v>106.808526899</c:v>
                </c:pt>
                <c:pt idx="146">
                  <c:v>106.841847336</c:v>
                </c:pt>
                <c:pt idx="147">
                  <c:v>106.875178167</c:v>
                </c:pt>
                <c:pt idx="148">
                  <c:v>106.952797185</c:v>
                </c:pt>
                <c:pt idx="149">
                  <c:v>107.096561466</c:v>
                </c:pt>
                <c:pt idx="150">
                  <c:v>107.306250536</c:v>
                </c:pt>
                <c:pt idx="151">
                  <c:v>107.516350166</c:v>
                </c:pt>
                <c:pt idx="152">
                  <c:v>107.792408662</c:v>
                </c:pt>
                <c:pt idx="153">
                  <c:v>108.069175966</c:v>
                </c:pt>
                <c:pt idx="154">
                  <c:v>108.412100664</c:v>
                </c:pt>
                <c:pt idx="155">
                  <c:v>108.799642181</c:v>
                </c:pt>
                <c:pt idx="156">
                  <c:v>109.188569045</c:v>
                </c:pt>
                <c:pt idx="157">
                  <c:v>109.600734263</c:v>
                </c:pt>
                <c:pt idx="158">
                  <c:v>110.036337877</c:v>
                </c:pt>
                <c:pt idx="159">
                  <c:v>110.473672779</c:v>
                </c:pt>
                <c:pt idx="160">
                  <c:v>110.934754538</c:v>
                </c:pt>
                <c:pt idx="161">
                  <c:v>111.397760704</c:v>
                </c:pt>
                <c:pt idx="162">
                  <c:v>111.88484377</c:v>
                </c:pt>
                <c:pt idx="163">
                  <c:v>112.374056591</c:v>
                </c:pt>
                <c:pt idx="164">
                  <c:v>112.865408479</c:v>
                </c:pt>
                <c:pt idx="165">
                  <c:v>113.358908787</c:v>
                </c:pt>
                <c:pt idx="166">
                  <c:v>113.854566909</c:v>
                </c:pt>
                <c:pt idx="167">
                  <c:v>114.352392279</c:v>
                </c:pt>
                <c:pt idx="168">
                  <c:v>114.852394375</c:v>
                </c:pt>
                <c:pt idx="169">
                  <c:v>115.354582714</c:v>
                </c:pt>
                <c:pt idx="170">
                  <c:v>115.858966855</c:v>
                </c:pt>
                <c:pt idx="171">
                  <c:v>116.365556399</c:v>
                </c:pt>
                <c:pt idx="172">
                  <c:v>116.874360989</c:v>
                </c:pt>
                <c:pt idx="173">
                  <c:v>117.385390311</c:v>
                </c:pt>
                <c:pt idx="174">
                  <c:v>117.898654091</c:v>
                </c:pt>
                <c:pt idx="175">
                  <c:v>118.414162101</c:v>
                </c:pt>
                <c:pt idx="176">
                  <c:v>118.884794322</c:v>
                </c:pt>
                <c:pt idx="177">
                  <c:v>119.35729705</c:v>
                </c:pt>
                <c:pt idx="178">
                  <c:v>119.807847202</c:v>
                </c:pt>
                <c:pt idx="179">
                  <c:v>120.236125176</c:v>
                </c:pt>
                <c:pt idx="180">
                  <c:v>120.665934118</c:v>
                </c:pt>
                <c:pt idx="181">
                  <c:v>121.097279502</c:v>
                </c:pt>
                <c:pt idx="182">
                  <c:v>121.530166819</c:v>
                </c:pt>
                <c:pt idx="183">
                  <c:v>121.964601581</c:v>
                </c:pt>
                <c:pt idx="184">
                  <c:v>122.400589321</c:v>
                </c:pt>
                <c:pt idx="185">
                  <c:v>122.838135589</c:v>
                </c:pt>
                <c:pt idx="186">
                  <c:v>123.277245956</c:v>
                </c:pt>
                <c:pt idx="187">
                  <c:v>123.717926015</c:v>
                </c:pt>
                <c:pt idx="188">
                  <c:v>124.135371651</c:v>
                </c:pt>
                <c:pt idx="189">
                  <c:v>124.529277541</c:v>
                </c:pt>
                <c:pt idx="190">
                  <c:v>124.924433371</c:v>
                </c:pt>
                <c:pt idx="191">
                  <c:v>125.295680804</c:v>
                </c:pt>
                <c:pt idx="192">
                  <c:v>125.668031501</c:v>
                </c:pt>
                <c:pt idx="193">
                  <c:v>126.041488741</c:v>
                </c:pt>
                <c:pt idx="194">
                  <c:v>126.416055812</c:v>
                </c:pt>
                <c:pt idx="195">
                  <c:v>126.791736013</c:v>
                </c:pt>
                <c:pt idx="196">
                  <c:v>127.168532651</c:v>
                </c:pt>
                <c:pt idx="197">
                  <c:v>127.546449044</c:v>
                </c:pt>
                <c:pt idx="198">
                  <c:v>127.92548852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5"/>
          <c:min val="9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Patrimônio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25"/>
      </c:valAx>
      <c:valAx>
        <c:axId val="48650112"/>
        <c:scaling>
          <c:orientation val="minMax"/>
          <c:max val="2027"/>
          <c:min val="2010"/>
        </c:scaling>
        <c:delete val="0"/>
        <c:axPos val="b"/>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4"/>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Carry por juros</c:v>
          </c:tx>
          <c:spPr>
            <a:ln xmlns:a="http://schemas.openxmlformats.org/drawingml/2006/main" w="28575">
              <a:solidFill>
                <a:srgbClr val="15354D"/>
              </a:solidFill>
            </a:ln>
          </c:spPr>
          <c:marker>
            <c:symbol val="none"/>
          </c:marker>
          <c:xVal>
            <c:numRef>
              <c:f>'Chart Data'!$A$2:$A$103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Data'!$B$2:$B$103</c:f>
              <c:numCache>
                <c:formatCode>0.00</c:formatCode>
                <c:ptCount val="102"/>
                <c:pt idx="0">
                  <c:v>100</c:v>
                </c:pt>
                <c:pt idx="1">
                  <c:v>100.71934841</c:v>
                </c:pt>
                <c:pt idx="2">
                  <c:v>100.322302203</c:v>
                </c:pt>
                <c:pt idx="3">
                  <c:v>99.698002847</c:v>
                </c:pt>
                <c:pt idx="4">
                  <c:v>100.373656701</c:v>
                </c:pt>
                <c:pt idx="5">
                  <c:v>99.2549664106</c:v>
                </c:pt>
                <c:pt idx="6">
                  <c:v>100.124291282</c:v>
                </c:pt>
                <c:pt idx="7">
                  <c:v>103.710174419</c:v>
                </c:pt>
                <c:pt idx="8">
                  <c:v>102.273508455</c:v>
                </c:pt>
                <c:pt idx="9">
                  <c:v>101.303361498</c:v>
                </c:pt>
                <c:pt idx="10">
                  <c:v>104.252071653</c:v>
                </c:pt>
                <c:pt idx="11">
                  <c:v>104.617167642</c:v>
                </c:pt>
                <c:pt idx="12">
                  <c:v>104.150409036</c:v>
                </c:pt>
                <c:pt idx="13">
                  <c:v>104.86036462</c:v>
                </c:pt>
                <c:pt idx="14">
                  <c:v>104.930386964</c:v>
                </c:pt>
                <c:pt idx="15">
                  <c:v>106.103195945</c:v>
                </c:pt>
                <c:pt idx="16">
                  <c:v>107.957742778</c:v>
                </c:pt>
                <c:pt idx="17">
                  <c:v>106.613506263</c:v>
                </c:pt>
                <c:pt idx="18">
                  <c:v>107.37181535</c:v>
                </c:pt>
                <c:pt idx="19">
                  <c:v>107.849787278</c:v>
                </c:pt>
                <c:pt idx="20">
                  <c:v>106.492892737</c:v>
                </c:pt>
                <c:pt idx="21">
                  <c:v>107.460389187</c:v>
                </c:pt>
                <c:pt idx="22">
                  <c:v>107.125094655</c:v>
                </c:pt>
                <c:pt idx="23">
                  <c:v>106.025103845</c:v>
                </c:pt>
                <c:pt idx="24">
                  <c:v>101.093430557</c:v>
                </c:pt>
                <c:pt idx="25">
                  <c:v>100.744825006</c:v>
                </c:pt>
                <c:pt idx="26">
                  <c:v>100.75422077</c:v>
                </c:pt>
                <c:pt idx="27">
                  <c:v>100.429772996</c:v>
                </c:pt>
                <c:pt idx="28">
                  <c:v>100.262136874</c:v>
                </c:pt>
                <c:pt idx="29">
                  <c:v>99.8492002049</c:v>
                </c:pt>
                <c:pt idx="30">
                  <c:v>98.6613571051</c:v>
                </c:pt>
                <c:pt idx="31">
                  <c:v>98.1413497346</c:v>
                </c:pt>
                <c:pt idx="32">
                  <c:v>100.362047503</c:v>
                </c:pt>
                <c:pt idx="33">
                  <c:v>100.474404371</c:v>
                </c:pt>
                <c:pt idx="34">
                  <c:v>99.752096078</c:v>
                </c:pt>
                <c:pt idx="35">
                  <c:v>100.420418294</c:v>
                </c:pt>
                <c:pt idx="36">
                  <c:v>101.294071685</c:v>
                </c:pt>
                <c:pt idx="37">
                  <c:v>102.743644063</c:v>
                </c:pt>
                <c:pt idx="38">
                  <c:v>103.71238531</c:v>
                </c:pt>
                <c:pt idx="39">
                  <c:v>105.412085953</c:v>
                </c:pt>
                <c:pt idx="40">
                  <c:v>104.449184137</c:v>
                </c:pt>
                <c:pt idx="41">
                  <c:v>103.989507174</c:v>
                </c:pt>
                <c:pt idx="42">
                  <c:v>103.793307945</c:v>
                </c:pt>
                <c:pt idx="43">
                  <c:v>103.953103088</c:v>
                </c:pt>
                <c:pt idx="44">
                  <c:v>103.780438231</c:v>
                </c:pt>
                <c:pt idx="45">
                  <c:v>104.877380412</c:v>
                </c:pt>
                <c:pt idx="46">
                  <c:v>106.376488994</c:v>
                </c:pt>
                <c:pt idx="47">
                  <c:v>107.65239692</c:v>
                </c:pt>
                <c:pt idx="48">
                  <c:v>112.1947406</c:v>
                </c:pt>
                <c:pt idx="49">
                  <c:v>113.775863786</c:v>
                </c:pt>
                <c:pt idx="50">
                  <c:v>114.108663876</c:v>
                </c:pt>
                <c:pt idx="51">
                  <c:v>113.909828571</c:v>
                </c:pt>
                <c:pt idx="52">
                  <c:v>114.818454183</c:v>
                </c:pt>
                <c:pt idx="53">
                  <c:v>116.508487218</c:v>
                </c:pt>
                <c:pt idx="54">
                  <c:v>116.322293898</c:v>
                </c:pt>
                <c:pt idx="55">
                  <c:v>117.863911723</c:v>
                </c:pt>
                <c:pt idx="56">
                  <c:v>115.509437318</c:v>
                </c:pt>
                <c:pt idx="57">
                  <c:v>113.893631891</c:v>
                </c:pt>
                <c:pt idx="58">
                  <c:v>115.041261574</c:v>
                </c:pt>
                <c:pt idx="59">
                  <c:v>116.918777286</c:v>
                </c:pt>
                <c:pt idx="60">
                  <c:v>117.025148716</c:v>
                </c:pt>
                <c:pt idx="61">
                  <c:v>118.38667493</c:v>
                </c:pt>
                <c:pt idx="62">
                  <c:v>120.241226592</c:v>
                </c:pt>
                <c:pt idx="63">
                  <c:v>123.875469942</c:v>
                </c:pt>
                <c:pt idx="64">
                  <c:v>124.786511132</c:v>
                </c:pt>
                <c:pt idx="65">
                  <c:v>125.406495792</c:v>
                </c:pt>
                <c:pt idx="66">
                  <c:v>127.266317954</c:v>
                </c:pt>
                <c:pt idx="67">
                  <c:v>127.834701204</c:v>
                </c:pt>
                <c:pt idx="68">
                  <c:v>129.145118797</c:v>
                </c:pt>
                <c:pt idx="69">
                  <c:v>129.037732474</c:v>
                </c:pt>
                <c:pt idx="70">
                  <c:v>131.132670384</c:v>
                </c:pt>
                <c:pt idx="71">
                  <c:v>132.215474911</c:v>
                </c:pt>
                <c:pt idx="72">
                  <c:v>133.348958733</c:v>
                </c:pt>
                <c:pt idx="73">
                  <c:v>134.633572833</c:v>
                </c:pt>
                <c:pt idx="74">
                  <c:v>135.103055221</c:v>
                </c:pt>
                <c:pt idx="75">
                  <c:v>135.113813342</c:v>
                </c:pt>
                <c:pt idx="76">
                  <c:v>133.797066308</c:v>
                </c:pt>
                <c:pt idx="77">
                  <c:v>133.721783957</c:v>
                </c:pt>
                <c:pt idx="78">
                  <c:v>135.460253707</c:v>
                </c:pt>
                <c:pt idx="79">
                  <c:v>137.278071793</c:v>
                </c:pt>
                <c:pt idx="80">
                  <c:v>135.811470875</c:v>
                </c:pt>
                <c:pt idx="81">
                  <c:v>137.705179836</c:v>
                </c:pt>
                <c:pt idx="82">
                  <c:v>139.898790756</c:v>
                </c:pt>
                <c:pt idx="83">
                  <c:v>139.389684842</c:v>
                </c:pt>
                <c:pt idx="84">
                  <c:v>138.737845387</c:v>
                </c:pt>
                <c:pt idx="85">
                  <c:v>138.834917566</c:v>
                </c:pt>
                <c:pt idx="86">
                  <c:v>139.612642397</c:v>
                </c:pt>
                <c:pt idx="87">
                  <c:v>141.256074593</c:v>
                </c:pt>
                <c:pt idx="88">
                  <c:v>142.545638631</c:v>
                </c:pt>
                <c:pt idx="89">
                  <c:v>143.838071542</c:v>
                </c:pt>
                <c:pt idx="90">
                  <c:v>145.422151018</c:v>
                </c:pt>
                <c:pt idx="91">
                  <c:v>147.043488945</c:v>
                </c:pt>
                <c:pt idx="92">
                  <c:v>148.972615734</c:v>
                </c:pt>
                <c:pt idx="93">
                  <c:v>148.657522503</c:v>
                </c:pt>
                <c:pt idx="94">
                  <c:v>149.949058256</c:v>
                </c:pt>
                <c:pt idx="95">
                  <c:v>151.86158292</c:v>
                </c:pt>
                <c:pt idx="96">
                  <c:v>154.382837606</c:v>
                </c:pt>
                <c:pt idx="97">
                  <c:v>156.247340719</c:v>
                </c:pt>
                <c:pt idx="98">
                  <c:v>156.977456964</c:v>
                </c:pt>
                <c:pt idx="99">
                  <c:v>158.999767591</c:v>
                </c:pt>
                <c:pt idx="100">
                  <c:v>160.210438933</c:v>
                </c:pt>
                <c:pt idx="101">
                  <c:v>160.466915563</c:v>
                </c:pt>
              </c:numCache>
            </c:numRef>
          </c:yVal>
        </c:ser>
        <c:ser>
          <c:idx val="1"/>
          <c:order val="1"/>
          <c:tx>
            <c:v>Combinação</c:v>
          </c:tx>
          <c:spPr>
            <a:ln xmlns:a="http://schemas.openxmlformats.org/drawingml/2006/main" w="28575">
              <a:solidFill>
                <a:srgbClr val="007F7B"/>
              </a:solidFill>
            </a:ln>
          </c:spPr>
          <c:marker>
            <c:symbol val="none"/>
          </c:marker>
          <c:xVal>
            <c:numRef>
              <c:f>'Chart Data'!$C$2:$C$103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Data'!$D$2:$D$103</c:f>
              <c:numCache>
                <c:formatCode>0.00</c:formatCode>
                <c:ptCount val="102"/>
                <c:pt idx="0">
                  <c:v>100</c:v>
                </c:pt>
                <c:pt idx="1">
                  <c:v>100.15026869</c:v>
                </c:pt>
                <c:pt idx="2">
                  <c:v>100.284613605</c:v>
                </c:pt>
                <c:pt idx="3">
                  <c:v>100.39719923</c:v>
                </c:pt>
                <c:pt idx="4">
                  <c:v>100.580723784</c:v>
                </c:pt>
                <c:pt idx="5">
                  <c:v>100.751342276</c:v>
                </c:pt>
                <c:pt idx="6">
                  <c:v>100.934023803</c:v>
                </c:pt>
                <c:pt idx="7">
                  <c:v>101.162765262</c:v>
                </c:pt>
                <c:pt idx="8">
                  <c:v>101.272781469</c:v>
                </c:pt>
                <c:pt idx="9">
                  <c:v>101.301144745</c:v>
                </c:pt>
                <c:pt idx="10">
                  <c:v>101.692532911</c:v>
                </c:pt>
                <c:pt idx="11">
                  <c:v>101.927577822</c:v>
                </c:pt>
                <c:pt idx="12">
                  <c:v>102.100492667</c:v>
                </c:pt>
                <c:pt idx="13">
                  <c:v>102.342639995</c:v>
                </c:pt>
                <c:pt idx="14">
                  <c:v>102.537704105</c:v>
                </c:pt>
                <c:pt idx="15">
                  <c:v>102.778680424</c:v>
                </c:pt>
                <c:pt idx="16">
                  <c:v>103.104623255</c:v>
                </c:pt>
                <c:pt idx="17">
                  <c:v>103.338758203</c:v>
                </c:pt>
                <c:pt idx="18">
                  <c:v>103.541953266</c:v>
                </c:pt>
                <c:pt idx="19">
                  <c:v>103.659277139</c:v>
                </c:pt>
                <c:pt idx="20">
                  <c:v>103.794723067</c:v>
                </c:pt>
                <c:pt idx="21">
                  <c:v>103.931884234</c:v>
                </c:pt>
                <c:pt idx="22">
                  <c:v>104.071217739</c:v>
                </c:pt>
                <c:pt idx="23">
                  <c:v>104.211108647</c:v>
                </c:pt>
                <c:pt idx="24">
                  <c:v>103.70596491</c:v>
                </c:pt>
                <c:pt idx="25">
                  <c:v>103.776753285</c:v>
                </c:pt>
                <c:pt idx="26">
                  <c:v>103.921329464</c:v>
                </c:pt>
                <c:pt idx="27">
                  <c:v>103.965294941</c:v>
                </c:pt>
                <c:pt idx="28">
                  <c:v>103.886188019</c:v>
                </c:pt>
                <c:pt idx="29">
                  <c:v>104.136990106</c:v>
                </c:pt>
                <c:pt idx="30">
                  <c:v>103.675268466</c:v>
                </c:pt>
                <c:pt idx="31">
                  <c:v>103.365258378</c:v>
                </c:pt>
                <c:pt idx="32">
                  <c:v>104.922616325</c:v>
                </c:pt>
                <c:pt idx="33">
                  <c:v>105.050718383</c:v>
                </c:pt>
                <c:pt idx="34">
                  <c:v>104.671719007</c:v>
                </c:pt>
                <c:pt idx="35">
                  <c:v>105.367763748</c:v>
                </c:pt>
                <c:pt idx="36">
                  <c:v>106.274002433</c:v>
                </c:pt>
                <c:pt idx="37">
                  <c:v>107.794844282</c:v>
                </c:pt>
                <c:pt idx="38">
                  <c:v>108.811211891</c:v>
                </c:pt>
                <c:pt idx="39">
                  <c:v>109.989322993</c:v>
                </c:pt>
                <c:pt idx="40">
                  <c:v>109.32328455</c:v>
                </c:pt>
                <c:pt idx="41">
                  <c:v>109.012440757</c:v>
                </c:pt>
                <c:pt idx="42">
                  <c:v>108.8785517</c:v>
                </c:pt>
                <c:pt idx="43">
                  <c:v>108.994060857</c:v>
                </c:pt>
                <c:pt idx="44">
                  <c:v>108.877157849</c:v>
                </c:pt>
                <c:pt idx="45">
                  <c:v>109.648154088</c:v>
                </c:pt>
                <c:pt idx="46">
                  <c:v>110.696800755</c:v>
                </c:pt>
                <c:pt idx="47">
                  <c:v>112.011333035</c:v>
                </c:pt>
                <c:pt idx="48">
                  <c:v>116.737598565</c:v>
                </c:pt>
                <c:pt idx="49">
                  <c:v>118.410946214</c:v>
                </c:pt>
                <c:pt idx="50">
                  <c:v>118.906528149</c:v>
                </c:pt>
                <c:pt idx="51">
                  <c:v>118.675961507</c:v>
                </c:pt>
                <c:pt idx="52">
                  <c:v>119.616867383</c:v>
                </c:pt>
                <c:pt idx="53">
                  <c:v>120.678842415</c:v>
                </c:pt>
                <c:pt idx="54">
                  <c:v>120.662591597</c:v>
                </c:pt>
                <c:pt idx="55">
                  <c:v>121.538277309</c:v>
                </c:pt>
                <c:pt idx="56">
                  <c:v>120.439964155</c:v>
                </c:pt>
                <c:pt idx="57">
                  <c:v>119.803372208</c:v>
                </c:pt>
                <c:pt idx="58">
                  <c:v>121.039360609</c:v>
                </c:pt>
                <c:pt idx="59">
                  <c:v>122.746009505</c:v>
                </c:pt>
                <c:pt idx="60">
                  <c:v>123.062295052</c:v>
                </c:pt>
                <c:pt idx="61">
                  <c:v>124.541744696</c:v>
                </c:pt>
                <c:pt idx="62">
                  <c:v>125.703136842</c:v>
                </c:pt>
                <c:pt idx="63">
                  <c:v>128.18524569</c:v>
                </c:pt>
                <c:pt idx="64">
                  <c:v>129.097819195</c:v>
                </c:pt>
                <c:pt idx="65">
                  <c:v>129.704624813</c:v>
                </c:pt>
                <c:pt idx="66">
                  <c:v>130.800011032</c:v>
                </c:pt>
                <c:pt idx="67">
                  <c:v>131.47405267</c:v>
                </c:pt>
                <c:pt idx="68">
                  <c:v>132.460708297</c:v>
                </c:pt>
                <c:pt idx="69">
                  <c:v>132.622155846</c:v>
                </c:pt>
                <c:pt idx="70">
                  <c:v>134.137785091</c:v>
                </c:pt>
                <c:pt idx="71">
                  <c:v>135.082692588</c:v>
                </c:pt>
                <c:pt idx="72">
                  <c:v>136.011222812</c:v>
                </c:pt>
                <c:pt idx="73">
                  <c:v>137.041383007</c:v>
                </c:pt>
                <c:pt idx="74">
                  <c:v>137.545208663</c:v>
                </c:pt>
                <c:pt idx="75">
                  <c:v>137.711470464</c:v>
                </c:pt>
                <c:pt idx="76">
                  <c:v>137.156577297</c:v>
                </c:pt>
                <c:pt idx="77">
                  <c:v>137.260322779</c:v>
                </c:pt>
                <c:pt idx="78">
                  <c:v>138.559832249</c:v>
                </c:pt>
                <c:pt idx="79">
                  <c:v>139.386746534</c:v>
                </c:pt>
                <c:pt idx="80">
                  <c:v>138.48254457</c:v>
                </c:pt>
                <c:pt idx="81">
                  <c:v>139.886653572</c:v>
                </c:pt>
                <c:pt idx="82">
                  <c:v>141.531082637</c:v>
                </c:pt>
                <c:pt idx="83">
                  <c:v>141.55451182</c:v>
                </c:pt>
                <c:pt idx="84">
                  <c:v>142.000476705</c:v>
                </c:pt>
                <c:pt idx="85">
                  <c:v>142.249806381</c:v>
                </c:pt>
                <c:pt idx="86">
                  <c:v>142.935657706</c:v>
                </c:pt>
                <c:pt idx="87">
                  <c:v>145.1816919</c:v>
                </c:pt>
                <c:pt idx="88">
                  <c:v>146.728396248</c:v>
                </c:pt>
                <c:pt idx="89">
                  <c:v>147.786960384</c:v>
                </c:pt>
                <c:pt idx="90">
                  <c:v>149.553244147</c:v>
                </c:pt>
                <c:pt idx="91">
                  <c:v>151.403014131</c:v>
                </c:pt>
                <c:pt idx="92">
                  <c:v>153.200325004</c:v>
                </c:pt>
                <c:pt idx="93">
                  <c:v>153.133275105</c:v>
                </c:pt>
                <c:pt idx="94">
                  <c:v>154.966780756</c:v>
                </c:pt>
                <c:pt idx="95">
                  <c:v>156.83923414</c:v>
                </c:pt>
                <c:pt idx="96">
                  <c:v>158.442116119</c:v>
                </c:pt>
                <c:pt idx="97">
                  <c:v>159.921047739</c:v>
                </c:pt>
                <c:pt idx="98">
                  <c:v>160.62790368</c:v>
                </c:pt>
                <c:pt idx="99">
                  <c:v>161.438557757</c:v>
                </c:pt>
                <c:pt idx="100">
                  <c:v>162.201591724</c:v>
                </c:pt>
                <c:pt idx="101">
                  <c:v>162.569659057</c:v>
                </c:pt>
              </c:numCache>
            </c:numRef>
          </c:yVal>
        </c:ser>
        <c:ser>
          <c:idx val="2"/>
          <c:order val="2"/>
          <c:tx>
            <c:v>Caixa USD</c:v>
          </c:tx>
          <c:spPr>
            <a:ln xmlns:a="http://schemas.openxmlformats.org/drawingml/2006/main" w="19050">
              <a:solidFill>
                <a:srgbClr val="9DA8AF"/>
              </a:solidFill>
            </a:ln>
          </c:spPr>
          <c:marker>
            <c:symbol val="none"/>
          </c:marker>
          <c:xVal>
            <c:numRef>
              <c:f>'Chart Data'!$E$2:$E$103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Data'!$F$2:$F$103</c:f>
              <c:numCache>
                <c:formatCode>0.00</c:formatCode>
                <c:ptCount val="102"/>
                <c:pt idx="0">
                  <c:v>100</c:v>
                </c:pt>
                <c:pt idx="1">
                  <c:v>100.13441844</c:v>
                </c:pt>
                <c:pt idx="2">
                  <c:v>100.269017563</c:v>
                </c:pt>
                <c:pt idx="3">
                  <c:v>100.403797612</c:v>
                </c:pt>
                <c:pt idx="4">
                  <c:v>100.559346288</c:v>
                </c:pt>
                <c:pt idx="5">
                  <c:v>100.715135945</c:v>
                </c:pt>
                <c:pt idx="6">
                  <c:v>100.871166956</c:v>
                </c:pt>
                <c:pt idx="7">
                  <c:v>101.048076493</c:v>
                </c:pt>
                <c:pt idx="8">
                  <c:v>101.225296297</c:v>
                </c:pt>
                <c:pt idx="9">
                  <c:v>101.402826912</c:v>
                </c:pt>
                <c:pt idx="10">
                  <c:v>101.601367968</c:v>
                </c:pt>
                <c:pt idx="11">
                  <c:v>101.800297757</c:v>
                </c:pt>
                <c:pt idx="12">
                  <c:v>101.999617039</c:v>
                </c:pt>
                <c:pt idx="13">
                  <c:v>102.199326578</c:v>
                </c:pt>
                <c:pt idx="14">
                  <c:v>102.399427136</c:v>
                </c:pt>
                <c:pt idx="15">
                  <c:v>102.59991948</c:v>
                </c:pt>
                <c:pt idx="16">
                  <c:v>102.800804377</c:v>
                </c:pt>
                <c:pt idx="17">
                  <c:v>103.002082595</c:v>
                </c:pt>
                <c:pt idx="18">
                  <c:v>103.182729367</c:v>
                </c:pt>
                <c:pt idx="19">
                  <c:v>103.34258325</c:v>
                </c:pt>
                <c:pt idx="20">
                  <c:v>103.481494739</c:v>
                </c:pt>
                <c:pt idx="21">
                  <c:v>103.620592949</c:v>
                </c:pt>
                <c:pt idx="22">
                  <c:v>103.759878134</c:v>
                </c:pt>
                <c:pt idx="23">
                  <c:v>103.899350544</c:v>
                </c:pt>
                <c:pt idx="24">
                  <c:v>104.03901043</c:v>
                </c:pt>
                <c:pt idx="25">
                  <c:v>104.049841619</c:v>
                </c:pt>
                <c:pt idx="26">
                  <c:v>104.060673936</c:v>
                </c:pt>
                <c:pt idx="27">
                  <c:v>104.07150738</c:v>
                </c:pt>
                <c:pt idx="28">
                  <c:v>104.082341953</c:v>
                </c:pt>
                <c:pt idx="29">
                  <c:v>104.093177653</c:v>
                </c:pt>
                <c:pt idx="30">
                  <c:v>104.104014482</c:v>
                </c:pt>
                <c:pt idx="31">
                  <c:v>104.114852438</c:v>
                </c:pt>
                <c:pt idx="32">
                  <c:v>104.125691523</c:v>
                </c:pt>
                <c:pt idx="33">
                  <c:v>104.136531737</c:v>
                </c:pt>
                <c:pt idx="34">
                  <c:v>104.147373079</c:v>
                </c:pt>
                <c:pt idx="35">
                  <c:v>104.158215549</c:v>
                </c:pt>
                <c:pt idx="36">
                  <c:v>104.169059148</c:v>
                </c:pt>
                <c:pt idx="37">
                  <c:v>104.179903877</c:v>
                </c:pt>
                <c:pt idx="38">
                  <c:v>104.190749734</c:v>
                </c:pt>
                <c:pt idx="39">
                  <c:v>104.20159672</c:v>
                </c:pt>
                <c:pt idx="40">
                  <c:v>104.212444836</c:v>
                </c:pt>
                <c:pt idx="41">
                  <c:v>104.223294081</c:v>
                </c:pt>
                <c:pt idx="42">
                  <c:v>104.234144455</c:v>
                </c:pt>
                <c:pt idx="43">
                  <c:v>104.244995959</c:v>
                </c:pt>
                <c:pt idx="44">
                  <c:v>104.255848593</c:v>
                </c:pt>
                <c:pt idx="45">
                  <c:v>104.266702357</c:v>
                </c:pt>
                <c:pt idx="46">
                  <c:v>104.27755725</c:v>
                </c:pt>
                <c:pt idx="47">
                  <c:v>104.288413274</c:v>
                </c:pt>
                <c:pt idx="48">
                  <c:v>104.299270428</c:v>
                </c:pt>
                <c:pt idx="49">
                  <c:v>104.331808066</c:v>
                </c:pt>
                <c:pt idx="50">
                  <c:v>104.364355855</c:v>
                </c:pt>
                <c:pt idx="51">
                  <c:v>104.440151366</c:v>
                </c:pt>
                <c:pt idx="52">
                  <c:v>104.580538189</c:v>
                </c:pt>
                <c:pt idx="53">
                  <c:v>104.785301026</c:v>
                </c:pt>
                <c:pt idx="54">
                  <c:v>104.990464777</c:v>
                </c:pt>
                <c:pt idx="55">
                  <c:v>105.260037822</c:v>
                </c:pt>
                <c:pt idx="56">
                  <c:v>105.530303022</c:v>
                </c:pt>
                <c:pt idx="57">
                  <c:v>105.865171378</c:v>
                </c:pt>
                <c:pt idx="58">
                  <c:v>106.243608369</c:v>
                </c:pt>
                <c:pt idx="59">
                  <c:v>106.62339816</c:v>
                </c:pt>
                <c:pt idx="60">
                  <c:v>107.025880366</c:v>
                </c:pt>
                <c:pt idx="61">
                  <c:v>107.451250329</c:v>
                </c:pt>
                <c:pt idx="62">
                  <c:v>107.878310907</c:v>
                </c:pt>
                <c:pt idx="63">
                  <c:v>108.328560456</c:v>
                </c:pt>
                <c:pt idx="64">
                  <c:v>108.780689202</c:v>
                </c:pt>
                <c:pt idx="65">
                  <c:v>109.256329209</c:v>
                </c:pt>
                <c:pt idx="66">
                  <c:v>109.734048935</c:v>
                </c:pt>
                <c:pt idx="67">
                  <c:v>110.213857476</c:v>
                </c:pt>
                <c:pt idx="68">
                  <c:v>110.695763964</c:v>
                </c:pt>
                <c:pt idx="69">
                  <c:v>111.179777572</c:v>
                </c:pt>
                <c:pt idx="70">
                  <c:v>111.665907514</c:v>
                </c:pt>
                <c:pt idx="71">
                  <c:v>112.154163043</c:v>
                </c:pt>
                <c:pt idx="72">
                  <c:v>112.644553453</c:v>
                </c:pt>
                <c:pt idx="73">
                  <c:v>113.13708808</c:v>
                </c:pt>
                <c:pt idx="74">
                  <c:v>113.631776298</c:v>
                </c:pt>
                <c:pt idx="75">
                  <c:v>114.128627524</c:v>
                </c:pt>
                <c:pt idx="76">
                  <c:v>114.627651216</c:v>
                </c:pt>
                <c:pt idx="77">
                  <c:v>115.128856873</c:v>
                </c:pt>
                <c:pt idx="78">
                  <c:v>115.632254035</c:v>
                </c:pt>
                <c:pt idx="79">
                  <c:v>116.091829676</c:v>
                </c:pt>
                <c:pt idx="80">
                  <c:v>116.553231881</c:v>
                </c:pt>
                <c:pt idx="81">
                  <c:v>116.993197243</c:v>
                </c:pt>
                <c:pt idx="82">
                  <c:v>117.411413667</c:v>
                </c:pt>
                <c:pt idx="83">
                  <c:v>117.831125093</c:v>
                </c:pt>
                <c:pt idx="84">
                  <c:v>118.252336864</c:v>
                </c:pt>
                <c:pt idx="85">
                  <c:v>118.675054344</c:v>
                </c:pt>
                <c:pt idx="86">
                  <c:v>119.099282915</c:v>
                </c:pt>
                <c:pt idx="87">
                  <c:v>119.525027979</c:v>
                </c:pt>
                <c:pt idx="88">
                  <c:v>119.952294958</c:v>
                </c:pt>
                <c:pt idx="89">
                  <c:v>120.38108929</c:v>
                </c:pt>
                <c:pt idx="90">
                  <c:v>120.811416437</c:v>
                </c:pt>
                <c:pt idx="91">
                  <c:v>121.219055008</c:v>
                </c:pt>
                <c:pt idx="92">
                  <c:v>121.603706852</c:v>
                </c:pt>
                <c:pt idx="93">
                  <c:v>121.989579273</c:v>
                </c:pt>
                <c:pt idx="94">
                  <c:v>122.352104977</c:v>
                </c:pt>
                <c:pt idx="95">
                  <c:v>122.715708026</c:v>
                </c:pt>
                <c:pt idx="96">
                  <c:v>123.080391622</c:v>
                </c:pt>
                <c:pt idx="97">
                  <c:v>123.446158976</c:v>
                </c:pt>
                <c:pt idx="98">
                  <c:v>123.813013308</c:v>
                </c:pt>
                <c:pt idx="99">
                  <c:v>124.18095785</c:v>
                </c:pt>
                <c:pt idx="100">
                  <c:v>124.54999584</c:v>
                </c:pt>
                <c:pt idx="101">
                  <c:v>124.920130528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75"/>
          <c:min val="9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Patrimônio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20"/>
      </c:valAx>
      <c:valAx>
        <c:axId val="48650112"/>
        <c:scaling>
          <c:orientation val="minMax"/>
          <c:max val="2027"/>
          <c:min val="2018"/>
        </c:scaling>
        <c:delete val="0"/>
        <c:axPos val="b"/>
        <c:numFmt formatCode="0"/>
        <c:majorTickMark val="none"/>
        <c:minorTickMark val="none"/>
        <c:tickLblPos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2"/>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Carry por juros</c:v>
          </c:tx>
          <c:spPr>
            <a:ln xmlns:a="http://schemas.openxmlformats.org/drawingml/2006/main" w="25718">
              <a:solidFill>
                <a:srgbClr val="15354D"/>
              </a:solidFill>
            </a:ln>
          </c:spPr>
          <c:marker>
            <c:symbol val="none"/>
          </c:marker>
          <c:xVal>
            <c:numRef>
              <c:f>'Chart Data'!$A$2:$A$103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Data'!$B$2:$B$103</c:f>
              <c:numCache>
                <c:formatCode>0.00</c:formatCode>
                <c:ptCount val="102"/>
                <c:pt idx="0">
                  <c:v>0</c:v>
                </c:pt>
                <c:pt idx="1">
                  <c:v>0</c:v>
                </c:pt>
                <c:pt idx="2">
                  <c:v>-0.39421046</c:v>
                </c:pt>
                <c:pt idx="3">
                  <c:v>-1.01405100318</c:v>
                </c:pt>
                <c:pt idx="4">
                  <c:v>-0.3432227418</c:v>
                </c:pt>
                <c:pt idx="5">
                  <c:v>-1.45392322583</c:v>
                </c:pt>
                <c:pt idx="6">
                  <c:v>-0.590807166033</c:v>
                </c:pt>
                <c:pt idx="7">
                  <c:v>0</c:v>
                </c:pt>
                <c:pt idx="8">
                  <c:v>-1.38527003</c:v>
                </c:pt>
                <c:pt idx="9">
                  <c:v>-2.32071051322</c:v>
                </c:pt>
                <c:pt idx="10">
                  <c:v>0</c:v>
                </c:pt>
                <c:pt idx="11">
                  <c:v>0</c:v>
                </c:pt>
                <c:pt idx="12">
                  <c:v>-0.44615871</c:v>
                </c:pt>
                <c:pt idx="13">
                  <c:v>0</c:v>
                </c:pt>
                <c:pt idx="14">
                  <c:v>0</c:v>
                </c:pt>
                <c:pt idx="15">
                  <c:v>0</c:v>
                </c:pt>
                <c:pt idx="16">
                  <c:v>0</c:v>
                </c:pt>
                <c:pt idx="17">
                  <c:v>-1.24515063</c:v>
                </c:pt>
                <c:pt idx="18">
                  <c:v>-0.542737753547</c:v>
                </c:pt>
                <c:pt idx="19">
                  <c:v>-0.0999979224617</c:v>
                </c:pt>
                <c:pt idx="20">
                  <c:v>-1.35687353488</c:v>
                </c:pt>
                <c:pt idx="21">
                  <c:v>-0.460692839494</c:v>
                </c:pt>
                <c:pt idx="22">
                  <c:v>-0.771272260162</c:v>
                </c:pt>
                <c:pt idx="23">
                  <c:v>-1.79018093817</c:v>
                </c:pt>
                <c:pt idx="24">
                  <c:v>-6.35833247717</c:v>
                </c:pt>
                <c:pt idx="25">
                  <c:v>-6.6812417401</c:v>
                </c:pt>
                <c:pt idx="26">
                  <c:v>-6.67253855275</c:v>
                </c:pt>
                <c:pt idx="27">
                  <c:v>-6.97307074816</c:v>
                </c:pt>
                <c:pt idx="28">
                  <c:v>-7.12835013563</c:v>
                </c:pt>
                <c:pt idx="29">
                  <c:v>-7.51084856376</c:v>
                </c:pt>
                <c:pt idx="30">
                  <c:v>-8.61113379498</c:v>
                </c:pt>
                <c:pt idx="31">
                  <c:v>-9.09281056692</c:v>
                </c:pt>
                <c:pt idx="32">
                  <c:v>-7.03580408356</c:v>
                </c:pt>
                <c:pt idx="33">
                  <c:v>-6.93172922529</c:v>
                </c:pt>
                <c:pt idx="34">
                  <c:v>-7.60079498569</c:v>
                </c:pt>
                <c:pt idx="35">
                  <c:v>-6.98173589984</c:v>
                </c:pt>
                <c:pt idx="36">
                  <c:v>-6.17248093684</c:v>
                </c:pt>
                <c:pt idx="37">
                  <c:v>-4.82975892256</c:v>
                </c:pt>
                <c:pt idx="38">
                  <c:v>-3.93242518629</c:v>
                </c:pt>
                <c:pt idx="39">
                  <c:v>-2.35801227379</c:v>
                </c:pt>
                <c:pt idx="40">
                  <c:v>-3.24993701254</c:v>
                </c:pt>
                <c:pt idx="41">
                  <c:v>-3.67573043097</c:v>
                </c:pt>
                <c:pt idx="42">
                  <c:v>-3.85746749171</c:v>
                </c:pt>
                <c:pt idx="43">
                  <c:v>-3.70945111157</c:v>
                </c:pt>
                <c:pt idx="44">
                  <c:v>-3.86938855779</c:v>
                </c:pt>
                <c:pt idx="45">
                  <c:v>-2.8533037891</c:v>
                </c:pt>
                <c:pt idx="46">
                  <c:v>-1.46469696692</c:v>
                </c:pt>
                <c:pt idx="47">
                  <c:v>-0.282838312248</c:v>
                </c:pt>
                <c:pt idx="48">
                  <c:v>0</c:v>
                </c:pt>
                <c:pt idx="49">
                  <c:v>0</c:v>
                </c:pt>
                <c:pt idx="50">
                  <c:v>0</c:v>
                </c:pt>
                <c:pt idx="51">
                  <c:v>-0.17425084</c:v>
                </c:pt>
                <c:pt idx="52">
                  <c:v>0</c:v>
                </c:pt>
                <c:pt idx="53">
                  <c:v>0</c:v>
                </c:pt>
                <c:pt idx="54">
                  <c:v>-0.15981095</c:v>
                </c:pt>
                <c:pt idx="55">
                  <c:v>0</c:v>
                </c:pt>
                <c:pt idx="56">
                  <c:v>-1.99762113</c:v>
                </c:pt>
                <c:pt idx="57">
                  <c:v>-3.36852881806</c:v>
                </c:pt>
                <c:pt idx="58">
                  <c:v>-2.394838342</c:v>
                </c:pt>
                <c:pt idx="59">
                  <c:v>-0.801886194803</c:v>
                </c:pt>
                <c:pt idx="60">
                  <c:v>-0.711636832122</c:v>
                </c:pt>
                <c:pt idx="61">
                  <c:v>0</c:v>
                </c:pt>
                <c:pt idx="62">
                  <c:v>0</c:v>
                </c:pt>
                <c:pt idx="63">
                  <c:v>0</c:v>
                </c:pt>
                <c:pt idx="64">
                  <c:v>0</c:v>
                </c:pt>
                <c:pt idx="65">
                  <c:v>0</c:v>
                </c:pt>
                <c:pt idx="66">
                  <c:v>0</c:v>
                </c:pt>
                <c:pt idx="67">
                  <c:v>0</c:v>
                </c:pt>
                <c:pt idx="68">
                  <c:v>0</c:v>
                </c:pt>
                <c:pt idx="69">
                  <c:v>-0.08315167</c:v>
                </c:pt>
                <c:pt idx="70">
                  <c:v>0</c:v>
                </c:pt>
                <c:pt idx="71">
                  <c:v>0</c:v>
                </c:pt>
                <c:pt idx="72">
                  <c:v>0</c:v>
                </c:pt>
                <c:pt idx="73">
                  <c:v>0</c:v>
                </c:pt>
                <c:pt idx="74">
                  <c:v>0</c:v>
                </c:pt>
                <c:pt idx="75">
                  <c:v>0</c:v>
                </c:pt>
                <c:pt idx="76">
                  <c:v>-0.97454657</c:v>
                </c:pt>
                <c:pt idx="77">
                  <c:v>-1.03026430094</c:v>
                </c:pt>
                <c:pt idx="78">
                  <c:v>0</c:v>
                </c:pt>
                <c:pt idx="79">
                  <c:v>0</c:v>
                </c:pt>
                <c:pt idx="80">
                  <c:v>-1.06834318</c:v>
                </c:pt>
                <c:pt idx="81">
                  <c:v>0</c:v>
                </c:pt>
                <c:pt idx="82">
                  <c:v>0</c:v>
                </c:pt>
                <c:pt idx="83">
                  <c:v>-0.36391016</c:v>
                </c:pt>
                <c:pt idx="84">
                  <c:v>-0.829846606969</c:v>
                </c:pt>
                <c:pt idx="85">
                  <c:v>-0.760459174541</c:v>
                </c:pt>
                <c:pt idx="86">
                  <c:v>-0.204539551399</c:v>
                </c:pt>
                <c:pt idx="87">
                  <c:v>0</c:v>
                </c:pt>
                <c:pt idx="88">
                  <c:v>0</c:v>
                </c:pt>
                <c:pt idx="89">
                  <c:v>0</c:v>
                </c:pt>
                <c:pt idx="90">
                  <c:v>0</c:v>
                </c:pt>
                <c:pt idx="91">
                  <c:v>0</c:v>
                </c:pt>
                <c:pt idx="92">
                  <c:v>0</c:v>
                </c:pt>
                <c:pt idx="93">
                  <c:v>-0.21151084</c:v>
                </c:pt>
                <c:pt idx="94">
                  <c:v>0</c:v>
                </c:pt>
                <c:pt idx="95">
                  <c:v>0</c:v>
                </c:pt>
                <c:pt idx="96">
                  <c:v>0</c:v>
                </c:pt>
                <c:pt idx="97">
                  <c:v>0</c:v>
                </c:pt>
                <c:pt idx="98">
                  <c:v>0</c:v>
                </c:pt>
                <c:pt idx="99">
                  <c:v>0</c:v>
                </c:pt>
                <c:pt idx="100">
                  <c:v>0</c:v>
                </c:pt>
                <c:pt idx="101">
                  <c:v>0</c:v>
                </c:pt>
              </c:numCache>
            </c:numRef>
          </c:yVal>
        </c:ser>
        <c:ser>
          <c:idx val="1"/>
          <c:order val="1"/>
          <c:tx>
            <c:v>Combinação</c:v>
          </c:tx>
          <c:spPr>
            <a:ln xmlns:a="http://schemas.openxmlformats.org/drawingml/2006/main" w="25718">
              <a:solidFill>
                <a:srgbClr val="007F7B"/>
              </a:solidFill>
            </a:ln>
          </c:spPr>
          <c:marker>
            <c:symbol val="none"/>
          </c:marker>
          <c:xVal>
            <c:numRef>
              <c:f>'Chart Data'!$C$2:$C$103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Data'!$D$2:$D$103</c:f>
              <c:numCache>
                <c:formatCode>0.00</c:formatCode>
                <c:ptCount val="10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-0.48473118</c:v>
                </c:pt>
                <c:pt idx="25">
                  <c:v>-0.416803321347</c:v>
                </c:pt>
                <c:pt idx="26">
                  <c:v>-0.278069379269</c:v>
                </c:pt>
                <c:pt idx="27">
                  <c:v>-0.235880520691</c:v>
                </c:pt>
                <c:pt idx="28">
                  <c:v>-0.311790779816</c:v>
                </c:pt>
                <c:pt idx="29">
                  <c:v>-0.0711234552725</c:v>
                </c:pt>
                <c:pt idx="30">
                  <c:v>-0.514187198744</c:v>
                </c:pt>
                <c:pt idx="31">
                  <c:v>-0.811669964691</c:v>
                </c:pt>
                <c:pt idx="32">
                  <c:v>0</c:v>
                </c:pt>
                <c:pt idx="33">
                  <c:v>0</c:v>
                </c:pt>
                <c:pt idx="34">
                  <c:v>-0.36077752</c:v>
                </c:pt>
                <c:pt idx="35">
                  <c:v>0</c:v>
                </c:pt>
                <c:pt idx="36">
                  <c:v>0</c:v>
                </c:pt>
                <c:pt idx="37">
                  <c:v>0</c:v>
                </c:pt>
                <c:pt idx="38">
                  <c:v>0</c:v>
                </c:pt>
                <c:pt idx="39">
                  <c:v>0</c:v>
                </c:pt>
                <c:pt idx="40">
                  <c:v>-0.60554827</c:v>
                </c:pt>
                <c:pt idx="41">
                  <c:v>-0.888160967475</c:v>
                </c:pt>
                <c:pt idx="42">
                  <c:v>-1.00989010835</c:v>
                </c:pt>
                <c:pt idx="43">
                  <c:v>-0.90487158986</c:v>
                </c:pt>
                <c:pt idx="44">
                  <c:v>-1.01115736798</c:v>
                </c:pt>
                <c:pt idx="45">
                  <c:v>-0.310183657705</c:v>
                </c:pt>
                <c:pt idx="46">
                  <c:v>0</c:v>
                </c:pt>
                <c:pt idx="47">
                  <c:v>0</c:v>
                </c:pt>
                <c:pt idx="48">
                  <c:v>0</c:v>
                </c:pt>
                <c:pt idx="49">
                  <c:v>0</c:v>
                </c:pt>
                <c:pt idx="50">
                  <c:v>0</c:v>
                </c:pt>
                <c:pt idx="51">
                  <c:v>-0.19390579</c:v>
                </c:pt>
                <c:pt idx="52">
                  <c:v>0</c:v>
                </c:pt>
                <c:pt idx="53">
                  <c:v>0</c:v>
                </c:pt>
                <c:pt idx="54">
                  <c:v>-0.01346617</c:v>
                </c:pt>
                <c:pt idx="55">
                  <c:v>0</c:v>
                </c:pt>
                <c:pt idx="56">
                  <c:v>-0.90367675</c:v>
                </c:pt>
                <c:pt idx="57">
                  <c:v>-1.42745572765</c:v>
                </c:pt>
                <c:pt idx="58">
                  <c:v>-0.410501704462</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-0.40293896</c:v>
                </c:pt>
                <c:pt idx="77">
                  <c:v>-0.327603563755</c:v>
                </c:pt>
                <c:pt idx="78">
                  <c:v>0</c:v>
                </c:pt>
                <c:pt idx="79">
                  <c:v>0</c:v>
                </c:pt>
                <c:pt idx="80">
                  <c:v>-0.6487001</c:v>
                </c:pt>
                <c:pt idx="81">
                  <c:v>0</c:v>
                </c:pt>
                <c:pt idx="82">
                  <c:v>0</c:v>
                </c:pt>
                <c:pt idx="83">
                  <c:v>0</c:v>
                </c:pt>
                <c:pt idx="84">
                  <c:v>0</c:v>
                </c:pt>
                <c:pt idx="85">
                  <c:v>0</c:v>
                </c:pt>
                <c:pt idx="86">
                  <c:v>0</c:v>
                </c:pt>
                <c:pt idx="87">
                  <c:v>0</c:v>
                </c:pt>
                <c:pt idx="88">
                  <c:v>0</c:v>
                </c:pt>
                <c:pt idx="89">
                  <c:v>0</c:v>
                </c:pt>
                <c:pt idx="90">
                  <c:v>0</c:v>
                </c:pt>
                <c:pt idx="91">
                  <c:v>0</c:v>
                </c:pt>
                <c:pt idx="92">
                  <c:v>0</c:v>
                </c:pt>
                <c:pt idx="93">
                  <c:v>-0.04376616</c:v>
                </c:pt>
                <c:pt idx="94">
                  <c:v>0</c:v>
                </c:pt>
                <c:pt idx="95">
                  <c:v>0</c:v>
                </c:pt>
                <c:pt idx="96">
                  <c:v>0</c:v>
                </c:pt>
                <c:pt idx="97">
                  <c:v>0</c:v>
                </c:pt>
                <c:pt idx="98">
                  <c:v>0</c:v>
                </c:pt>
                <c:pt idx="99">
                  <c:v>0</c:v>
                </c:pt>
                <c:pt idx="100">
                  <c:v>0</c:v>
                </c:pt>
                <c:pt idx="101">
                  <c:v>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
          <c:min val="-1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Perda do pico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quot;%&quot;"/>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5"/>
      </c:valAx>
      <c:valAx>
        <c:axId val="48650112"/>
        <c:scaling>
          <c:orientation val="minMax"/>
          <c:max val="2027"/>
          <c:min val="2018"/>
        </c:scaling>
        <c:delete val="0"/>
        <c:axPos val="b"/>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Carry por juros</c:v>
          </c:tx>
          <c:spPr>
            <a:solidFill xmlns:a="http://schemas.openxmlformats.org/drawingml/2006/main">
              <a:srgbClr val="15354D"/>
            </a:solidFill>
          </c:spPr>
          <c:cat>
            <c:strRef>
              <c:f>'Chart Data'!$A$2:$A$3</c:f>
              <c:strCache>
                <c:ptCount val="2"/>
                <c:pt idx="0">
                  <c:v>Câmbio</c:v>
                </c:pt>
                <c:pt idx="1">
                  <c:v>Juros</c:v>
                </c:pt>
              </c:strCache>
            </c:strRef>
          </c:cat>
          <c:val>
            <c:numRef>
              <c:f>'Chart Data'!$B$2:$B$3</c:f>
              <c:numCache>
                <c:formatCode>0.00</c:formatCode>
                <c:ptCount val="2"/>
                <c:pt idx="0">
                  <c:v>0.74073898</c:v>
                </c:pt>
                <c:pt idx="1">
                  <c:v>2.61915404</c:v>
                </c:pt>
              </c:numCache>
            </c:numRef>
          </c:val>
        </c:ser>
        <c:ser>
          <c:idx val="1"/>
          <c:order val="1"/>
          <c:tx>
            <c:v>Combinação</c:v>
          </c:tx>
          <c:spPr>
            <a:solidFill xmlns:a="http://schemas.openxmlformats.org/drawingml/2006/main">
              <a:srgbClr val="007F7B"/>
            </a:solidFill>
          </c:spPr>
          <c:cat>
            <c:strRef>
              <c:f>'Chart Data'!$C$2:$C$3</c:f>
              <c:strCache>
                <c:ptCount val="2"/>
                <c:pt idx="0">
                  <c:v>Câmbio</c:v>
                </c:pt>
                <c:pt idx="1">
                  <c:v>Juros</c:v>
                </c:pt>
              </c:strCache>
            </c:strRef>
          </c:cat>
          <c:val>
            <c:numRef>
              <c:f>'Chart Data'!$D$2:$D$3</c:f>
              <c:numCache>
                <c:formatCode>0.00</c:formatCode>
                <c:ptCount val="2"/>
                <c:pt idx="0">
                  <c:v>1.81617676</c:v>
                </c:pt>
                <c:pt idx="1">
                  <c:v>1.5005359</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5354D"/>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Pontos percentuais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69FAA5C-9ABE-416B-BC08-4F4373C168E7}"/>
              </a:ext>
            </a:extLst>
          </p:cNvPr>
          <p:cNvSpPr>
            <a:spLocks xmlns:a="http://schemas.openxmlformats.org/drawingml/2006/main" noGrp="1"/>
          </p:cNvSpPr>
          <p:nvPr/>
        </p:nvSpPr>
        <p:spPr>
          <a:xfrm xmlns:a="http://schemas.openxmlformats.org/drawingml/2006/main">
            <a:off x="666750" y="1438275"/>
            <a:ext cx="1076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15354D"/>
                </a:solidFill>
                <a:latin typeface="Arial"/>
                <a:ea typeface="Arial"/>
                <a:cs typeface="Arial"/>
              </a:defRPr>
            </a:pPr>
            <a:r>
              <a:rPr sz="4800" b="1">
                <a:solidFill>
                  <a:srgbClr val="15354D"/>
                </a:solidFill>
                <a:latin typeface="Arial"/>
                <a:ea typeface="Arial"/>
                <a:cs typeface="Arial"/>
              </a:rPr>
              <a:t>Câmbio real, commodities</a:t>
            </a:r>
          </a:p>
          <a:p xmlns:a="http://schemas.openxmlformats.org/drawingml/2006/main">
            <a:pPr>
              <a:defRPr sz="4800" b="1">
                <a:solidFill>
                  <a:srgbClr val="15354D"/>
                </a:solidFill>
                <a:latin typeface="Arial"/>
                <a:ea typeface="Arial"/>
                <a:cs typeface="Arial"/>
              </a:defRPr>
            </a:pPr>
            <a:r>
              <a:rPr sz="4800" b="1">
                <a:solidFill>
                  <a:srgbClr val="15354D"/>
                </a:solidFill>
                <a:latin typeface="Arial"/>
                <a:ea typeface="Arial"/>
                <a:cs typeface="Arial"/>
              </a:rPr>
              <a:t>e carry trade</a:t>
            </a:r>
          </a:p>
        </p:txBody>
      </p:sp>
      <p:sp>
        <p:nvSpPr>
          <p:cNvPr id="2" name="">
            <a:extLst xmlns:a="http://schemas.openxmlformats.org/drawingml/2006/main">
              <a:ext uri="{FF2B5EF4-FFF2-40B4-BE49-F238E27FC236}">
                <a16:creationId xmlns:a16="http://schemas.microsoft.com/office/drawing/2014/main" id="{6CA1122C-E259-45D1-9500-75C2B98B8F63}"/>
              </a:ext>
            </a:extLst>
          </p:cNvPr>
          <p:cNvSpPr>
            <a:spLocks xmlns:a="http://schemas.openxmlformats.org/drawingml/2006/main" noGrp="1"/>
          </p:cNvSpPr>
          <p:nvPr/>
        </p:nvSpPr>
        <p:spPr>
          <a:xfrm xmlns:a="http://schemas.openxmlformats.org/drawingml/2006/main">
            <a:off x="704850" y="33718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5B6770"/>
                </a:solidFill>
                <a:latin typeface="Arial"/>
                <a:ea typeface="Arial"/>
                <a:cs typeface="Arial"/>
              </a:defRPr>
            </a:pPr>
            <a:r>
              <a:rPr sz="2250" b="0">
                <a:solidFill>
                  <a:srgbClr val="5B6770"/>
                </a:solidFill>
                <a:latin typeface="Arial"/>
                <a:ea typeface="Arial"/>
                <a:cs typeface="Arial"/>
              </a:rPr>
              <a:t>Replicação de Eichenbaum, Johannsen e Rebelo (2021) e extensões empíricas</a:t>
            </a:r>
          </a:p>
        </p:txBody>
      </p:sp>
      <p:sp>
        <p:nvSpPr>
          <p:cNvPr id="3" name="">
            <a:extLst xmlns:a="http://schemas.openxmlformats.org/drawingml/2006/main">
              <a:ext uri="{FF2B5EF4-FFF2-40B4-BE49-F238E27FC236}">
                <a16:creationId xmlns:a16="http://schemas.microsoft.com/office/drawing/2014/main" id="{9EB4D836-5EEF-4B1A-BBE8-E7F3F44F6EA2}"/>
              </a:ext>
            </a:extLst>
          </p:cNvPr>
          <p:cNvSpPr>
            <a:spLocks xmlns:a="http://schemas.openxmlformats.org/drawingml/2006/main" noGrp="1"/>
          </p:cNvSpPr>
          <p:nvPr/>
        </p:nvSpPr>
        <p:spPr>
          <a:xfrm xmlns:a="http://schemas.openxmlformats.org/drawingml/2006/main">
            <a:off x="704850" y="52101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07F7B"/>
                </a:solidFill>
                <a:latin typeface="Arial"/>
                <a:ea typeface="Arial"/>
                <a:cs typeface="Arial"/>
              </a:defRPr>
            </a:pPr>
            <a:r>
              <a:rPr sz="1875" b="0">
                <a:solidFill>
                  <a:srgbClr val="007F7B"/>
                </a:solidFill>
                <a:latin typeface="Arial"/>
                <a:ea typeface="Arial"/>
                <a:cs typeface="Arial"/>
              </a:rPr>
              <a:t>Macroeconomia Aplicada · EPGE/FGV · 2026</a:t>
            </a:r>
          </a:p>
        </p:txBody>
      </p:sp>
      <p:sp>
        <p:nvSpPr>
          <p:cNvPr id="4" name="">
            <a:extLst xmlns:a="http://schemas.openxmlformats.org/drawingml/2006/main">
              <a:ext uri="{FF2B5EF4-FFF2-40B4-BE49-F238E27FC236}">
                <a16:creationId xmlns:a16="http://schemas.microsoft.com/office/drawing/2014/main" id="{C83EF76C-3507-42AB-9C01-BDA659675E0C}"/>
              </a:ext>
            </a:extLst>
          </p:cNvPr>
          <p:cNvSpPr>
            <a:spLocks xmlns:a="http://schemas.openxmlformats.org/drawingml/2006/main" noGrp="1"/>
          </p:cNvSpPr>
          <p:nvPr/>
        </p:nvSpPr>
        <p:spPr>
          <a:xfrm xmlns:a="http://schemas.openxmlformats.org/drawingml/2006/main">
            <a:off x="10953750" y="638175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01</a:t>
            </a:r>
          </a:p>
        </p:txBody>
      </p:sp>
    </p:spTree>
    <p:extLst>
      <p:ext uri="{BB962C8B-B14F-4D97-AF65-F5344CB8AC3E}">
        <p14:creationId xmlns:p14="http://schemas.microsoft.com/office/powerpoint/2010/main" val="5158219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C464A2-D456-47A2-8AD6-30B781BC5E46}"/>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ideia econômica do artigo</a:t>
            </a:r>
          </a:p>
        </p:txBody>
      </p:sp>
      <p:sp>
        <p:nvSpPr>
          <p:cNvPr id="2" name="">
            <a:extLst xmlns:a="http://schemas.openxmlformats.org/drawingml/2006/main">
              <a:ext uri="{FF2B5EF4-FFF2-40B4-BE49-F238E27FC236}">
                <a16:creationId xmlns:a16="http://schemas.microsoft.com/office/drawing/2014/main" id="{DB0D7F23-4313-45FF-B4FD-FDC8045798EF}"/>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Eichenbaum, Johannsen e Rebelo (EJR, 2021), Review of Economic Studies</a:t>
            </a:r>
          </a:p>
        </p:txBody>
      </p:sp>
      <p:sp>
        <p:nvSpPr>
          <p:cNvPr id="3" name="">
            <a:extLst xmlns:a="http://schemas.openxmlformats.org/drawingml/2006/main">
              <a:ext uri="{FF2B5EF4-FFF2-40B4-BE49-F238E27FC236}">
                <a16:creationId xmlns:a16="http://schemas.microsoft.com/office/drawing/2014/main" id="{F9DBB377-56CD-4C3D-9414-D3C45D330DD7}"/>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9BFB65C7-8B28-4521-B6A9-CC5A2F8A1F89}"/>
              </a:ext>
            </a:extLst>
          </p:cNvPr>
          <p:cNvSpPr>
            <a:spLocks xmlns:a="http://schemas.openxmlformats.org/drawingml/2006/main" noGrp="1"/>
          </p:cNvSpPr>
          <p:nvPr/>
        </p:nvSpPr>
        <p:spPr>
          <a:xfrm xmlns:a="http://schemas.openxmlformats.org/drawingml/2006/main">
            <a:off x="609600" y="20478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Câmbio real = cotação × preços dos EUA / preços locais</a:t>
            </a:r>
          </a:p>
        </p:txBody>
      </p:sp>
      <p:sp>
        <p:nvSpPr>
          <p:cNvPr id="5" name="">
            <a:extLst xmlns:a="http://schemas.openxmlformats.org/drawingml/2006/main">
              <a:ext uri="{FF2B5EF4-FFF2-40B4-BE49-F238E27FC236}">
                <a16:creationId xmlns:a16="http://schemas.microsoft.com/office/drawing/2014/main" id="{92972DDC-2090-442E-B752-4EF269A54001}"/>
              </a:ext>
            </a:extLst>
          </p:cNvPr>
          <p:cNvSpPr>
            <a:spLocks xmlns:a="http://schemas.openxmlformats.org/drawingml/2006/main" noGrp="1"/>
          </p:cNvSpPr>
          <p:nvPr/>
        </p:nvSpPr>
        <p:spPr>
          <a:xfrm xmlns:a="http://schemas.openxmlformats.org/drawingml/2006/main">
            <a:off x="609600" y="297180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Uma moeda relativamente barata pode se ajustar pela cotação</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ou pela inflação relativa.</a:t>
            </a:r>
          </a:p>
        </p:txBody>
      </p:sp>
      <p:sp>
        <p:nvSpPr>
          <p:cNvPr id="6" name="">
            <a:extLst xmlns:a="http://schemas.openxmlformats.org/drawingml/2006/main">
              <a:ext uri="{FF2B5EF4-FFF2-40B4-BE49-F238E27FC236}">
                <a16:creationId xmlns:a16="http://schemas.microsoft.com/office/drawing/2014/main" id="{9FD952C3-A468-4954-A113-F559F2356C4F}"/>
              </a:ext>
            </a:extLst>
          </p:cNvPr>
          <p:cNvSpPr>
            <a:spLocks xmlns:a="http://schemas.openxmlformats.org/drawingml/2006/main" noGrp="1"/>
          </p:cNvSpPr>
          <p:nvPr/>
        </p:nvSpPr>
        <p:spPr>
          <a:xfrm xmlns:a="http://schemas.openxmlformats.org/drawingml/2006/main">
            <a:off x="609600" y="423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Nos países com metas de inflação do artigo, o câmbio real</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ajuda a prever o nominal futuro e prevê pouco a inflação.</a:t>
            </a:r>
          </a:p>
        </p:txBody>
      </p:sp>
      <p:sp>
        <p:nvSpPr>
          <p:cNvPr id="7" name="">
            <a:extLst xmlns:a="http://schemas.openxmlformats.org/drawingml/2006/main">
              <a:ext uri="{FF2B5EF4-FFF2-40B4-BE49-F238E27FC236}">
                <a16:creationId xmlns:a16="http://schemas.microsoft.com/office/drawing/2014/main" id="{BD999933-314D-47D9-8DB8-FB6245B61687}"/>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Escopo deste trabalho: relação preditiva e exemplo da aula. O modelo estrutural completo do artigo fica fora da replicação.</a:t>
            </a:r>
          </a:p>
        </p:txBody>
      </p:sp>
    </p:spTree>
    <p:extLst>
      <p:ext uri="{BB962C8B-B14F-4D97-AF65-F5344CB8AC3E}">
        <p14:creationId xmlns:p14="http://schemas.microsoft.com/office/powerpoint/2010/main" val="39564352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02FD7E5-E3FF-4CDE-BD14-07203E4CDFE9}"/>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relação da aula aparece na replicação</a:t>
            </a:r>
          </a:p>
        </p:txBody>
      </p:sp>
      <p:sp>
        <p:nvSpPr>
          <p:cNvPr id="2" name="">
            <a:extLst xmlns:a="http://schemas.openxmlformats.org/drawingml/2006/main">
              <a:ext uri="{FF2B5EF4-FFF2-40B4-BE49-F238E27FC236}">
                <a16:creationId xmlns:a16="http://schemas.microsoft.com/office/drawing/2014/main" id="{BACF09CC-BA31-4433-B2F6-19D43F23FB6C}"/>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Brasil, horizonte de oito anos. Ajuste dentro da amostra.</a:t>
            </a:r>
          </a:p>
        </p:txBody>
      </p:sp>
      <p:sp>
        <p:nvSpPr>
          <p:cNvPr id="3" name="">
            <a:extLst xmlns:a="http://schemas.openxmlformats.org/drawingml/2006/main">
              <a:ext uri="{FF2B5EF4-FFF2-40B4-BE49-F238E27FC236}">
                <a16:creationId xmlns:a16="http://schemas.microsoft.com/office/drawing/2014/main" id="{EC47855A-E9FE-4237-870F-5DFB6B132F84}"/>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03</a:t>
            </a:r>
          </a:p>
        </p:txBody>
      </p:sp>
      <p:graphicFrame>
        <p:nvGraphicFramePr>
          <p:cNvPr id="14" name="Chart"/>
          <p:cNvGraphicFramePr/>
          <p:nvPr/>
        </p:nvGraphicFramePr>
        <p:xfrm>
          <a:off xmlns:a="http://schemas.openxmlformats.org/drawingml/2006/main" x="514350" y="2000250"/>
          <a:ext xmlns:a="http://schemas.openxmlformats.org/drawingml/2006/main" cx="7953375" cy="3495675"/>
        </p:xfrm>
        <a:graphic xmlns:a="http://schemas.openxmlformats.org/drawingml/2006/main">
          <a:graphicData uri="http://schemas.openxmlformats.org/drawingml/2006/chart">
            <c:chart xmlns:r="http://schemas.openxmlformats.org/officeDocument/2006/relationships" xmlns:c="http://schemas.openxmlformats.org/drawingml/2006/chart" r:id="R5f4fd93d536b482c"/>
          </a:graphicData>
        </a:graphic>
      </p:graphicFrame>
      <p:sp>
        <p:nvSpPr>
          <p:cNvPr id="5" name="">
            <a:extLst xmlns:a="http://schemas.openxmlformats.org/drawingml/2006/main">
              <a:ext uri="{FF2B5EF4-FFF2-40B4-BE49-F238E27FC236}">
                <a16:creationId xmlns:a16="http://schemas.microsoft.com/office/drawing/2014/main" id="{8FA5EBC5-DD21-48A4-822A-FE3187DD131D}"/>
              </a:ext>
            </a:extLst>
          </p:cNvPr>
          <p:cNvSpPr>
            <a:spLocks xmlns:a="http://schemas.openxmlformats.org/drawingml/2006/main" noGrp="1"/>
          </p:cNvSpPr>
          <p:nvPr/>
        </p:nvSpPr>
        <p:spPr>
          <a:xfrm xmlns:a="http://schemas.openxmlformats.org/drawingml/2006/main">
            <a:off x="8867775" y="2238375"/>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B6770"/>
                </a:solidFill>
                <a:latin typeface="Arial"/>
                <a:ea typeface="Arial"/>
                <a:cs typeface="Arial"/>
              </a:defRPr>
            </a:pPr>
            <a:r>
              <a:rPr sz="1875" b="0">
                <a:solidFill>
                  <a:srgbClr val="5B6770"/>
                </a:solidFill>
                <a:latin typeface="Arial"/>
                <a:ea typeface="Arial"/>
                <a:cs typeface="Arial"/>
              </a:rPr>
              <a:t>Inclinação</a:t>
            </a:r>
          </a:p>
        </p:txBody>
      </p:sp>
      <p:sp>
        <p:nvSpPr>
          <p:cNvPr id="6" name="">
            <a:extLst xmlns:a="http://schemas.openxmlformats.org/drawingml/2006/main">
              <a:ext uri="{FF2B5EF4-FFF2-40B4-BE49-F238E27FC236}">
                <a16:creationId xmlns:a16="http://schemas.microsoft.com/office/drawing/2014/main" id="{80110906-A7D7-4C8A-94B1-71B6F4C09A8E}"/>
              </a:ext>
            </a:extLst>
          </p:cNvPr>
          <p:cNvSpPr>
            <a:spLocks xmlns:a="http://schemas.openxmlformats.org/drawingml/2006/main" noGrp="1"/>
          </p:cNvSpPr>
          <p:nvPr/>
        </p:nvSpPr>
        <p:spPr>
          <a:xfrm xmlns:a="http://schemas.openxmlformats.org/drawingml/2006/main">
            <a:off x="8867775" y="266700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15354D"/>
                </a:solidFill>
                <a:latin typeface="Arial"/>
                <a:ea typeface="Arial"/>
                <a:cs typeface="Arial"/>
              </a:defRPr>
            </a:pPr>
            <a:r>
              <a:rPr sz="3750" b="1">
                <a:solidFill>
                  <a:srgbClr val="15354D"/>
                </a:solidFill>
                <a:latin typeface="Arial"/>
                <a:ea typeface="Arial"/>
                <a:cs typeface="Arial"/>
              </a:rPr>
              <a:t>-1,808</a:t>
            </a:r>
          </a:p>
        </p:txBody>
      </p:sp>
      <p:sp>
        <p:nvSpPr>
          <p:cNvPr id="7" name="">
            <a:extLst xmlns:a="http://schemas.openxmlformats.org/drawingml/2006/main">
              <a:ext uri="{FF2B5EF4-FFF2-40B4-BE49-F238E27FC236}">
                <a16:creationId xmlns:a16="http://schemas.microsoft.com/office/drawing/2014/main" id="{53CC4567-40C8-4DD6-8E02-B8C16856DC4E}"/>
              </a:ext>
            </a:extLst>
          </p:cNvPr>
          <p:cNvSpPr>
            <a:spLocks xmlns:a="http://schemas.openxmlformats.org/drawingml/2006/main" noGrp="1"/>
          </p:cNvSpPr>
          <p:nvPr/>
        </p:nvSpPr>
        <p:spPr>
          <a:xfrm xmlns:a="http://schemas.openxmlformats.org/drawingml/2006/main">
            <a:off x="8867775" y="36385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B6770"/>
                </a:solidFill>
                <a:latin typeface="Arial"/>
                <a:ea typeface="Arial"/>
                <a:cs typeface="Arial"/>
              </a:defRPr>
            </a:pPr>
            <a:r>
              <a:rPr sz="1875" b="0">
                <a:solidFill>
                  <a:srgbClr val="5B6770"/>
                </a:solidFill>
                <a:latin typeface="Arial"/>
                <a:ea typeface="Arial"/>
                <a:cs typeface="Arial"/>
              </a:rPr>
              <a:t>R² do ajuste</a:t>
            </a:r>
          </a:p>
        </p:txBody>
      </p:sp>
      <p:sp>
        <p:nvSpPr>
          <p:cNvPr id="8" name="">
            <a:extLst xmlns:a="http://schemas.openxmlformats.org/drawingml/2006/main">
              <a:ext uri="{FF2B5EF4-FFF2-40B4-BE49-F238E27FC236}">
                <a16:creationId xmlns:a16="http://schemas.microsoft.com/office/drawing/2014/main" id="{34800DE9-44C7-40CE-BD8C-37EFA9C8EB85}"/>
              </a:ext>
            </a:extLst>
          </p:cNvPr>
          <p:cNvSpPr>
            <a:spLocks xmlns:a="http://schemas.openxmlformats.org/drawingml/2006/main" noGrp="1"/>
          </p:cNvSpPr>
          <p:nvPr/>
        </p:nvSpPr>
        <p:spPr>
          <a:xfrm xmlns:a="http://schemas.openxmlformats.org/drawingml/2006/main">
            <a:off x="8867775" y="4067175"/>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15354D"/>
                </a:solidFill>
                <a:latin typeface="Arial"/>
                <a:ea typeface="Arial"/>
                <a:cs typeface="Arial"/>
              </a:defRPr>
            </a:pPr>
            <a:r>
              <a:rPr sz="3750" b="1">
                <a:solidFill>
                  <a:srgbClr val="15354D"/>
                </a:solidFill>
                <a:latin typeface="Arial"/>
                <a:ea typeface="Arial"/>
                <a:cs typeface="Arial"/>
              </a:rPr>
              <a:t>0,883</a:t>
            </a:r>
          </a:p>
        </p:txBody>
      </p:sp>
      <p:sp>
        <p:nvSpPr>
          <p:cNvPr id="9" name="">
            <a:extLst xmlns:a="http://schemas.openxmlformats.org/drawingml/2006/main">
              <a:ext uri="{FF2B5EF4-FFF2-40B4-BE49-F238E27FC236}">
                <a16:creationId xmlns:a16="http://schemas.microsoft.com/office/drawing/2014/main" id="{084560DC-386B-4307-9396-4359D6BF626D}"/>
              </a:ext>
            </a:extLst>
          </p:cNvPr>
          <p:cNvSpPr>
            <a:spLocks xmlns:a="http://schemas.openxmlformats.org/drawingml/2006/main" noGrp="1"/>
          </p:cNvSpPr>
          <p:nvPr/>
        </p:nvSpPr>
        <p:spPr>
          <a:xfrm xmlns:a="http://schemas.openxmlformats.org/drawingml/2006/main">
            <a:off x="609600" y="55721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007F7B"/>
                </a:solidFill>
                <a:latin typeface="Arial"/>
                <a:ea typeface="Arial"/>
                <a:cs typeface="Arial"/>
              </a:defRPr>
            </a:pPr>
            <a:r>
              <a:rPr sz="2100" b="1">
                <a:solidFill>
                  <a:srgbClr val="007F7B"/>
                </a:solidFill>
                <a:latin typeface="Arial"/>
                <a:ea typeface="Arial"/>
                <a:cs typeface="Arial"/>
              </a:rPr>
              <a:t>Replicar uma relação histórica ainda não prova capacidade de previsão.</a:t>
            </a:r>
          </a:p>
        </p:txBody>
      </p:sp>
      <p:sp>
        <p:nvSpPr>
          <p:cNvPr id="10" name="">
            <a:extLst xmlns:a="http://schemas.openxmlformats.org/drawingml/2006/main">
              <a:ext uri="{FF2B5EF4-FFF2-40B4-BE49-F238E27FC236}">
                <a16:creationId xmlns:a16="http://schemas.microsoft.com/office/drawing/2014/main" id="{20A99153-F1FE-453F-B0E9-09744612A2DB}"/>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replicação da aula 8. 280 origens, jan/1995–abr/2018. Resultados até abr/2026. Horizontes sobrepostos.</a:t>
            </a:r>
          </a:p>
        </p:txBody>
      </p:sp>
    </p:spTree>
    <p:extLst>
      <p:ext uri="{BB962C8B-B14F-4D97-AF65-F5344CB8AC3E}">
        <p14:creationId xmlns:p14="http://schemas.microsoft.com/office/powerpoint/2010/main" val="226153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6D25B70-1BB2-4D15-BD2C-9969CCB59589}"/>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previsão varia por país e horizonte</a:t>
            </a:r>
          </a:p>
        </p:txBody>
      </p:sp>
      <p:sp>
        <p:nvSpPr>
          <p:cNvPr id="2" name="">
            <a:extLst xmlns:a="http://schemas.openxmlformats.org/drawingml/2006/main">
              <a:ext uri="{FF2B5EF4-FFF2-40B4-BE49-F238E27FC236}">
                <a16:creationId xmlns:a16="http://schemas.microsoft.com/office/drawing/2014/main" id="{DAF44CBD-7EAA-4A26-9710-82A029CE5985}"/>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Erro relativo a nenhuma mudança. Abaixo de 1, a previsão melhora.</a:t>
            </a:r>
          </a:p>
        </p:txBody>
      </p:sp>
      <p:sp>
        <p:nvSpPr>
          <p:cNvPr id="3" name="">
            <a:extLst xmlns:a="http://schemas.openxmlformats.org/drawingml/2006/main">
              <a:ext uri="{FF2B5EF4-FFF2-40B4-BE49-F238E27FC236}">
                <a16:creationId xmlns:a16="http://schemas.microsoft.com/office/drawing/2014/main" id="{8716AF2A-F891-4E51-9BCF-261031DB24C3}"/>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04</a:t>
            </a:r>
          </a:p>
        </p:txBody>
      </p:sp>
      <p:graphicFrame>
        <p:nvGraphicFramePr>
          <p:cNvPr id="10" name=""/>
          <p:cNvGraphicFramePr/>
          <p:nvPr/>
        </p:nvGraphicFramePr>
        <p:xfrm>
          <a:off xmlns:a="http://schemas.openxmlformats.org/drawingml/2006/main" x="609600" y="2019300"/>
          <a:ext xmlns:a="http://schemas.openxmlformats.org/drawingml/2006/main" cx="10972800" cy="3057525"/>
        </p:xfrm>
        <a:graphic xmlns:a="http://schemas.openxmlformats.org/drawingml/2006/main">
          <a:graphicData uri="http://schemas.openxmlformats.org/drawingml/2006/table">
            <a:tbl>
              <a:tblPr/>
              <a:tblGrid>
                <a:gridCol w="1809750"/>
                <a:gridCol w="2905125"/>
                <a:gridCol w="1905000"/>
                <a:gridCol w="4352925"/>
              </a:tblGrid>
              <a:tr h="436789">
                <a:tc>
                  <a:txBody>
                    <a:bodyPr/>
                    <a:lstStyle/>
                    <a:p>
                      <a:r>
                        <a:rPr sz="1875" b="1">
                          <a:solidFill>
                            <a:srgbClr val="FFFFFF"/>
                          </a:solidFill>
                          <a:latin typeface="Arial"/>
                          <a:ea typeface="Arial"/>
                          <a:cs typeface="Arial"/>
                        </a:rPr>
                        <a:t>Horizonte</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Painel: 6 moedas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Brasil¹</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Origens avaliadas</a:t>
                      </a:r>
                    </a:p>
                  </a:txBody>
                  <a:tcPr marL="152400" marR="114300" marT="95250" marB="95250" anchor="ctr">
                    <a:solidFill>
                      <a:srgbClr val="15354D"/>
                    </a:solidFill>
                  </a:tcPr>
                </a:tc>
              </a:tr>
              <a:tr h="436789">
                <a:tc>
                  <a:txBody>
                    <a:bodyPr/>
                    <a:lstStyle/>
                    <a:p>
                      <a:r>
                        <a:rPr sz="1950" b="1">
                          <a:solidFill>
                            <a:srgbClr val="15354D"/>
                          </a:solidFill>
                          <a:latin typeface="Arial"/>
                          <a:ea typeface="Arial"/>
                          <a:cs typeface="Arial"/>
                        </a:rPr>
                        <a:t>1 ano</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1,039</a:t>
                      </a:r>
                    </a:p>
                  </a:txBody>
                  <a:tcPr marL="152400" marR="114300" marT="95250" marB="95250" anchor="ctr">
                    <a:solidFill>
                      <a:srgbClr val="FFFFFF"/>
                    </a:solidFill>
                  </a:tcPr>
                </a:tc>
                <a:tc>
                  <a:txBody>
                    <a:bodyPr/>
                    <a:lstStyle/>
                    <a:p>
                      <a:r>
                        <a:rPr sz="1950" b="1">
                          <a:solidFill>
                            <a:srgbClr val="007F7B"/>
                          </a:solidFill>
                          <a:latin typeface="Arial"/>
                          <a:ea typeface="Arial"/>
                          <a:cs typeface="Arial"/>
                        </a:rPr>
                        <a:t>0,964</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jan/2010–ago/2025</a:t>
                      </a:r>
                    </a:p>
                  </a:txBody>
                  <a:tcPr marL="152400" marR="114300" marT="95250" marB="95250" anchor="ctr">
                    <a:solidFill>
                      <a:srgbClr val="FFFFFF"/>
                    </a:solidFill>
                  </a:tcPr>
                </a:tc>
              </a:tr>
              <a:tr h="436789">
                <a:tc>
                  <a:txBody>
                    <a:bodyPr/>
                    <a:lstStyle/>
                    <a:p>
                      <a:r>
                        <a:rPr sz="1950" b="1">
                          <a:solidFill>
                            <a:srgbClr val="15354D"/>
                          </a:solidFill>
                          <a:latin typeface="Arial"/>
                          <a:ea typeface="Arial"/>
                          <a:cs typeface="Arial"/>
                        </a:rPr>
                        <a:t>2 anos</a:t>
                      </a:r>
                    </a:p>
                  </a:txBody>
                  <a:tcPr marL="152400" marR="114300" marT="95250" marB="95250" anchor="ctr">
                    <a:solidFill>
                      <a:srgbClr val="E8EEF2"/>
                    </a:solidFill>
                  </a:tcPr>
                </a:tc>
                <a:tc>
                  <a:txBody>
                    <a:bodyPr/>
                    <a:lstStyle/>
                    <a:p>
                      <a:r>
                        <a:rPr sz="1950" b="0">
                          <a:solidFill>
                            <a:srgbClr val="15354D"/>
                          </a:solidFill>
                          <a:latin typeface="Arial"/>
                          <a:ea typeface="Arial"/>
                          <a:cs typeface="Arial"/>
                        </a:rPr>
                        <a:t>1,076</a:t>
                      </a:r>
                    </a:p>
                  </a:txBody>
                  <a:tcPr marL="152400" marR="114300" marT="95250" marB="95250" anchor="ctr">
                    <a:solidFill>
                      <a:srgbClr val="E8EEF2"/>
                    </a:solidFill>
                  </a:tcPr>
                </a:tc>
                <a:tc>
                  <a:txBody>
                    <a:bodyPr/>
                    <a:lstStyle/>
                    <a:p>
                      <a:r>
                        <a:rPr sz="1950" b="1">
                          <a:solidFill>
                            <a:srgbClr val="007F7B"/>
                          </a:solidFill>
                          <a:latin typeface="Arial"/>
                          <a:ea typeface="Arial"/>
                          <a:cs typeface="Arial"/>
                        </a:rPr>
                        <a:t>0,916</a:t>
                      </a:r>
                    </a:p>
                  </a:txBody>
                  <a:tcPr marL="152400" marR="114300" marT="95250" marB="95250" anchor="ctr">
                    <a:solidFill>
                      <a:srgbClr val="E8EEF2"/>
                    </a:solidFill>
                  </a:tcPr>
                </a:tc>
                <a:tc>
                  <a:txBody>
                    <a:bodyPr/>
                    <a:lstStyle/>
                    <a:p>
                      <a:r>
                        <a:rPr sz="1950" b="0">
                          <a:solidFill>
                            <a:srgbClr val="15354D"/>
                          </a:solidFill>
                          <a:latin typeface="Arial"/>
                          <a:ea typeface="Arial"/>
                          <a:cs typeface="Arial"/>
                        </a:rPr>
                        <a:t>jan/2010–ago/2024</a:t>
                      </a:r>
                    </a:p>
                  </a:txBody>
                  <a:tcPr marL="152400" marR="114300" marT="95250" marB="95250" anchor="ctr">
                    <a:solidFill>
                      <a:srgbClr val="E8EEF2"/>
                    </a:solidFill>
                  </a:tcPr>
                </a:tc>
              </a:tr>
              <a:tr h="436789">
                <a:tc>
                  <a:txBody>
                    <a:bodyPr/>
                    <a:lstStyle/>
                    <a:p>
                      <a:r>
                        <a:rPr sz="1950" b="1">
                          <a:solidFill>
                            <a:srgbClr val="15354D"/>
                          </a:solidFill>
                          <a:latin typeface="Arial"/>
                          <a:ea typeface="Arial"/>
                          <a:cs typeface="Arial"/>
                        </a:rPr>
                        <a:t>3 anos</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1,096</a:t>
                      </a:r>
                    </a:p>
                  </a:txBody>
                  <a:tcPr marL="152400" marR="114300" marT="95250" marB="95250" anchor="ctr">
                    <a:solidFill>
                      <a:srgbClr val="FFFFFF"/>
                    </a:solidFill>
                  </a:tcPr>
                </a:tc>
                <a:tc>
                  <a:txBody>
                    <a:bodyPr/>
                    <a:lstStyle/>
                    <a:p>
                      <a:r>
                        <a:rPr sz="1950" b="1">
                          <a:solidFill>
                            <a:srgbClr val="007F7B"/>
                          </a:solidFill>
                          <a:latin typeface="Arial"/>
                          <a:ea typeface="Arial"/>
                          <a:cs typeface="Arial"/>
                        </a:rPr>
                        <a:t>0,884</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jan/2010–ago/2023</a:t>
                      </a:r>
                    </a:p>
                  </a:txBody>
                  <a:tcPr marL="152400" marR="114300" marT="95250" marB="95250" anchor="ctr">
                    <a:solidFill>
                      <a:srgbClr val="FFFFFF"/>
                    </a:solidFill>
                  </a:tcPr>
                </a:tc>
              </a:tr>
              <a:tr h="436789">
                <a:tc>
                  <a:txBody>
                    <a:bodyPr/>
                    <a:lstStyle/>
                    <a:p>
                      <a:r>
                        <a:rPr sz="1950" b="1">
                          <a:solidFill>
                            <a:srgbClr val="15354D"/>
                          </a:solidFill>
                          <a:latin typeface="Arial"/>
                          <a:ea typeface="Arial"/>
                          <a:cs typeface="Arial"/>
                        </a:rPr>
                        <a:t>5 anos</a:t>
                      </a:r>
                    </a:p>
                  </a:txBody>
                  <a:tcPr marL="152400" marR="114300" marT="95250" marB="95250" anchor="ctr">
                    <a:solidFill>
                      <a:srgbClr val="E8EEF2"/>
                    </a:solidFill>
                  </a:tcPr>
                </a:tc>
                <a:tc>
                  <a:txBody>
                    <a:bodyPr/>
                    <a:lstStyle/>
                    <a:p>
                      <a:r>
                        <a:rPr sz="1950" b="0">
                          <a:solidFill>
                            <a:srgbClr val="15354D"/>
                          </a:solidFill>
                          <a:latin typeface="Arial"/>
                          <a:ea typeface="Arial"/>
                          <a:cs typeface="Arial"/>
                        </a:rPr>
                        <a:t>1,037</a:t>
                      </a:r>
                    </a:p>
                  </a:txBody>
                  <a:tcPr marL="152400" marR="114300" marT="95250" marB="95250" anchor="ctr">
                    <a:solidFill>
                      <a:srgbClr val="E8EEF2"/>
                    </a:solidFill>
                  </a:tcPr>
                </a:tc>
                <a:tc>
                  <a:txBody>
                    <a:bodyPr/>
                    <a:lstStyle/>
                    <a:p>
                      <a:r>
                        <a:rPr sz="1950" b="1">
                          <a:solidFill>
                            <a:srgbClr val="007F7B"/>
                          </a:solidFill>
                          <a:latin typeface="Arial"/>
                          <a:ea typeface="Arial"/>
                          <a:cs typeface="Arial"/>
                        </a:rPr>
                        <a:t>0,792</a:t>
                      </a:r>
                    </a:p>
                  </a:txBody>
                  <a:tcPr marL="152400" marR="114300" marT="95250" marB="95250" anchor="ctr">
                    <a:solidFill>
                      <a:srgbClr val="E8EEF2"/>
                    </a:solidFill>
                  </a:tcPr>
                </a:tc>
                <a:tc>
                  <a:txBody>
                    <a:bodyPr/>
                    <a:lstStyle/>
                    <a:p>
                      <a:r>
                        <a:rPr sz="1950" b="0">
                          <a:solidFill>
                            <a:srgbClr val="15354D"/>
                          </a:solidFill>
                          <a:latin typeface="Arial"/>
                          <a:ea typeface="Arial"/>
                          <a:cs typeface="Arial"/>
                        </a:rPr>
                        <a:t>jan/2010–ago/2021</a:t>
                      </a:r>
                    </a:p>
                  </a:txBody>
                  <a:tcPr marL="152400" marR="114300" marT="95250" marB="95250" anchor="ctr">
                    <a:solidFill>
                      <a:srgbClr val="E8EEF2"/>
                    </a:solidFill>
                  </a:tcPr>
                </a:tc>
              </a:tr>
              <a:tr h="436789">
                <a:tc>
                  <a:txBody>
                    <a:bodyPr/>
                    <a:lstStyle/>
                    <a:p>
                      <a:r>
                        <a:rPr sz="1950" b="1">
                          <a:solidFill>
                            <a:srgbClr val="15354D"/>
                          </a:solidFill>
                          <a:latin typeface="Arial"/>
                          <a:ea typeface="Arial"/>
                          <a:cs typeface="Arial"/>
                        </a:rPr>
                        <a:t>7 anos</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1,072</a:t>
                      </a:r>
                    </a:p>
                  </a:txBody>
                  <a:tcPr marL="152400" marR="114300" marT="95250" marB="95250" anchor="ctr">
                    <a:solidFill>
                      <a:srgbClr val="FFFFFF"/>
                    </a:solidFill>
                  </a:tcPr>
                </a:tc>
                <a:tc>
                  <a:txBody>
                    <a:bodyPr/>
                    <a:lstStyle/>
                    <a:p>
                      <a:r>
                        <a:rPr sz="1950" b="1">
                          <a:solidFill>
                            <a:srgbClr val="007F7B"/>
                          </a:solidFill>
                          <a:latin typeface="Arial"/>
                          <a:ea typeface="Arial"/>
                          <a:cs typeface="Arial"/>
                        </a:rPr>
                        <a:t>0,793</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nov/2011–ago/2019</a:t>
                      </a:r>
                    </a:p>
                  </a:txBody>
                  <a:tcPr marL="152400" marR="114300" marT="95250" marB="95250" anchor="ctr">
                    <a:solidFill>
                      <a:srgbClr val="FFFFFF"/>
                    </a:solidFill>
                  </a:tcPr>
                </a:tc>
              </a:tr>
              <a:tr h="436789">
                <a:tc>
                  <a:txBody>
                    <a:bodyPr/>
                    <a:lstStyle/>
                    <a:p>
                      <a:r>
                        <a:rPr sz="1950" b="1">
                          <a:solidFill>
                            <a:srgbClr val="15354D"/>
                          </a:solidFill>
                          <a:latin typeface="Arial"/>
                          <a:ea typeface="Arial"/>
                          <a:cs typeface="Arial"/>
                        </a:rPr>
                        <a:t>8 anos</a:t>
                      </a:r>
                    </a:p>
                  </a:txBody>
                  <a:tcPr marL="152400" marR="114300" marT="95250" marB="95250" anchor="ctr">
                    <a:solidFill>
                      <a:srgbClr val="E8EEF2"/>
                    </a:solidFill>
                  </a:tcPr>
                </a:tc>
                <a:tc>
                  <a:txBody>
                    <a:bodyPr/>
                    <a:lstStyle/>
                    <a:p>
                      <a:r>
                        <a:rPr sz="1950" b="0">
                          <a:solidFill>
                            <a:srgbClr val="15354D"/>
                          </a:solidFill>
                          <a:latin typeface="Arial"/>
                          <a:ea typeface="Arial"/>
                          <a:cs typeface="Arial"/>
                        </a:rPr>
                        <a:t>1,115</a:t>
                      </a:r>
                    </a:p>
                  </a:txBody>
                  <a:tcPr marL="152400" marR="114300" marT="95250" marB="95250" anchor="ctr">
                    <a:solidFill>
                      <a:srgbClr val="E8EEF2"/>
                    </a:solidFill>
                  </a:tcPr>
                </a:tc>
                <a:tc>
                  <a:txBody>
                    <a:bodyPr/>
                    <a:lstStyle/>
                    <a:p>
                      <a:r>
                        <a:rPr sz="1950" b="1">
                          <a:solidFill>
                            <a:srgbClr val="007F7B"/>
                          </a:solidFill>
                          <a:latin typeface="Arial"/>
                          <a:ea typeface="Arial"/>
                          <a:cs typeface="Arial"/>
                        </a:rPr>
                        <a:t>0,816</a:t>
                      </a:r>
                    </a:p>
                  </a:txBody>
                  <a:tcPr marL="152400" marR="114300" marT="95250" marB="95250" anchor="ctr">
                    <a:solidFill>
                      <a:srgbClr val="E8EEF2"/>
                    </a:solidFill>
                  </a:tcPr>
                </a:tc>
                <a:tc>
                  <a:txBody>
                    <a:bodyPr/>
                    <a:lstStyle/>
                    <a:p>
                      <a:r>
                        <a:rPr sz="1950" b="0">
                          <a:solidFill>
                            <a:srgbClr val="15354D"/>
                          </a:solidFill>
                          <a:latin typeface="Arial"/>
                          <a:ea typeface="Arial"/>
                          <a:cs typeface="Arial"/>
                        </a:rPr>
                        <a:t>nov/2012–ago/2018</a:t>
                      </a:r>
                    </a:p>
                  </a:txBody>
                  <a:tcPr marL="152400" marR="114300" marT="95250" marB="95250" anchor="ctr">
                    <a:solidFill>
                      <a:srgbClr val="E8EEF2"/>
                    </a:solidFill>
                  </a:tcPr>
                </a:tc>
              </a:tr>
            </a:tbl>
          </a:graphicData>
        </a:graphic>
      </p:graphicFrame>
      <p:sp>
        <p:nvSpPr>
          <p:cNvPr id="5" name="">
            <a:extLst xmlns:a="http://schemas.openxmlformats.org/drawingml/2006/main">
              <a:ext uri="{FF2B5EF4-FFF2-40B4-BE49-F238E27FC236}">
                <a16:creationId xmlns:a16="http://schemas.microsoft.com/office/drawing/2014/main" id="{0052303D-6BB3-4571-8227-FDAF2248D482}"/>
              </a:ext>
            </a:extLst>
          </p:cNvPr>
          <p:cNvSpPr>
            <a:spLocks xmlns:a="http://schemas.openxmlformats.org/drawingml/2006/main" noGrp="1"/>
          </p:cNvSpPr>
          <p:nvPr/>
        </p:nvSpPr>
        <p:spPr>
          <a:xfrm xmlns:a="http://schemas.openxmlformats.org/drawingml/2006/main">
            <a:off x="609600" y="525780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desde out/1999: mínimo 60 origens maduras por moeda; alvos até t−1.</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As janelas avaliadas variam por horizonte. Resultados dos alvos disponíveis até ago/2026.</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¹ Brasil usa a mesma inclinação agrupada. Ganho no país não implica ganho no painel.</a:t>
            </a:r>
          </a:p>
        </p:txBody>
      </p:sp>
      <p:sp>
        <p:nvSpPr>
          <p:cNvPr id="6" name="">
            <a:extLst xmlns:a="http://schemas.openxmlformats.org/drawingml/2006/main">
              <a:ext uri="{FF2B5EF4-FFF2-40B4-BE49-F238E27FC236}">
                <a16:creationId xmlns:a16="http://schemas.microsoft.com/office/drawing/2014/main" id="{DBE93FCD-A657-45BC-8E32-58654D2D5E70}"/>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forecast_accuracy.csv e timing_audit.csv. Painel: BRL, EUR, JPY, GBP, CAD, SEK. Erro relativo = RMSE / RMSE de nenhuma mudança.</a:t>
            </a:r>
          </a:p>
        </p:txBody>
      </p:sp>
    </p:spTree>
    <p:extLst>
      <p:ext uri="{BB962C8B-B14F-4D97-AF65-F5344CB8AC3E}">
        <p14:creationId xmlns:p14="http://schemas.microsoft.com/office/powerpoint/2010/main" val="204141257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044D93-7F1D-4F71-87EE-758A15C48943}"/>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proposta inicial para o carry</a:t>
            </a:r>
          </a:p>
        </p:txBody>
      </p:sp>
      <p:sp>
        <p:nvSpPr>
          <p:cNvPr id="2" name="">
            <a:extLst xmlns:a="http://schemas.openxmlformats.org/drawingml/2006/main">
              <a:ext uri="{FF2B5EF4-FFF2-40B4-BE49-F238E27FC236}">
                <a16:creationId xmlns:a16="http://schemas.microsoft.com/office/drawing/2014/main" id="{11A01FF9-06EB-4CC0-A002-BBB79427BFB4}"/>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Mesmos tipos de ativos e custos. O que muda é o sinal para escolher as moedas.</a:t>
            </a:r>
          </a:p>
        </p:txBody>
      </p:sp>
      <p:sp>
        <p:nvSpPr>
          <p:cNvPr id="3" name="">
            <a:extLst xmlns:a="http://schemas.openxmlformats.org/drawingml/2006/main">
              <a:ext uri="{FF2B5EF4-FFF2-40B4-BE49-F238E27FC236}">
                <a16:creationId xmlns:a16="http://schemas.microsoft.com/office/drawing/2014/main" id="{B15DF915-9167-43AF-B073-F2DBC169850A}"/>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05</a:t>
            </a:r>
          </a:p>
        </p:txBody>
      </p:sp>
      <p:graphicFrame>
        <p:nvGraphicFramePr>
          <p:cNvPr id="11" name=""/>
          <p:cNvGraphicFramePr/>
          <p:nvPr/>
        </p:nvGraphicFramePr>
        <p:xfrm>
          <a:off xmlns:a="http://schemas.openxmlformats.org/drawingml/2006/main" x="609600" y="2152650"/>
          <a:ext xmlns:a="http://schemas.openxmlformats.org/drawingml/2006/main" cx="10972800" cy="1485900"/>
        </p:xfrm>
        <a:graphic xmlns:a="http://schemas.openxmlformats.org/drawingml/2006/main">
          <a:graphicData uri="http://schemas.openxmlformats.org/drawingml/2006/table">
            <a:tbl>
              <a:tblPr/>
              <a:tblGrid>
                <a:gridCol w="5048250"/>
                <a:gridCol w="5924550"/>
              </a:tblGrid>
              <a:tr h="742950">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com previsão cambial</a:t>
                      </a:r>
                    </a:p>
                  </a:txBody>
                  <a:tcPr marL="152400" marR="114300" marT="95250" marB="95250" anchor="ctr">
                    <a:solidFill>
                      <a:srgbClr val="15354D"/>
                    </a:solidFill>
                  </a:tcPr>
                </a:tc>
              </a:tr>
              <a:tr h="742950">
                <a:tc>
                  <a:txBody>
                    <a:bodyPr/>
                    <a:lstStyle/>
                    <a:p>
                      <a:r>
                        <a:rPr sz="2025" b="1">
                          <a:solidFill>
                            <a:srgbClr val="15354D"/>
                          </a:solidFill>
                          <a:latin typeface="Arial"/>
                          <a:ea typeface="Arial"/>
                          <a:cs typeface="Arial"/>
                        </a:rPr>
                        <a:t>Diferencial de juros</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Diferencial de juros</a:t>
                      </a:r>
                    </a:p>
                    <a:p>
                      <a:r>
                        <a:rPr sz="2025" b="0">
                          <a:solidFill>
                            <a:srgbClr val="15354D"/>
                          </a:solidFill>
                          <a:latin typeface="Arial"/>
                          <a:ea typeface="Arial"/>
                          <a:cs typeface="Arial"/>
                        </a:rPr>
                        <a:t>+ valorização prevista</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3A84E37-50D4-46B4-B464-F35A5BFE875F}"/>
              </a:ext>
            </a:extLst>
          </p:cNvPr>
          <p:cNvSpPr>
            <a:spLocks xmlns:a="http://schemas.openxmlformats.org/drawingml/2006/main" noGrp="1"/>
          </p:cNvSpPr>
          <p:nvPr/>
        </p:nvSpPr>
        <p:spPr>
          <a:xfrm xmlns:a="http://schemas.openxmlformats.org/drawingml/2006/main">
            <a:off x="609600" y="394335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007F7B"/>
                </a:solidFill>
                <a:latin typeface="Arial"/>
                <a:ea typeface="Arial"/>
                <a:cs typeface="Arial"/>
              </a:defRPr>
            </a:pPr>
            <a:r>
              <a:rPr sz="2250" b="1">
                <a:solidFill>
                  <a:srgbClr val="007F7B"/>
                </a:solidFill>
                <a:latin typeface="Arial"/>
                <a:ea typeface="Arial"/>
                <a:cs typeface="Arial"/>
              </a:rPr>
              <a:t>Retorno aproximado = diferencial de juros + valorização cambial − custos</a:t>
            </a:r>
          </a:p>
        </p:txBody>
      </p:sp>
      <p:sp>
        <p:nvSpPr>
          <p:cNvPr id="6" name="">
            <a:extLst xmlns:a="http://schemas.openxmlformats.org/drawingml/2006/main">
              <a:ext uri="{FF2B5EF4-FFF2-40B4-BE49-F238E27FC236}">
                <a16:creationId xmlns:a16="http://schemas.microsoft.com/office/drawing/2014/main" id="{23946D99-B416-47EE-8EAA-EE8620015B11}"/>
              </a:ext>
            </a:extLst>
          </p:cNvPr>
          <p:cNvSpPr>
            <a:spLocks xmlns:a="http://schemas.openxmlformats.org/drawingml/2006/main" noGrp="1"/>
          </p:cNvSpPr>
          <p:nvPr/>
        </p:nvSpPr>
        <p:spPr>
          <a:xfrm xmlns:a="http://schemas.openxmlformats.org/drawingml/2006/main">
            <a:off x="609600" y="49149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Exemplo: ativo +10%, financiamento 3%, moeda −8%.</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Resultado exato antes de custos: 1,10 × 0,92 − 1,03 = −1,8%.</a:t>
            </a:r>
          </a:p>
        </p:txBody>
      </p:sp>
      <p:sp>
        <p:nvSpPr>
          <p:cNvPr id="7" name="">
            <a:extLst xmlns:a="http://schemas.openxmlformats.org/drawingml/2006/main">
              <a:ext uri="{FF2B5EF4-FFF2-40B4-BE49-F238E27FC236}">
                <a16:creationId xmlns:a16="http://schemas.microsoft.com/office/drawing/2014/main" id="{74D1D1DC-9F1A-4254-9FF4-4DEEC91F6001}"/>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Exemplo hipotético. Simulação com aplicações curtas e financiamento. O cálculo exato inclui interação entre juros e câmbio.</a:t>
            </a:r>
          </a:p>
        </p:txBody>
      </p:sp>
    </p:spTree>
    <p:extLst>
      <p:ext uri="{BB962C8B-B14F-4D97-AF65-F5344CB8AC3E}">
        <p14:creationId xmlns:p14="http://schemas.microsoft.com/office/powerpoint/2010/main" val="644840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D47285-A272-4D5B-81CA-85E764587318}"/>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Adicionar a previsão ao ranking piorou o retorno</a:t>
            </a:r>
          </a:p>
        </p:txBody>
      </p:sp>
      <p:sp>
        <p:nvSpPr>
          <p:cNvPr id="2" name="">
            <a:extLst xmlns:a="http://schemas.openxmlformats.org/drawingml/2006/main">
              <a:ext uri="{FF2B5EF4-FFF2-40B4-BE49-F238E27FC236}">
                <a16:creationId xmlns:a16="http://schemas.microsoft.com/office/drawing/2014/main" id="{49E4B0CB-31BA-4F53-9DAD-5BB953D298D1}"/>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Retornos líquidos em dólar, março de 2010 a agosto de 2026.</a:t>
            </a:r>
          </a:p>
        </p:txBody>
      </p:sp>
      <p:sp>
        <p:nvSpPr>
          <p:cNvPr id="3" name="">
            <a:extLst xmlns:a="http://schemas.openxmlformats.org/drawingml/2006/main">
              <a:ext uri="{FF2B5EF4-FFF2-40B4-BE49-F238E27FC236}">
                <a16:creationId xmlns:a16="http://schemas.microsoft.com/office/drawing/2014/main" id="{EEB7B655-B7A0-4E6E-9872-88AE1A61184C}"/>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06</a:t>
            </a:r>
          </a:p>
        </p:txBody>
      </p:sp>
      <p:graphicFrame>
        <p:nvGraphicFramePr>
          <p:cNvPr id="10" name=""/>
          <p:cNvGraphicFramePr/>
          <p:nvPr/>
        </p:nvGraphicFramePr>
        <p:xfrm>
          <a:off xmlns:a="http://schemas.openxmlformats.org/drawingml/2006/main" x="609600" y="1981200"/>
          <a:ext xmlns:a="http://schemas.openxmlformats.org/drawingml/2006/main" cx="10972800" cy="2619375"/>
        </p:xfrm>
        <a:graphic xmlns:a="http://schemas.openxmlformats.org/drawingml/2006/main">
          <a:graphicData uri="http://schemas.openxmlformats.org/drawingml/2006/table">
            <a:tbl>
              <a:tblPr/>
              <a:tblGrid>
                <a:gridCol w="5191125"/>
                <a:gridCol w="2905125"/>
                <a:gridCol w="2876550"/>
              </a:tblGrid>
              <a:tr h="523875">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 previsão</a:t>
                      </a:r>
                    </a:p>
                  </a:txBody>
                  <a:tcPr marL="152400" marR="114300" marT="95250" marB="95250" anchor="ctr">
                    <a:solidFill>
                      <a:srgbClr val="15354D"/>
                    </a:solidFill>
                  </a:tcPr>
                </a:tc>
              </a:tr>
              <a:tr h="523875">
                <a:tc>
                  <a:txBody>
                    <a:bodyPr/>
                    <a:lstStyle/>
                    <a:p>
                      <a:r>
                        <a:rPr sz="2025" b="1">
                          <a:solidFill>
                            <a:srgbClr val="15354D"/>
                          </a:solidFill>
                          <a:latin typeface="Arial"/>
                          <a:ea typeface="Arial"/>
                          <a:cs typeface="Arial"/>
                        </a:rPr>
                        <a:t>Retorno anual composto</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4,11%</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2,73%</a:t>
                      </a:r>
                    </a:p>
                  </a:txBody>
                  <a:tcPr marL="152400" marR="114300" marT="95250" marB="95250" anchor="ctr">
                    <a:solidFill>
                      <a:srgbClr val="FFFFFF"/>
                    </a:solidFill>
                  </a:tcPr>
                </a:tc>
              </a:tr>
              <a:tr h="523875">
                <a:tc>
                  <a:txBody>
                    <a:bodyPr/>
                    <a:lstStyle/>
                    <a:p>
                      <a:r>
                        <a:rPr sz="2025" b="1">
                          <a:solidFill>
                            <a:srgbClr val="15354D"/>
                          </a:solidFill>
                          <a:latin typeface="Arial"/>
                          <a:ea typeface="Arial"/>
                          <a:cs typeface="Arial"/>
                        </a:rPr>
                        <a:t>Volatilidade anual</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4,43%</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4,16%</a:t>
                      </a:r>
                    </a:p>
                  </a:txBody>
                  <a:tcPr marL="152400" marR="114300" marT="95250" marB="95250" anchor="ctr">
                    <a:solidFill>
                      <a:srgbClr val="E8EEF2"/>
                    </a:solidFill>
                  </a:tcPr>
                </a:tc>
              </a:tr>
              <a:tr h="523875">
                <a:tc>
                  <a:txBody>
                    <a:bodyPr/>
                    <a:lstStyle/>
                    <a:p>
                      <a:r>
                        <a:rPr sz="2025" b="1">
                          <a:solidFill>
                            <a:srgbClr val="15354D"/>
                          </a:solidFill>
                          <a:latin typeface="Arial"/>
                          <a:ea typeface="Arial"/>
                          <a:cs typeface="Arial"/>
                        </a:rPr>
                        <a:t>Sharpe</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0,60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0,31</a:t>
                      </a:r>
                    </a:p>
                  </a:txBody>
                  <a:tcPr marL="152400" marR="114300" marT="95250" marB="95250" anchor="ctr">
                    <a:solidFill>
                      <a:srgbClr val="FFFFFF"/>
                    </a:solidFill>
                  </a:tcPr>
                </a:tc>
              </a:tr>
              <a:tr h="523875">
                <a:tc>
                  <a:txBody>
                    <a:bodyPr/>
                    <a:lstStyle/>
                    <a:p>
                      <a:r>
                        <a:rPr sz="2025" b="1">
                          <a:solidFill>
                            <a:srgbClr val="15354D"/>
                          </a:solidFill>
                          <a:latin typeface="Arial"/>
                          <a:ea typeface="Arial"/>
                          <a:cs typeface="Arial"/>
                        </a:rPr>
                        <a:t>Queda máxima</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-9,09%</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-7,01%</a:t>
                      </a:r>
                    </a:p>
                  </a:txBody>
                  <a:tcPr marL="152400" marR="114300" marT="95250" marB="95250" anchor="ctr">
                    <a:solidFill>
                      <a:srgbClr val="E8EEF2"/>
                    </a:solidFill>
                  </a:tcPr>
                </a:tc>
              </a:tr>
            </a:tbl>
          </a:graphicData>
        </a:graphic>
      </p:graphicFrame>
      <p:sp>
        <p:nvSpPr>
          <p:cNvPr id="5" name="">
            <a:extLst xmlns:a="http://schemas.openxmlformats.org/drawingml/2006/main">
              <a:ext uri="{FF2B5EF4-FFF2-40B4-BE49-F238E27FC236}">
                <a16:creationId xmlns:a16="http://schemas.microsoft.com/office/drawing/2014/main" id="{46F178D3-6788-4F09-947B-0D197492203D}"/>
              </a:ext>
            </a:extLst>
          </p:cNvPr>
          <p:cNvSpPr>
            <a:spLocks xmlns:a="http://schemas.openxmlformats.org/drawingml/2006/main" noGrp="1"/>
          </p:cNvSpPr>
          <p:nvPr/>
        </p:nvSpPr>
        <p:spPr>
          <a:xfrm xmlns:a="http://schemas.openxmlformats.org/drawingml/2006/main">
            <a:off x="609600" y="4772025"/>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Ranking com 2 compras e 2 vendas, 25% por ponta. Sem otimização de Markowitz.</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Previsão 60m; revisão mensal; execução t+1. Backtest: mar/2010–ago/2026.</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inicial: origens out/1999–dez/2004, alvos até dez/2009. Depois, expansivo mensal.</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Custos: BRL 10 pb, SEK 3 pb, demais 2 pb por notional; spread extra na venda 50 pb a.a.</a:t>
            </a:r>
          </a:p>
        </p:txBody>
      </p:sp>
      <p:sp>
        <p:nvSpPr>
          <p:cNvPr id="6" name="">
            <a:extLst xmlns:a="http://schemas.openxmlformats.org/drawingml/2006/main">
              <a:ext uri="{FF2B5EF4-FFF2-40B4-BE49-F238E27FC236}">
                <a16:creationId xmlns:a16="http://schemas.microsoft.com/office/drawing/2014/main" id="{B64B1DE5-6E71-4FEA-B797-14CA076CFE78}"/>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portfolio_metrics.csv, timing_audit.csv e src/models.py. Custos em entrada, rebalanceamento e saída. Caixa USD incluído.</a:t>
            </a:r>
          </a:p>
        </p:txBody>
      </p:sp>
    </p:spTree>
    <p:extLst>
      <p:ext uri="{BB962C8B-B14F-4D97-AF65-F5344CB8AC3E}">
        <p14:creationId xmlns:p14="http://schemas.microsoft.com/office/powerpoint/2010/main" val="113197067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8BE0EC-F9B5-4A02-BB2B-EDFA8D966ED2}"/>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ranking com previsão acumulou menos patrimônio</a:t>
            </a:r>
          </a:p>
        </p:txBody>
      </p:sp>
      <p:sp>
        <p:nvSpPr>
          <p:cNvPr id="2" name="">
            <a:extLst xmlns:a="http://schemas.openxmlformats.org/drawingml/2006/main">
              <a:ext uri="{FF2B5EF4-FFF2-40B4-BE49-F238E27FC236}">
                <a16:creationId xmlns:a16="http://schemas.microsoft.com/office/drawing/2014/main" id="{662BD940-C8D8-4E2F-BF90-7E11EA50A7BE}"/>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Mesmas regras do slide anterior. Patrimônio líquido em USD, base 100.</a:t>
            </a:r>
          </a:p>
        </p:txBody>
      </p:sp>
      <p:sp>
        <p:nvSpPr>
          <p:cNvPr id="3" name="">
            <a:extLst xmlns:a="http://schemas.openxmlformats.org/drawingml/2006/main">
              <a:ext uri="{FF2B5EF4-FFF2-40B4-BE49-F238E27FC236}">
                <a16:creationId xmlns:a16="http://schemas.microsoft.com/office/drawing/2014/main" id="{557D6ACE-1B7E-4932-A36A-5CD768669504}"/>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07</a:t>
            </a:r>
          </a:p>
        </p:txBody>
      </p:sp>
      <p:graphicFrame>
        <p:nvGraphicFramePr>
          <p:cNvPr id="10" name="Chart"/>
          <p:cNvGraphicFramePr/>
          <p:nvPr/>
        </p:nvGraphicFramePr>
        <p:xfrm>
          <a:off xmlns:a="http://schemas.openxmlformats.org/drawingml/2006/main" x="523875" y="1952625"/>
          <a:ext xmlns:a="http://schemas.openxmlformats.org/drawingml/2006/main" cx="11144250" cy="3238500"/>
        </p:xfrm>
        <a:graphic xmlns:a="http://schemas.openxmlformats.org/drawingml/2006/main">
          <a:graphicData uri="http://schemas.openxmlformats.org/drawingml/2006/chart">
            <c:chart xmlns:r="http://schemas.openxmlformats.org/officeDocument/2006/relationships" xmlns:c="http://schemas.openxmlformats.org/drawingml/2006/chart" r:id="R8f834b4c89204bee"/>
          </a:graphicData>
        </a:graphic>
      </p:graphicFrame>
      <p:sp>
        <p:nvSpPr>
          <p:cNvPr id="5" name="">
            <a:extLst xmlns:a="http://schemas.openxmlformats.org/drawingml/2006/main">
              <a:ext uri="{FF2B5EF4-FFF2-40B4-BE49-F238E27FC236}">
                <a16:creationId xmlns:a16="http://schemas.microsoft.com/office/drawing/2014/main" id="{63B7D564-BE60-4CA3-A054-69BE887355BB}"/>
              </a:ext>
            </a:extLst>
          </p:cNvPr>
          <p:cNvSpPr>
            <a:spLocks xmlns:a="http://schemas.openxmlformats.org/drawingml/2006/main" noGrp="1"/>
          </p:cNvSpPr>
          <p:nvPr/>
        </p:nvSpPr>
        <p:spPr>
          <a:xfrm xmlns:a="http://schemas.openxmlformats.org/drawingml/2006/main">
            <a:off x="609600" y="5381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Backtest: mar/2010–ago/2026. Treino EJR expansivo desde out/1999, só com alvos maduros.</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Horizonte da previsão: 60 meses. Revisão das posições: mensal. Custos iguais aos do slide 6.</a:t>
            </a:r>
          </a:p>
        </p:txBody>
      </p:sp>
      <p:sp>
        <p:nvSpPr>
          <p:cNvPr id="6" name="">
            <a:extLst xmlns:a="http://schemas.openxmlformats.org/drawingml/2006/main">
              <a:ext uri="{FF2B5EF4-FFF2-40B4-BE49-F238E27FC236}">
                <a16:creationId xmlns:a16="http://schemas.microsoft.com/office/drawing/2014/main" id="{74385A34-5D45-4A6C-9737-F4C894644455}"/>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portfolio_returns.csv. 198 retornos líquidos mensais. A previsão de cinco anos não fixa cinco anos de permanência.</a:t>
            </a:r>
          </a:p>
        </p:txBody>
      </p:sp>
    </p:spTree>
    <p:extLst>
      <p:ext uri="{BB962C8B-B14F-4D97-AF65-F5344CB8AC3E}">
        <p14:creationId xmlns:p14="http://schemas.microsoft.com/office/powerpoint/2010/main" val="156224876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B115BD-26DB-4700-8534-20C24C8D8AB4}"/>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Commodities e condições de troca</a:t>
            </a:r>
          </a:p>
        </p:txBody>
      </p:sp>
      <p:sp>
        <p:nvSpPr>
          <p:cNvPr id="2" name="">
            <a:extLst xmlns:a="http://schemas.openxmlformats.org/drawingml/2006/main">
              <a:ext uri="{FF2B5EF4-FFF2-40B4-BE49-F238E27FC236}">
                <a16:creationId xmlns:a16="http://schemas.microsoft.com/office/drawing/2014/main" id="{4FB90090-F44B-4F0C-86D8-D1920AD9FC23}"/>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Etapa preditiva: sem carteiras de commodities.</a:t>
            </a:r>
          </a:p>
        </p:txBody>
      </p:sp>
      <p:sp>
        <p:nvSpPr>
          <p:cNvPr id="3" name="">
            <a:extLst xmlns:a="http://schemas.openxmlformats.org/drawingml/2006/main">
              <a:ext uri="{FF2B5EF4-FFF2-40B4-BE49-F238E27FC236}">
                <a16:creationId xmlns:a16="http://schemas.microsoft.com/office/drawing/2014/main" id="{345234EB-59ED-4F25-A1BC-96EA81D7B846}"/>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746E352E-319D-44D8-98FC-C05C9A9AFFD7}"/>
              </a:ext>
            </a:extLst>
          </p:cNvPr>
          <p:cNvSpPr>
            <a:spLocks xmlns:a="http://schemas.openxmlformats.org/drawingml/2006/main" noGrp="1"/>
          </p:cNvSpPr>
          <p:nvPr/>
        </p:nvSpPr>
        <p:spPr>
          <a:xfrm xmlns:a="http://schemas.openxmlformats.org/drawingml/2006/main">
            <a:off x="609600" y="209550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007F7B"/>
                </a:solidFill>
                <a:latin typeface="Arial"/>
                <a:ea typeface="Arial"/>
                <a:cs typeface="Arial"/>
              </a:defRPr>
            </a:pPr>
            <a:r>
              <a:rPr sz="2475" b="1">
                <a:solidFill>
                  <a:srgbClr val="007F7B"/>
                </a:solidFill>
                <a:latin typeface="Arial"/>
                <a:ea typeface="Arial"/>
                <a:cs typeface="Arial"/>
              </a:rPr>
              <a:t>Termos de troca = preços das exportações / preços das importações</a:t>
            </a:r>
          </a:p>
        </p:txBody>
      </p:sp>
      <p:sp>
        <p:nvSpPr>
          <p:cNvPr id="5" name="">
            <a:extLst xmlns:a="http://schemas.openxmlformats.org/drawingml/2006/main">
              <a:ext uri="{FF2B5EF4-FFF2-40B4-BE49-F238E27FC236}">
                <a16:creationId xmlns:a16="http://schemas.microsoft.com/office/drawing/2014/main" id="{8EE18ADC-D0B0-4070-AA33-784931E142FE}"/>
              </a:ext>
            </a:extLst>
          </p:cNvPr>
          <p:cNvSpPr>
            <a:spLocks xmlns:a="http://schemas.openxmlformats.org/drawingml/2006/main" noGrp="1"/>
          </p:cNvSpPr>
          <p:nvPr/>
        </p:nvSpPr>
        <p:spPr>
          <a:xfrm xmlns:a="http://schemas.openxmlformats.org/drawingml/2006/main">
            <a:off x="609600" y="31908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Uma alta do petróleo pode favorecer um exportador líquido</a:t>
            </a:r>
          </a:p>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e prejudicar um importador líquido.</a:t>
            </a:r>
          </a:p>
        </p:txBody>
      </p:sp>
      <p:sp>
        <p:nvSpPr>
          <p:cNvPr id="6" name="">
            <a:extLst xmlns:a="http://schemas.openxmlformats.org/drawingml/2006/main">
              <a:ext uri="{FF2B5EF4-FFF2-40B4-BE49-F238E27FC236}">
                <a16:creationId xmlns:a16="http://schemas.microsoft.com/office/drawing/2014/main" id="{B1C55EE8-8499-48AC-980D-FC90F76DD4B8}"/>
              </a:ext>
            </a:extLst>
          </p:cNvPr>
          <p:cNvSpPr>
            <a:spLocks xmlns:a="http://schemas.openxmlformats.org/drawingml/2006/main" noGrp="1"/>
          </p:cNvSpPr>
          <p:nvPr/>
        </p:nvSpPr>
        <p:spPr>
          <a:xfrm xmlns:a="http://schemas.openxmlformats.org/drawingml/2006/main">
            <a:off x="609600" y="4600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Hipótese: o comércio muda a referência do câmbio real,</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e a média histórica passa a contar apenas parte da história.</a:t>
            </a:r>
          </a:p>
        </p:txBody>
      </p:sp>
      <p:sp>
        <p:nvSpPr>
          <p:cNvPr id="7" name="">
            <a:extLst xmlns:a="http://schemas.openxmlformats.org/drawingml/2006/main">
              <a:ext uri="{FF2B5EF4-FFF2-40B4-BE49-F238E27FC236}">
                <a16:creationId xmlns:a16="http://schemas.microsoft.com/office/drawing/2014/main" id="{98426C06-A4E6-438F-8825-6AF9AA6E06A2}"/>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Preços de commodities, termos de troca agregados e composição comercial são medidas distintas. Exemplo econômico ilustrativo.</a:t>
            </a:r>
          </a:p>
        </p:txBody>
      </p:sp>
    </p:spTree>
    <p:extLst>
      <p:ext uri="{BB962C8B-B14F-4D97-AF65-F5344CB8AC3E}">
        <p14:creationId xmlns:p14="http://schemas.microsoft.com/office/powerpoint/2010/main" val="67744215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4489F8-FFA8-4878-95B7-7E453E139417}"/>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Commodities na previsão feita em cada mês</a:t>
            </a:r>
          </a:p>
        </p:txBody>
      </p:sp>
      <p:sp>
        <p:nvSpPr>
          <p:cNvPr id="2" name="">
            <a:extLst xmlns:a="http://schemas.openxmlformats.org/drawingml/2006/main">
              <a:ext uri="{FF2B5EF4-FFF2-40B4-BE49-F238E27FC236}">
                <a16:creationId xmlns:a16="http://schemas.microsoft.com/office/drawing/2014/main" id="{F02B36D5-509E-4D42-AABB-7EBC3D2607F4}"/>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Origem = mês em que fazemos a previsão. Exemplo: jan/2010 prevê até jan/2015.</a:t>
            </a:r>
          </a:p>
        </p:txBody>
      </p:sp>
      <p:sp>
        <p:nvSpPr>
          <p:cNvPr id="3" name="">
            <a:extLst xmlns:a="http://schemas.openxmlformats.org/drawingml/2006/main">
              <a:ext uri="{FF2B5EF4-FFF2-40B4-BE49-F238E27FC236}">
                <a16:creationId xmlns:a16="http://schemas.microsoft.com/office/drawing/2014/main" id="{255E032C-C2BB-4CC5-890B-4A3062592B1E}"/>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09</a:t>
            </a:r>
          </a:p>
        </p:txBody>
      </p:sp>
      <p:graphicFrame>
        <p:nvGraphicFramePr>
          <p:cNvPr id="11" name=""/>
          <p:cNvGraphicFramePr/>
          <p:nvPr/>
        </p:nvGraphicFramePr>
        <p:xfrm>
          <a:off xmlns:a="http://schemas.openxmlformats.org/drawingml/2006/main" x="609600" y="2076450"/>
          <a:ext xmlns:a="http://schemas.openxmlformats.org/drawingml/2006/main" cx="10972800" cy="2476500"/>
        </p:xfrm>
        <a:graphic xmlns:a="http://schemas.openxmlformats.org/drawingml/2006/main">
          <a:graphicData uri="http://schemas.openxmlformats.org/drawingml/2006/table">
            <a:tbl>
              <a:tblPr/>
              <a:tblGrid>
                <a:gridCol w="4762500"/>
                <a:gridCol w="3105150"/>
                <a:gridCol w="3105150"/>
              </a:tblGrid>
              <a:tr h="619125">
                <a:tc>
                  <a:txBody>
                    <a:bodyPr/>
                    <a:lstStyle/>
                    <a:p>
                      <a:r>
                        <a:rPr sz="1875" b="1">
                          <a:solidFill>
                            <a:srgbClr val="FFFFFF"/>
                          </a:solidFill>
                          <a:latin typeface="Arial"/>
                          <a:ea typeface="Arial"/>
                          <a:cs typeface="Arial"/>
                        </a:rPr>
                        <a:t>Modelo</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Origens 2010–2021</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Origens 2019–2021</a:t>
                      </a:r>
                    </a:p>
                  </a:txBody>
                  <a:tcPr marL="152400" marR="114300" marT="95250" marB="95250" anchor="ctr">
                    <a:solidFill>
                      <a:srgbClr val="15354D"/>
                    </a:solidFill>
                  </a:tcPr>
                </a:tc>
              </a:tr>
              <a:tr h="619125">
                <a:tc>
                  <a:txBody>
                    <a:bodyPr/>
                    <a:lstStyle/>
                    <a:p>
                      <a:r>
                        <a:rPr sz="2025" b="1">
                          <a:solidFill>
                            <a:srgbClr val="15354D"/>
                          </a:solidFill>
                          <a:latin typeface="Arial"/>
                          <a:ea typeface="Arial"/>
                          <a:cs typeface="Arial"/>
                        </a:rPr>
                        <a:t>Nenhuma mudança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1,000</a:t>
                      </a:r>
                    </a:p>
                  </a:txBody>
                  <a:tcPr marL="152400" marR="114300" marT="95250" marB="95250" anchor="ctr">
                    <a:solidFill>
                      <a:srgbClr val="FFFFFF"/>
                    </a:solidFill>
                  </a:tcPr>
                </a:tc>
              </a:tr>
              <a:tr h="619125">
                <a:tc>
                  <a:txBody>
                    <a:bodyPr/>
                    <a:lstStyle/>
                    <a:p>
                      <a:r>
                        <a:rPr sz="2025" b="1">
                          <a:solidFill>
                            <a:srgbClr val="15354D"/>
                          </a:solidFill>
                          <a:latin typeface="Arial"/>
                          <a:ea typeface="Arial"/>
                          <a:cs typeface="Arial"/>
                        </a:rPr>
                        <a:t>EJR</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1,037</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1,977</a:t>
                      </a:r>
                    </a:p>
                  </a:txBody>
                  <a:tcPr marL="152400" marR="114300" marT="95250" marB="95250" anchor="ctr">
                    <a:solidFill>
                      <a:srgbClr val="E8EEF2"/>
                    </a:solidFill>
                  </a:tcPr>
                </a:tc>
              </a:tr>
              <a:tr h="619125">
                <a:tc>
                  <a:txBody>
                    <a:bodyPr/>
                    <a:lstStyle/>
                    <a:p>
                      <a:r>
                        <a:rPr sz="2025" b="1">
                          <a:solidFill>
                            <a:srgbClr val="15354D"/>
                          </a:solidFill>
                          <a:latin typeface="Arial"/>
                          <a:ea typeface="Arial"/>
                          <a:cs typeface="Arial"/>
                        </a:rPr>
                        <a:t>EJR + commodities</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0,890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1,630</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C75706E-4927-42C1-8243-DF3AFB1A8010}"/>
              </a:ext>
            </a:extLst>
          </p:cNvPr>
          <p:cNvSpPr>
            <a:spLocks xmlns:a="http://schemas.openxmlformats.org/drawingml/2006/main" noGrp="1"/>
          </p:cNvSpPr>
          <p:nvPr/>
        </p:nvSpPr>
        <p:spPr>
          <a:xfrm xmlns:a="http://schemas.openxmlformats.org/drawingml/2006/main">
            <a:off x="609600" y="46577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rPr>
              <a:t>Erro relativo: abaixo de 1 melhora. O recorte recente perde para a referência.</a:t>
            </a:r>
          </a:p>
        </p:txBody>
      </p:sp>
      <p:sp>
        <p:nvSpPr>
          <p:cNvPr id="6" name="">
            <a:extLst xmlns:a="http://schemas.openxmlformats.org/drawingml/2006/main">
              <a:ext uri="{FF2B5EF4-FFF2-40B4-BE49-F238E27FC236}">
                <a16:creationId xmlns:a16="http://schemas.microsoft.com/office/drawing/2014/main" id="{513B82F1-50DC-41C0-9A52-7FF584E0424E}"/>
              </a:ext>
            </a:extLst>
          </p:cNvPr>
          <p:cNvSpPr>
            <a:spLocks xmlns:a="http://schemas.openxmlformats.org/drawingml/2006/main" noGrp="1"/>
          </p:cNvSpPr>
          <p:nvPr/>
        </p:nvSpPr>
        <p:spPr>
          <a:xfrm xmlns:a="http://schemas.openxmlformats.org/drawingml/2006/main">
            <a:off x="609600" y="526732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origens desde out/1999, com alvos encerrados até t−1. Previsão: 60m.</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Avaliação: 140 origens jan/2010–ago/2021 e 32 origens jan/2019–ago/2021.</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Alvos realizados: jan/2015–ago/2026 e jan/2024–ago/2026. Sem carteiras neste teste.</a:t>
            </a:r>
          </a:p>
        </p:txBody>
      </p:sp>
      <p:sp>
        <p:nvSpPr>
          <p:cNvPr id="7" name="">
            <a:extLst xmlns:a="http://schemas.openxmlformats.org/drawingml/2006/main">
              <a:ext uri="{FF2B5EF4-FFF2-40B4-BE49-F238E27FC236}">
                <a16:creationId xmlns:a16="http://schemas.microsoft.com/office/drawing/2014/main" id="{88A3C27D-0267-4953-9384-0AB28E4C8084}"/>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terceiro relatório, REJR_Specific. Pesos comerciais de 1994–1996. Sem BRL, o ganho sobre nenhuma mudança desaparece.</a:t>
            </a:r>
          </a:p>
        </p:txBody>
      </p:sp>
    </p:spTree>
    <p:extLst>
      <p:ext uri="{BB962C8B-B14F-4D97-AF65-F5344CB8AC3E}">
        <p14:creationId xmlns:p14="http://schemas.microsoft.com/office/powerpoint/2010/main" val="47049313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03595AD-90F2-406B-ADAB-62D45F15DD29}"/>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Prever o câmbio real continuou difícil</a:t>
            </a:r>
          </a:p>
        </p:txBody>
      </p:sp>
      <p:sp>
        <p:nvSpPr>
          <p:cNvPr id="2" name="">
            <a:extLst xmlns:a="http://schemas.openxmlformats.org/drawingml/2006/main">
              <a:ext uri="{FF2B5EF4-FFF2-40B4-BE49-F238E27FC236}">
                <a16:creationId xmlns:a16="http://schemas.microsoft.com/office/drawing/2014/main" id="{674DF8E6-B60D-4C1E-983A-07C40F9C3E0E}"/>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Outro alvo: mudança do câmbio real em cinco anos.</a:t>
            </a:r>
          </a:p>
        </p:txBody>
      </p:sp>
      <p:sp>
        <p:nvSpPr>
          <p:cNvPr id="3" name="">
            <a:extLst xmlns:a="http://schemas.openxmlformats.org/drawingml/2006/main">
              <a:ext uri="{FF2B5EF4-FFF2-40B4-BE49-F238E27FC236}">
                <a16:creationId xmlns:a16="http://schemas.microsoft.com/office/drawing/2014/main" id="{FB4594C0-8D2F-4B15-9DF9-A273327BF8B6}"/>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10</a:t>
            </a:r>
          </a:p>
        </p:txBody>
      </p:sp>
      <p:graphicFrame>
        <p:nvGraphicFramePr>
          <p:cNvPr id="11" name=""/>
          <p:cNvGraphicFramePr/>
          <p:nvPr/>
        </p:nvGraphicFramePr>
        <p:xfrm>
          <a:off xmlns:a="http://schemas.openxmlformats.org/drawingml/2006/main" x="609600" y="2000250"/>
          <a:ext xmlns:a="http://schemas.openxmlformats.org/drawingml/2006/main" cx="10972800" cy="2524125"/>
        </p:xfrm>
        <a:graphic xmlns:a="http://schemas.openxmlformats.org/drawingml/2006/main">
          <a:graphicData uri="http://schemas.openxmlformats.org/drawingml/2006/table">
            <a:tbl>
              <a:tblPr/>
              <a:tblGrid>
                <a:gridCol w="8382000"/>
                <a:gridCol w="2590800"/>
              </a:tblGrid>
              <a:tr h="631031">
                <a:tc>
                  <a:txBody>
                    <a:bodyPr/>
                    <a:lstStyle/>
                    <a:p>
                      <a:r>
                        <a:rPr sz="1875" b="1">
                          <a:solidFill>
                            <a:srgbClr val="FFFFFF"/>
                          </a:solidFill>
                          <a:latin typeface="Arial"/>
                          <a:ea typeface="Arial"/>
                          <a:cs typeface="Arial"/>
                        </a:rPr>
                        <a:t>Modelo</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Erro relativo</a:t>
                      </a:r>
                    </a:p>
                  </a:txBody>
                  <a:tcPr marL="152400" marR="114300" marT="95250" marB="95250" anchor="ctr">
                    <a:solidFill>
                      <a:srgbClr val="15354D"/>
                    </a:solidFill>
                  </a:tcPr>
                </a:tc>
              </a:tr>
              <a:tr h="631031">
                <a:tc>
                  <a:txBody>
                    <a:bodyPr/>
                    <a:lstStyle/>
                    <a:p>
                      <a:r>
                        <a:rPr sz="2025" b="1">
                          <a:solidFill>
                            <a:srgbClr val="15354D"/>
                          </a:solidFill>
                          <a:latin typeface="Arial"/>
                          <a:ea typeface="Arial"/>
                          <a:cs typeface="Arial"/>
                        </a:rPr>
                        <a:t>Nenhuma mudança real</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a:t>
                      </a:r>
                    </a:p>
                  </a:txBody>
                  <a:tcPr marL="152400" marR="114300" marT="95250" marB="95250" anchor="ctr">
                    <a:solidFill>
                      <a:srgbClr val="FFFFFF"/>
                    </a:solidFill>
                  </a:tcPr>
                </a:tc>
              </a:tr>
              <a:tr h="631031">
                <a:tc>
                  <a:txBody>
                    <a:bodyPr/>
                    <a:lstStyle/>
                    <a:p>
                      <a:r>
                        <a:rPr sz="2025" b="1">
                          <a:solidFill>
                            <a:srgbClr val="15354D"/>
                          </a:solidFill>
                          <a:latin typeface="Arial"/>
                          <a:ea typeface="Arial"/>
                          <a:cs typeface="Arial"/>
                        </a:rPr>
                        <a:t>Regressão base</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2,20</a:t>
                      </a:r>
                    </a:p>
                  </a:txBody>
                  <a:tcPr marL="152400" marR="114300" marT="95250" marB="95250" anchor="ctr">
                    <a:solidFill>
                      <a:srgbClr val="E8EEF2"/>
                    </a:solidFill>
                  </a:tcPr>
                </a:tc>
              </a:tr>
              <a:tr h="631031">
                <a:tc>
                  <a:txBody>
                    <a:bodyPr/>
                    <a:lstStyle/>
                    <a:p>
                      <a:r>
                        <a:rPr sz="2025" b="1">
                          <a:solidFill>
                            <a:srgbClr val="15354D"/>
                          </a:solidFill>
                          <a:latin typeface="Arial"/>
                          <a:ea typeface="Arial"/>
                          <a:cs typeface="Arial"/>
                        </a:rPr>
                        <a:t>Base + preços e pesos comerciais</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2,08</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CC291C1-C96D-479B-9A52-286EF752DD0A}"/>
              </a:ext>
            </a:extLst>
          </p:cNvPr>
          <p:cNvSpPr>
            <a:spLocks xmlns:a="http://schemas.openxmlformats.org/drawingml/2006/main" noGrp="1"/>
          </p:cNvSpPr>
          <p:nvPr/>
        </p:nvSpPr>
        <p:spPr>
          <a:xfrm xmlns:a="http://schemas.openxmlformats.org/drawingml/2006/main">
            <a:off x="609600" y="4638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A extensão melhora a base em 5%, mas perde para nenhuma mudança.</a:t>
            </a:r>
          </a:p>
        </p:txBody>
      </p:sp>
      <p:sp>
        <p:nvSpPr>
          <p:cNvPr id="6" name="">
            <a:extLst xmlns:a="http://schemas.openxmlformats.org/drawingml/2006/main">
              <a:ext uri="{FF2B5EF4-FFF2-40B4-BE49-F238E27FC236}">
                <a16:creationId xmlns:a16="http://schemas.microsoft.com/office/drawing/2014/main" id="{12518A35-0A87-4E07-89C8-23EAEF1923DB}"/>
              </a:ext>
            </a:extLst>
          </p:cNvPr>
          <p:cNvSpPr>
            <a:spLocks xmlns:a="http://schemas.openxmlformats.org/drawingml/2006/main" noGrp="1"/>
          </p:cNvSpPr>
          <p:nvPr/>
        </p:nvSpPr>
        <p:spPr>
          <a:xfrm xmlns:a="http://schemas.openxmlformats.org/drawingml/2006/main">
            <a:off x="609600" y="526732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desde dez/2000. Na origem jan/2013: treino até out/2007.</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Alvos disponíveis até dez/2012. Previsão: 60m; CPI com defasagem de 2 meses.</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Avaliação: 104 origens jan/2013–ago/2021, com alvos até ago/2026.</a:t>
            </a:r>
          </a:p>
        </p:txBody>
      </p:sp>
      <p:sp>
        <p:nvSpPr>
          <p:cNvPr id="7" name="">
            <a:extLst xmlns:a="http://schemas.openxmlformats.org/drawingml/2006/main">
              <a:ext uri="{FF2B5EF4-FFF2-40B4-BE49-F238E27FC236}">
                <a16:creationId xmlns:a16="http://schemas.microsoft.com/office/drawing/2014/main" id="{E4A9602E-C3F9-4D1A-A45A-3C40E4F44F14}"/>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extensão de termos de troca, real_60 e audit.csv. Base reestimada na mesma história da extensão comercial.</a:t>
            </a:r>
          </a:p>
        </p:txBody>
      </p:sp>
    </p:spTree>
    <p:extLst>
      <p:ext uri="{BB962C8B-B14F-4D97-AF65-F5344CB8AC3E}">
        <p14:creationId xmlns:p14="http://schemas.microsoft.com/office/powerpoint/2010/main" val="39904723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090CE7-D8AC-46FE-8495-5CD03FAB35AF}"/>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informação passa a controlar a posição</a:t>
            </a:r>
          </a:p>
        </p:txBody>
      </p:sp>
      <p:sp>
        <p:nvSpPr>
          <p:cNvPr id="2" name="">
            <a:extLst xmlns:a="http://schemas.openxmlformats.org/drawingml/2006/main">
              <a:ext uri="{FF2B5EF4-FFF2-40B4-BE49-F238E27FC236}">
                <a16:creationId xmlns:a16="http://schemas.microsoft.com/office/drawing/2014/main" id="{245BB9AD-85DE-416C-8A22-1EE13E662CB3}"/>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Três módulos, combinados em partes iguais. O carry continua orientando as pontas.</a:t>
            </a:r>
          </a:p>
        </p:txBody>
      </p:sp>
      <p:sp>
        <p:nvSpPr>
          <p:cNvPr id="3" name="">
            <a:extLst xmlns:a="http://schemas.openxmlformats.org/drawingml/2006/main">
              <a:ext uri="{FF2B5EF4-FFF2-40B4-BE49-F238E27FC236}">
                <a16:creationId xmlns:a16="http://schemas.microsoft.com/office/drawing/2014/main" id="{E8EC82C9-2DE3-460F-A84F-1931E8E9623E}"/>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11</a:t>
            </a:r>
          </a:p>
        </p:txBody>
      </p:sp>
      <p:graphicFrame>
        <p:nvGraphicFramePr>
          <p:cNvPr id="10" name=""/>
          <p:cNvGraphicFramePr/>
          <p:nvPr/>
        </p:nvGraphicFramePr>
        <p:xfrm>
          <a:off xmlns:a="http://schemas.openxmlformats.org/drawingml/2006/main" x="609600" y="2000250"/>
          <a:ext xmlns:a="http://schemas.openxmlformats.org/drawingml/2006/main" cx="10972800" cy="3086100"/>
        </p:xfrm>
        <a:graphic xmlns:a="http://schemas.openxmlformats.org/drawingml/2006/main">
          <a:graphicData uri="http://schemas.openxmlformats.org/drawingml/2006/table">
            <a:tbl>
              <a:tblPr/>
              <a:tblGrid>
                <a:gridCol w="2971800"/>
                <a:gridCol w="8001000"/>
              </a:tblGrid>
              <a:tr h="771525">
                <a:tc>
                  <a:txBody>
                    <a:bodyPr/>
                    <a:lstStyle/>
                    <a:p>
                      <a:r>
                        <a:rPr sz="1875" b="1">
                          <a:solidFill>
                            <a:srgbClr val="FFFFFF"/>
                          </a:solidFill>
                          <a:latin typeface="Arial"/>
                          <a:ea typeface="Arial"/>
                          <a:cs typeface="Arial"/>
                        </a:rPr>
                        <a:t>Decisão</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Regra econômica</a:t>
                      </a:r>
                    </a:p>
                  </a:txBody>
                  <a:tcPr marL="152400" marR="114300" marT="95250" marB="95250" anchor="ctr">
                    <a:solidFill>
                      <a:srgbClr val="15354D"/>
                    </a:solidFill>
                  </a:tcPr>
                </a:tc>
              </a:tr>
              <a:tr h="771525">
                <a:tc>
                  <a:txBody>
                    <a:bodyPr/>
                    <a:lstStyle/>
                    <a:p>
                      <a:r>
                        <a:rPr sz="1950" b="1">
                          <a:solidFill>
                            <a:srgbClr val="15354D"/>
                          </a:solidFill>
                          <a:latin typeface="Arial"/>
                          <a:ea typeface="Arial"/>
                          <a:cs typeface="Arial"/>
                        </a:rPr>
                        <a:t>Quanto investir</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Reduzir tamanho se a previsão for fraca.</a:t>
                      </a:r>
                    </a:p>
                    <a:p>
                      <a:r>
                        <a:rPr sz="1950" b="0">
                          <a:solidFill>
                            <a:srgbClr val="15354D"/>
                          </a:solidFill>
                          <a:latin typeface="Arial"/>
                          <a:ea typeface="Arial"/>
                          <a:cs typeface="Arial"/>
                        </a:rPr>
                        <a:t>Evitar mudanças comerciais extremas.</a:t>
                      </a:r>
                    </a:p>
                  </a:txBody>
                  <a:tcPr marL="152400" marR="114300" marT="95250" marB="95250" anchor="ctr">
                    <a:solidFill>
                      <a:srgbClr val="FFFFFF"/>
                    </a:solidFill>
                  </a:tcPr>
                </a:tc>
              </a:tr>
              <a:tr h="771525">
                <a:tc>
                  <a:txBody>
                    <a:bodyPr/>
                    <a:lstStyle/>
                    <a:p>
                      <a:r>
                        <a:rPr sz="1950" b="1">
                          <a:solidFill>
                            <a:srgbClr val="15354D"/>
                          </a:solidFill>
                          <a:latin typeface="Arial"/>
                          <a:ea typeface="Arial"/>
                          <a:cs typeface="Arial"/>
                        </a:rPr>
                        <a:t>Quando entrar</a:t>
                      </a:r>
                    </a:p>
                  </a:txBody>
                  <a:tcPr marL="152400" marR="114300" marT="95250" marB="95250" anchor="ctr">
                    <a:solidFill>
                      <a:srgbClr val="E8EEF2"/>
                    </a:solidFill>
                  </a:tcPr>
                </a:tc>
                <a:tc>
                  <a:txBody>
                    <a:bodyPr/>
                    <a:lstStyle/>
                    <a:p>
                      <a:r>
                        <a:rPr sz="1950" b="0">
                          <a:solidFill>
                            <a:srgbClr val="15354D"/>
                          </a:solidFill>
                          <a:latin typeface="Arial"/>
                          <a:ea typeface="Arial"/>
                          <a:cs typeface="Arial"/>
                        </a:rPr>
                        <a:t>Exigir retorno previsto mínimo.</a:t>
                      </a:r>
                    </a:p>
                    <a:p>
                      <a:r>
                        <a:rPr sz="1950" b="0">
                          <a:solidFill>
                            <a:srgbClr val="15354D"/>
                          </a:solidFill>
                          <a:latin typeface="Arial"/>
                          <a:ea typeface="Arial"/>
                          <a:cs typeface="Arial"/>
                        </a:rPr>
                        <a:t>Evitar preços comerciais adversos.</a:t>
                      </a:r>
                    </a:p>
                  </a:txBody>
                  <a:tcPr marL="152400" marR="114300" marT="95250" marB="95250" anchor="ctr">
                    <a:solidFill>
                      <a:srgbClr val="E8EEF2"/>
                    </a:solidFill>
                  </a:tcPr>
                </a:tc>
              </a:tr>
              <a:tr h="771525">
                <a:tc>
                  <a:txBody>
                    <a:bodyPr/>
                    <a:lstStyle/>
                    <a:p>
                      <a:r>
                        <a:rPr sz="1950" b="1">
                          <a:solidFill>
                            <a:srgbClr val="15354D"/>
                          </a:solidFill>
                          <a:latin typeface="Arial"/>
                          <a:ea typeface="Arial"/>
                          <a:cs typeface="Arial"/>
                        </a:rPr>
                        <a:t>Quando sair</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Abrir parcelas com prazo de até 12 meses.</a:t>
                      </a:r>
                    </a:p>
                    <a:p>
                      <a:r>
                        <a:rPr sz="1950" b="0">
                          <a:solidFill>
                            <a:srgbClr val="15354D"/>
                          </a:solidFill>
                          <a:latin typeface="Arial"/>
                          <a:ea typeface="Arial"/>
                          <a:cs typeface="Arial"/>
                        </a:rPr>
                        <a:t>Sair se o comércio indicar risco adicional.</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447AC24-1E11-40BE-A8CC-2F4A3FFA71A7}"/>
              </a:ext>
            </a:extLst>
          </p:cNvPr>
          <p:cNvSpPr>
            <a:spLocks xmlns:a="http://schemas.openxmlformats.org/drawingml/2006/main" noGrp="1"/>
          </p:cNvSpPr>
          <p:nvPr/>
        </p:nvSpPr>
        <p:spPr>
          <a:xfrm xmlns:a="http://schemas.openxmlformats.org/drawingml/2006/main">
            <a:off x="609600" y="525780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EJR desde out/1999; risco comercial desde jan/2011.</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Horizontes: câmbio nominal 60m; risco de consumo dos juros 12m. Backtest: abr/2018–ago/2026.</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Risco adicional compara modelo com comércio à base. Limiares usam só história passada.</a:t>
            </a:r>
          </a:p>
        </p:txBody>
      </p:sp>
      <p:sp>
        <p:nvSpPr>
          <p:cNvPr id="6" name="">
            <a:extLst xmlns:a="http://schemas.openxmlformats.org/drawingml/2006/main">
              <a:ext uri="{FF2B5EF4-FFF2-40B4-BE49-F238E27FC236}">
                <a16:creationId xmlns:a16="http://schemas.microsoft.com/office/drawing/2014/main" id="{CD96ADFE-99AB-440F-B7B2-189A548064C8}"/>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synthesis/model.py. Pesos 1/3 por módulo. Mínimos: 60 origens EJR, 36 risco e 36 meses de histórico dos limiares.</a:t>
            </a:r>
          </a:p>
        </p:txBody>
      </p:sp>
    </p:spTree>
    <p:extLst>
      <p:ext uri="{BB962C8B-B14F-4D97-AF65-F5344CB8AC3E}">
        <p14:creationId xmlns:p14="http://schemas.microsoft.com/office/powerpoint/2010/main" val="155653111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B36036-3BA9-4B0D-9F5D-D27E8A9E8C56}"/>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combinação teve risco menor na janela comum</a:t>
            </a:r>
          </a:p>
        </p:txBody>
      </p:sp>
      <p:sp>
        <p:nvSpPr>
          <p:cNvPr id="2" name="">
            <a:extLst xmlns:a="http://schemas.openxmlformats.org/drawingml/2006/main">
              <a:ext uri="{FF2B5EF4-FFF2-40B4-BE49-F238E27FC236}">
                <a16:creationId xmlns:a16="http://schemas.microsoft.com/office/drawing/2014/main" id="{93688E33-3624-45C9-A3EA-B10B77557712}"/>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Janela comum: abril de 2018 a agosto de 2026. Retornos líquidos em dólar.</a:t>
            </a:r>
          </a:p>
        </p:txBody>
      </p:sp>
      <p:sp>
        <p:nvSpPr>
          <p:cNvPr id="3" name="">
            <a:extLst xmlns:a="http://schemas.openxmlformats.org/drawingml/2006/main">
              <a:ext uri="{FF2B5EF4-FFF2-40B4-BE49-F238E27FC236}">
                <a16:creationId xmlns:a16="http://schemas.microsoft.com/office/drawing/2014/main" id="{0BD3D4B4-98E9-486D-A600-C969444BED2F}"/>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12</a:t>
            </a:r>
          </a:p>
        </p:txBody>
      </p:sp>
      <p:graphicFrame>
        <p:nvGraphicFramePr>
          <p:cNvPr id="10" name=""/>
          <p:cNvGraphicFramePr/>
          <p:nvPr/>
        </p:nvGraphicFramePr>
        <p:xfrm>
          <a:off xmlns:a="http://schemas.openxmlformats.org/drawingml/2006/main" x="609600" y="2000250"/>
          <a:ext xmlns:a="http://schemas.openxmlformats.org/drawingml/2006/main" cx="10972800" cy="3352800"/>
        </p:xfrm>
        <a:graphic xmlns:a="http://schemas.openxmlformats.org/drawingml/2006/main">
          <a:graphicData uri="http://schemas.openxmlformats.org/drawingml/2006/table">
            <a:tbl>
              <a:tblPr/>
              <a:tblGrid>
                <a:gridCol w="5191125"/>
                <a:gridCol w="2905125"/>
                <a:gridCol w="2876550"/>
              </a:tblGrid>
              <a:tr h="558800">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Combinação</a:t>
                      </a:r>
                    </a:p>
                  </a:txBody>
                  <a:tcPr marL="152400" marR="114300" marT="95250" marB="95250" anchor="ctr">
                    <a:solidFill>
                      <a:srgbClr val="15354D"/>
                    </a:solidFill>
                  </a:tcPr>
                </a:tc>
              </a:tr>
              <a:tr h="558800">
                <a:tc>
                  <a:txBody>
                    <a:bodyPr/>
                    <a:lstStyle/>
                    <a:p>
                      <a:r>
                        <a:rPr sz="2025" b="1">
                          <a:solidFill>
                            <a:srgbClr val="15354D"/>
                          </a:solidFill>
                          <a:latin typeface="Arial"/>
                          <a:ea typeface="Arial"/>
                          <a:cs typeface="Arial"/>
                        </a:rPr>
                        <a:t>Retorno anual composto</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5,78%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5,94%</a:t>
                      </a:r>
                    </a:p>
                  </a:txBody>
                  <a:tcPr marL="152400" marR="114300" marT="95250" marB="95250" anchor="ctr">
                    <a:solidFill>
                      <a:srgbClr val="FFFFFF"/>
                    </a:solidFill>
                  </a:tcPr>
                </a:tc>
              </a:tr>
              <a:tr h="558800">
                <a:tc>
                  <a:txBody>
                    <a:bodyPr/>
                    <a:lstStyle/>
                    <a:p>
                      <a:r>
                        <a:rPr sz="2025" b="1">
                          <a:solidFill>
                            <a:srgbClr val="15354D"/>
                          </a:solidFill>
                          <a:latin typeface="Arial"/>
                          <a:ea typeface="Arial"/>
                          <a:cs typeface="Arial"/>
                        </a:rPr>
                        <a:t>Volatilidade anual</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4,11%</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2,33%</a:t>
                      </a:r>
                    </a:p>
                  </a:txBody>
                  <a:tcPr marL="152400" marR="114300" marT="95250" marB="95250" anchor="ctr">
                    <a:solidFill>
                      <a:srgbClr val="E8EEF2"/>
                    </a:solidFill>
                  </a:tcPr>
                </a:tc>
              </a:tr>
              <a:tr h="558800">
                <a:tc>
                  <a:txBody>
                    <a:bodyPr/>
                    <a:lstStyle/>
                    <a:p>
                      <a:r>
                        <a:rPr sz="2025" b="1">
                          <a:solidFill>
                            <a:srgbClr val="15354D"/>
                          </a:solidFill>
                          <a:latin typeface="Arial"/>
                          <a:ea typeface="Arial"/>
                          <a:cs typeface="Arial"/>
                        </a:rPr>
                        <a:t>Sharpe</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0,75</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1,37</a:t>
                      </a:r>
                    </a:p>
                  </a:txBody>
                  <a:tcPr marL="152400" marR="114300" marT="95250" marB="95250" anchor="ctr">
                    <a:solidFill>
                      <a:srgbClr val="FFFFFF"/>
                    </a:solidFill>
                  </a:tcPr>
                </a:tc>
              </a:tr>
              <a:tr h="558800">
                <a:tc>
                  <a:txBody>
                    <a:bodyPr/>
                    <a:lstStyle/>
                    <a:p>
                      <a:r>
                        <a:rPr sz="2025" b="1">
                          <a:solidFill>
                            <a:srgbClr val="15354D"/>
                          </a:solidFill>
                          <a:latin typeface="Arial"/>
                          <a:ea typeface="Arial"/>
                          <a:cs typeface="Arial"/>
                        </a:rPr>
                        <a:t>Queda máxima</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-9,09%</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-1,43%</a:t>
                      </a:r>
                    </a:p>
                  </a:txBody>
                  <a:tcPr marL="152400" marR="114300" marT="95250" marB="95250" anchor="ctr">
                    <a:solidFill>
                      <a:srgbClr val="E8EEF2"/>
                    </a:solidFill>
                  </a:tcPr>
                </a:tc>
              </a:tr>
              <a:tr h="558800">
                <a:tc>
                  <a:txBody>
                    <a:bodyPr/>
                    <a:lstStyle/>
                    <a:p>
                      <a:r>
                        <a:rPr sz="2025" b="1">
                          <a:solidFill>
                            <a:srgbClr val="15354D"/>
                          </a:solidFill>
                          <a:latin typeface="Arial"/>
                          <a:ea typeface="Arial"/>
                          <a:cs typeface="Arial"/>
                        </a:rPr>
                        <a:t>Exposição bruta média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48%</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8034E19-E52E-4326-A0AE-15B5CDC247B0}"/>
              </a:ext>
            </a:extLst>
          </p:cNvPr>
          <p:cNvSpPr>
            <a:spLocks xmlns:a="http://schemas.openxmlformats.org/drawingml/2006/main" noGrp="1"/>
          </p:cNvSpPr>
          <p:nvPr/>
        </p:nvSpPr>
        <p:spPr>
          <a:xfrm xmlns:a="http://schemas.openxmlformats.org/drawingml/2006/main">
            <a:off x="609600" y="542925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Primeiro sinal: fev/2018. Treino EJR: out/1999–jan/2013; risco: jan/2011–dez/2016.</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disponíveis até jan/2018. Depois, reestimação expansiva mensal.</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Backtest comum: abr/2018–ago/2026, 101 retornos mensais líquidos.</a:t>
            </a:r>
          </a:p>
        </p:txBody>
      </p:sp>
      <p:sp>
        <p:nvSpPr>
          <p:cNvPr id="6" name="">
            <a:extLst xmlns:a="http://schemas.openxmlformats.org/drawingml/2006/main">
              <a:ext uri="{FF2B5EF4-FFF2-40B4-BE49-F238E27FC236}">
                <a16:creationId xmlns:a16="http://schemas.microsoft.com/office/drawing/2014/main" id="{D7B61684-7D2A-4046-9013-8D4953107406}"/>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metrics.csv, common/all. Exposição líquida zero. Resultado exploratório, sem prova de ganho de retorno médio.</a:t>
            </a:r>
          </a:p>
        </p:txBody>
      </p:sp>
    </p:spTree>
    <p:extLst>
      <p:ext uri="{BB962C8B-B14F-4D97-AF65-F5344CB8AC3E}">
        <p14:creationId xmlns:p14="http://schemas.microsoft.com/office/powerpoint/2010/main" val="68914912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ABE3A14-83A9-43D7-9A60-0CFE8DB2431E}"/>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prazo dos lotes altera a exposição e o resultado</a:t>
            </a:r>
          </a:p>
        </p:txBody>
      </p:sp>
      <p:sp>
        <p:nvSpPr>
          <p:cNvPr id="2" name="">
            <a:extLst xmlns:a="http://schemas.openxmlformats.org/drawingml/2006/main">
              <a:ext uri="{FF2B5EF4-FFF2-40B4-BE49-F238E27FC236}">
                <a16:creationId xmlns:a16="http://schemas.microsoft.com/office/drawing/2014/main" id="{D6AFB160-1082-4392-B379-B7B883CDE7C5}"/>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Variação do prazo máximo dos lotes do módulo C. Resultados da combinação inteira.</a:t>
            </a:r>
          </a:p>
        </p:txBody>
      </p:sp>
      <p:sp>
        <p:nvSpPr>
          <p:cNvPr id="3" name="">
            <a:extLst xmlns:a="http://schemas.openxmlformats.org/drawingml/2006/main">
              <a:ext uri="{FF2B5EF4-FFF2-40B4-BE49-F238E27FC236}">
                <a16:creationId xmlns:a16="http://schemas.microsoft.com/office/drawing/2014/main" id="{FF6A8036-3E3F-4278-BB66-94E42E1A84AA}"/>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13</a:t>
            </a:r>
          </a:p>
        </p:txBody>
      </p:sp>
      <p:graphicFrame>
        <p:nvGraphicFramePr>
          <p:cNvPr id="11" name=""/>
          <p:cNvGraphicFramePr/>
          <p:nvPr/>
        </p:nvGraphicFramePr>
        <p:xfrm>
          <a:off xmlns:a="http://schemas.openxmlformats.org/drawingml/2006/main" x="609600" y="2143125"/>
          <a:ext xmlns:a="http://schemas.openxmlformats.org/drawingml/2006/main" cx="10972800" cy="2286000"/>
        </p:xfrm>
        <a:graphic xmlns:a="http://schemas.openxmlformats.org/drawingml/2006/main">
          <a:graphicData uri="http://schemas.openxmlformats.org/drawingml/2006/table">
            <a:tbl>
              <a:tblPr/>
              <a:tblGrid>
                <a:gridCol w="2162175"/>
                <a:gridCol w="1762125"/>
                <a:gridCol w="1762125"/>
                <a:gridCol w="1666875"/>
                <a:gridCol w="1857375"/>
                <a:gridCol w="1762125"/>
              </a:tblGrid>
              <a:tr h="571500">
                <a:tc>
                  <a:txBody>
                    <a:bodyPr/>
                    <a:lstStyle/>
                    <a:p>
                      <a:r>
                        <a:rPr sz="1800" b="1">
                          <a:solidFill>
                            <a:srgbClr val="FFFFFF"/>
                          </a:solidFill>
                          <a:latin typeface="Arial"/>
                          <a:ea typeface="Arial"/>
                          <a:cs typeface="Arial"/>
                        </a:rPr>
                        <a:t>Prazo máximo</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Retorno a.a.</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Vol. a.a.</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Sharpe</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Queda máx.</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Exp. média</a:t>
                      </a:r>
                    </a:p>
                  </a:txBody>
                  <a:tcPr marL="152400" marR="114300" marT="95250" marB="95250" anchor="ctr">
                    <a:solidFill>
                      <a:srgbClr val="15354D"/>
                    </a:solidFill>
                  </a:tcPr>
                </a:tc>
              </a:tr>
              <a:tr h="571500">
                <a:tc>
                  <a:txBody>
                    <a:bodyPr/>
                    <a:lstStyle/>
                    <a:p>
                      <a:r>
                        <a:rPr sz="1800" b="1">
                          <a:solidFill>
                            <a:srgbClr val="15354D"/>
                          </a:solidFill>
                          <a:latin typeface="Arial"/>
                          <a:ea typeface="Arial"/>
                          <a:cs typeface="Arial"/>
                        </a:rPr>
                        <a:t>6 meses</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5,96%</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2,40%</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1,33</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-1,69%</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51%</a:t>
                      </a:r>
                    </a:p>
                  </a:txBody>
                  <a:tcPr marL="152400" marR="114300" marT="95250" marB="95250" anchor="ctr">
                    <a:solidFill>
                      <a:srgbClr val="FFFFFF"/>
                    </a:solidFill>
                  </a:tcPr>
                </a:tc>
              </a:tr>
              <a:tr h="571500">
                <a:tc>
                  <a:txBody>
                    <a:bodyPr/>
                    <a:lstStyle/>
                    <a:p>
                      <a:r>
                        <a:rPr sz="1800" b="1">
                          <a:solidFill>
                            <a:srgbClr val="15354D"/>
                          </a:solidFill>
                          <a:latin typeface="Arial"/>
                          <a:ea typeface="Arial"/>
                          <a:cs typeface="Arial"/>
                        </a:rPr>
                        <a:t>12 meses</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5,94%</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2,33%</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1,37</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-1,43%</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48%</a:t>
                      </a:r>
                    </a:p>
                  </a:txBody>
                  <a:tcPr marL="152400" marR="114300" marT="95250" marB="95250" anchor="ctr">
                    <a:solidFill>
                      <a:srgbClr val="E8EEF2"/>
                    </a:solidFill>
                  </a:tcPr>
                </a:tc>
              </a:tr>
              <a:tr h="571500">
                <a:tc>
                  <a:txBody>
                    <a:bodyPr/>
                    <a:lstStyle/>
                    <a:p>
                      <a:r>
                        <a:rPr sz="1800" b="1">
                          <a:solidFill>
                            <a:srgbClr val="15354D"/>
                          </a:solidFill>
                          <a:latin typeface="Arial"/>
                          <a:ea typeface="Arial"/>
                          <a:cs typeface="Arial"/>
                        </a:rPr>
                        <a:t>24 meses</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5,77%</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2,23%</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1,35</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-1,30%</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44%</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0D82BDC-CC79-4894-9A78-BAF05D446BD2}"/>
              </a:ext>
            </a:extLst>
          </p:cNvPr>
          <p:cNvSpPr>
            <a:spLocks xmlns:a="http://schemas.openxmlformats.org/drawingml/2006/main" noGrp="1"/>
          </p:cNvSpPr>
          <p:nvPr/>
        </p:nvSpPr>
        <p:spPr>
          <a:xfrm xmlns:a="http://schemas.openxmlformats.org/drawingml/2006/main">
            <a:off x="609600" y="45910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A exposição é contínua. O prazo dos lotes muda quanto e por quanto tempo carregar.</a:t>
            </a:r>
          </a:p>
        </p:txBody>
      </p:sp>
      <p:sp>
        <p:nvSpPr>
          <p:cNvPr id="6" name="">
            <a:extLst xmlns:a="http://schemas.openxmlformats.org/drawingml/2006/main">
              <a:ext uri="{FF2B5EF4-FFF2-40B4-BE49-F238E27FC236}">
                <a16:creationId xmlns:a16="http://schemas.microsoft.com/office/drawing/2014/main" id="{75D3B19A-2AE0-4AC7-BE38-2876CDD3B66D}"/>
              </a:ext>
            </a:extLst>
          </p:cNvPr>
          <p:cNvSpPr>
            <a:spLocks xmlns:a="http://schemas.openxmlformats.org/drawingml/2006/main" noGrp="1"/>
          </p:cNvSpPr>
          <p:nvPr/>
        </p:nvSpPr>
        <p:spPr>
          <a:xfrm xmlns:a="http://schemas.openxmlformats.org/drawingml/2006/main">
            <a:off x="609600" y="527685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Mesmo backtest: abr/2018–ago/2026; custos e treinamento expansivo iguais ao slide anterior.</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Muda somente o máximo do lote e o orçamento mensal 1/H. Há saída antecipada.</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 previsão de risco continua em 12m. Estes testes não identificam um prazo ótimo.</a:t>
            </a:r>
          </a:p>
        </p:txBody>
      </p:sp>
      <p:sp>
        <p:nvSpPr>
          <p:cNvPr id="7" name="">
            <a:extLst xmlns:a="http://schemas.openxmlformats.org/drawingml/2006/main">
              <a:ext uri="{FF2B5EF4-FFF2-40B4-BE49-F238E27FC236}">
                <a16:creationId xmlns:a16="http://schemas.microsoft.com/office/drawing/2014/main" id="{86ED5256-E175-463E-8AF5-8E59E6576A65}"/>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robustness.csv (Base, Tenure6, Tenure24), make_policies. Outros dois módulos continuam com revisão mensal.</a:t>
            </a:r>
          </a:p>
        </p:txBody>
      </p:sp>
    </p:spTree>
    <p:extLst>
      <p:ext uri="{BB962C8B-B14F-4D97-AF65-F5344CB8AC3E}">
        <p14:creationId xmlns:p14="http://schemas.microsoft.com/office/powerpoint/2010/main" val="36380128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C649C5A-A381-4D79-B94D-F224507DA2DE}"/>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trajetória explica o resultado de risco</a:t>
            </a:r>
          </a:p>
        </p:txBody>
      </p:sp>
      <p:sp>
        <p:nvSpPr>
          <p:cNvPr id="2" name="">
            <a:extLst xmlns:a="http://schemas.openxmlformats.org/drawingml/2006/main">
              <a:ext uri="{FF2B5EF4-FFF2-40B4-BE49-F238E27FC236}">
                <a16:creationId xmlns:a16="http://schemas.microsoft.com/office/drawing/2014/main" id="{EECD77B4-E945-4B02-847C-8E9EF1172A6E}"/>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Patrimônio líquido em dólar, base 100 antes de abril de 2018.</a:t>
            </a:r>
          </a:p>
        </p:txBody>
      </p:sp>
      <p:sp>
        <p:nvSpPr>
          <p:cNvPr id="3" name="">
            <a:extLst xmlns:a="http://schemas.openxmlformats.org/drawingml/2006/main">
              <a:ext uri="{FF2B5EF4-FFF2-40B4-BE49-F238E27FC236}">
                <a16:creationId xmlns:a16="http://schemas.microsoft.com/office/drawing/2014/main" id="{CDDC45FF-519C-4CCF-9B57-BCE77EEF5BF8}"/>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14</a:t>
            </a:r>
          </a:p>
        </p:txBody>
      </p:sp>
      <p:graphicFrame>
        <p:nvGraphicFramePr>
          <p:cNvPr id="11" name="Chart"/>
          <p:cNvGraphicFramePr/>
          <p:nvPr/>
        </p:nvGraphicFramePr>
        <p:xfrm>
          <a:off xmlns:a="http://schemas.openxmlformats.org/drawingml/2006/main" x="523875" y="1857375"/>
          <a:ext xmlns:a="http://schemas.openxmlformats.org/drawingml/2006/main" cx="11144250" cy="2181225"/>
        </p:xfrm>
        <a:graphic xmlns:a="http://schemas.openxmlformats.org/drawingml/2006/main">
          <a:graphicData uri="http://schemas.openxmlformats.org/drawingml/2006/chart">
            <c:chart xmlns:r="http://schemas.openxmlformats.org/officeDocument/2006/relationships" xmlns:c="http://schemas.openxmlformats.org/drawingml/2006/chart" r:id="Rbcf87efb1c9f4346"/>
          </a:graphicData>
        </a:graphic>
      </p:graphicFrame>
      <p:graphicFrame>
        <p:nvGraphicFramePr>
          <p:cNvPr id="12" name="Chart"/>
          <p:cNvGraphicFramePr/>
          <p:nvPr/>
        </p:nvGraphicFramePr>
        <p:xfrm>
          <a:off xmlns:a="http://schemas.openxmlformats.org/drawingml/2006/main" x="523875" y="4086225"/>
          <a:ext xmlns:a="http://schemas.openxmlformats.org/drawingml/2006/main" cx="11144250" cy="1495425"/>
        </p:xfrm>
        <a:graphic xmlns:a="http://schemas.openxmlformats.org/drawingml/2006/main">
          <a:graphicData uri="http://schemas.openxmlformats.org/drawingml/2006/chart">
            <c:chart xmlns:r="http://schemas.openxmlformats.org/officeDocument/2006/relationships" xmlns:c="http://schemas.openxmlformats.org/drawingml/2006/chart" r:id="R4e68885bac3a47f7"/>
          </a:graphicData>
        </a:graphic>
      </p:graphicFrame>
      <p:sp>
        <p:nvSpPr>
          <p:cNvPr id="6" name="">
            <a:extLst xmlns:a="http://schemas.openxmlformats.org/drawingml/2006/main">
              <a:ext uri="{FF2B5EF4-FFF2-40B4-BE49-F238E27FC236}">
                <a16:creationId xmlns:a16="http://schemas.microsoft.com/office/drawing/2014/main" id="{2B79CC51-5999-457E-9D21-112DABD7AE02}"/>
              </a:ext>
            </a:extLst>
          </p:cNvPr>
          <p:cNvSpPr>
            <a:spLocks xmlns:a="http://schemas.openxmlformats.org/drawingml/2006/main" noGrp="1"/>
          </p:cNvSpPr>
          <p:nvPr/>
        </p:nvSpPr>
        <p:spPr>
          <a:xfrm xmlns:a="http://schemas.openxmlformats.org/drawingml/2006/main">
            <a:off x="609600" y="56197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Treino no 1º sinal (fev/2018): EJR out/1999–jan/2013; risco jan/2011–dez/2016.</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disponíveis até jan/2018. Janelas expansivas. Backtest: abr/2018–ago/2026.</a:t>
            </a:r>
          </a:p>
        </p:txBody>
      </p:sp>
      <p:sp>
        <p:nvSpPr>
          <p:cNvPr id="7" name="">
            <a:extLst xmlns:a="http://schemas.openxmlformats.org/drawingml/2006/main">
              <a:ext uri="{FF2B5EF4-FFF2-40B4-BE49-F238E27FC236}">
                <a16:creationId xmlns:a16="http://schemas.microsoft.com/office/drawing/2014/main" id="{09236B5F-2766-4B5C-9303-B44501F237A8}"/>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returns.csv.gz; timing_audit.csv e extensão comercial, audit.csv. Lotes de até 12m no módulo C.</a:t>
            </a:r>
          </a:p>
        </p:txBody>
      </p:sp>
    </p:spTree>
    <p:extLst>
      <p:ext uri="{BB962C8B-B14F-4D97-AF65-F5344CB8AC3E}">
        <p14:creationId xmlns:p14="http://schemas.microsoft.com/office/powerpoint/2010/main" val="98102401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74F862-28A0-4AD9-9442-3853B84DE5E4}"/>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Menos juros, contribuição cambial melhor</a:t>
            </a:r>
          </a:p>
        </p:txBody>
      </p:sp>
      <p:sp>
        <p:nvSpPr>
          <p:cNvPr id="2" name="">
            <a:extLst xmlns:a="http://schemas.openxmlformats.org/drawingml/2006/main">
              <a:ext uri="{FF2B5EF4-FFF2-40B4-BE49-F238E27FC236}">
                <a16:creationId xmlns:a16="http://schemas.microsoft.com/office/drawing/2014/main" id="{AAF4FA7E-7A35-432C-9473-44079ED561BD}"/>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Contribuição ao excesso médio anual, em pontos percentuais. Abril/2018–agosto/2026.</a:t>
            </a:r>
          </a:p>
        </p:txBody>
      </p:sp>
      <p:sp>
        <p:nvSpPr>
          <p:cNvPr id="3" name="">
            <a:extLst xmlns:a="http://schemas.openxmlformats.org/drawingml/2006/main">
              <a:ext uri="{FF2B5EF4-FFF2-40B4-BE49-F238E27FC236}">
                <a16:creationId xmlns:a16="http://schemas.microsoft.com/office/drawing/2014/main" id="{D31F5802-E650-41F4-B7E5-A3A2D15E3BFB}"/>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15</a:t>
            </a:r>
          </a:p>
        </p:txBody>
      </p:sp>
      <p:graphicFrame>
        <p:nvGraphicFramePr>
          <p:cNvPr id="12" name="Chart"/>
          <p:cNvGraphicFramePr/>
          <p:nvPr/>
        </p:nvGraphicFramePr>
        <p:xfrm>
          <a:off xmlns:a="http://schemas.openxmlformats.org/drawingml/2006/main" x="600075" y="2028825"/>
          <a:ext xmlns:a="http://schemas.openxmlformats.org/drawingml/2006/main" cx="7334250" cy="3219450"/>
        </p:xfrm>
        <a:graphic xmlns:a="http://schemas.openxmlformats.org/drawingml/2006/main">
          <a:graphicData uri="http://schemas.openxmlformats.org/drawingml/2006/chart">
            <c:chart xmlns:r="http://schemas.openxmlformats.org/officeDocument/2006/relationships" xmlns:c="http://schemas.openxmlformats.org/drawingml/2006/chart" r:id="R4d541ed0b99c43b4"/>
          </a:graphicData>
        </a:graphic>
      </p:graphicFrame>
      <p:sp>
        <p:nvSpPr>
          <p:cNvPr id="5" name="">
            <a:extLst xmlns:a="http://schemas.openxmlformats.org/drawingml/2006/main">
              <a:ext uri="{FF2B5EF4-FFF2-40B4-BE49-F238E27FC236}">
                <a16:creationId xmlns:a16="http://schemas.microsoft.com/office/drawing/2014/main" id="{DDA86DB7-7D19-404D-80AB-39568A2DE2A1}"/>
              </a:ext>
            </a:extLst>
          </p:cNvPr>
          <p:cNvSpPr>
            <a:spLocks xmlns:a="http://schemas.openxmlformats.org/drawingml/2006/main" noGrp="1"/>
          </p:cNvSpPr>
          <p:nvPr/>
        </p:nvSpPr>
        <p:spPr>
          <a:xfrm xmlns:a="http://schemas.openxmlformats.org/drawingml/2006/main">
            <a:off x="8286750" y="2162175"/>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5354D"/>
                </a:solidFill>
                <a:latin typeface="Arial"/>
                <a:ea typeface="Arial"/>
                <a:cs typeface="Arial"/>
              </a:defRPr>
            </a:pPr>
            <a:r>
              <a:rPr sz="2025" b="1">
                <a:solidFill>
                  <a:srgbClr val="15354D"/>
                </a:solidFill>
                <a:latin typeface="Arial"/>
                <a:ea typeface="Arial"/>
                <a:cs typeface="Arial"/>
              </a:rPr>
              <a:t>Custo de ficar de fora</a:t>
            </a:r>
          </a:p>
        </p:txBody>
      </p:sp>
      <p:sp>
        <p:nvSpPr>
          <p:cNvPr id="6" name="">
            <a:extLst xmlns:a="http://schemas.openxmlformats.org/drawingml/2006/main">
              <a:ext uri="{FF2B5EF4-FFF2-40B4-BE49-F238E27FC236}">
                <a16:creationId xmlns:a16="http://schemas.microsoft.com/office/drawing/2014/main" id="{806A9863-C62B-4656-A64E-3DB1BDB2BD21}"/>
              </a:ext>
            </a:extLst>
          </p:cNvPr>
          <p:cNvSpPr>
            <a:spLocks xmlns:a="http://schemas.openxmlformats.org/drawingml/2006/main" noGrp="1"/>
          </p:cNvSpPr>
          <p:nvPr/>
        </p:nvSpPr>
        <p:spPr>
          <a:xfrm xmlns:a="http://schemas.openxmlformats.org/drawingml/2006/main">
            <a:off x="8286750" y="3000375"/>
            <a:ext cx="323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Em 2019, excesso anual:</a:t>
            </a:r>
          </a:p>
          <a:p xmlns:a="http://schemas.openxmlformats.org/drawingml/2006/main">
            <a:r>
              <a:t/>
            </a:r>
          </a:p>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Carry: 3,83%</a:t>
            </a:r>
          </a:p>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Combinação: 0,40%</a:t>
            </a:r>
          </a:p>
        </p:txBody>
      </p:sp>
      <p:sp>
        <p:nvSpPr>
          <p:cNvPr id="7" name="">
            <a:extLst xmlns:a="http://schemas.openxmlformats.org/drawingml/2006/main">
              <a:ext uri="{FF2B5EF4-FFF2-40B4-BE49-F238E27FC236}">
                <a16:creationId xmlns:a16="http://schemas.microsoft.com/office/drawing/2014/main" id="{4A630980-3B01-4E2C-9EE7-3FC5E2EA80C9}"/>
              </a:ext>
            </a:extLst>
          </p:cNvPr>
          <p:cNvSpPr>
            <a:spLocks xmlns:a="http://schemas.openxmlformats.org/drawingml/2006/main" noGrp="1"/>
          </p:cNvSpPr>
          <p:nvPr/>
        </p:nvSpPr>
        <p:spPr>
          <a:xfrm xmlns:a="http://schemas.openxmlformats.org/drawingml/2006/main">
            <a:off x="609600" y="5419725"/>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5B6770"/>
                </a:solidFill>
                <a:latin typeface="Arial"/>
                <a:ea typeface="Arial"/>
                <a:cs typeface="Arial"/>
              </a:defRPr>
            </a:pPr>
            <a:r>
              <a:rPr sz="1575" b="0">
                <a:solidFill>
                  <a:srgbClr val="5B6770"/>
                </a:solidFill>
                <a:latin typeface="Arial"/>
                <a:ea typeface="Arial"/>
                <a:cs typeface="Arial"/>
              </a:rPr>
              <a:t>Atribuição do backtest abr/2018–ago/2026. Mesmos modelos e treino expansivo da combinação.</a:t>
            </a:r>
          </a:p>
          <a:p xmlns:a="http://schemas.openxmlformats.org/drawingml/2006/main">
            <a:pPr>
              <a:defRPr sz="1575" b="0">
                <a:solidFill>
                  <a:srgbClr val="5B6770"/>
                </a:solidFill>
                <a:latin typeface="Arial"/>
                <a:ea typeface="Arial"/>
                <a:cs typeface="Arial"/>
              </a:defRPr>
            </a:pPr>
            <a:r>
              <a:rPr sz="1575" b="0">
                <a:solidFill>
                  <a:srgbClr val="5B6770"/>
                </a:solidFill>
                <a:latin typeface="Arial"/>
                <a:ea typeface="Arial"/>
                <a:cs typeface="Arial"/>
              </a:rPr>
              <a:t>O filtro protegeu em alguns episódios e deixou ganhos para trás em outros.</a:t>
            </a:r>
          </a:p>
        </p:txBody>
      </p:sp>
      <p:sp>
        <p:nvSpPr>
          <p:cNvPr id="8" name="">
            <a:extLst xmlns:a="http://schemas.openxmlformats.org/drawingml/2006/main">
              <a:ext uri="{FF2B5EF4-FFF2-40B4-BE49-F238E27FC236}">
                <a16:creationId xmlns:a16="http://schemas.microsoft.com/office/drawing/2014/main" id="{5F7B2B2A-533B-4194-B7F2-AB1286509C69}"/>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attribution.csv e episodes.csv. Média aritmética anualizada. Componentes não somam o CAGR. Custos e interação completam a conta.</a:t>
            </a:r>
          </a:p>
        </p:txBody>
      </p:sp>
    </p:spTree>
    <p:extLst>
      <p:ext uri="{BB962C8B-B14F-4D97-AF65-F5344CB8AC3E}">
        <p14:creationId xmlns:p14="http://schemas.microsoft.com/office/powerpoint/2010/main" val="207040196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28B603-CF4D-42E8-BC74-D2F72DF8150A}"/>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resultado ainda exige validação</a:t>
            </a:r>
          </a:p>
        </p:txBody>
      </p:sp>
      <p:sp>
        <p:nvSpPr>
          <p:cNvPr id="2" name="">
            <a:extLst xmlns:a="http://schemas.openxmlformats.org/drawingml/2006/main">
              <a:ext uri="{FF2B5EF4-FFF2-40B4-BE49-F238E27FC236}">
                <a16:creationId xmlns:a16="http://schemas.microsoft.com/office/drawing/2014/main" id="{E7496A07-4CD3-4FB2-B4F0-F8E3D8BDAC19}"/>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Melhora histórica de risco não basta para estabelecer uma vantagem de mercado.</a:t>
            </a:r>
          </a:p>
        </p:txBody>
      </p:sp>
      <p:sp>
        <p:nvSpPr>
          <p:cNvPr id="3" name="">
            <a:extLst xmlns:a="http://schemas.openxmlformats.org/drawingml/2006/main">
              <a:ext uri="{FF2B5EF4-FFF2-40B4-BE49-F238E27FC236}">
                <a16:creationId xmlns:a16="http://schemas.microsoft.com/office/drawing/2014/main" id="{576562FE-A88B-4F47-AD3E-820D3435D46F}"/>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546E70BE-6621-4E24-87DC-0BD26B126FA8}"/>
              </a:ext>
            </a:extLst>
          </p:cNvPr>
          <p:cNvSpPr>
            <a:spLocks xmlns:a="http://schemas.openxmlformats.org/drawingml/2006/main" noGrp="1"/>
          </p:cNvSpPr>
          <p:nvPr/>
        </p:nvSpPr>
        <p:spPr>
          <a:xfrm xmlns:a="http://schemas.openxmlformats.org/drawingml/2006/main">
            <a:off x="609600" y="21717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Escolha das regras após muitos testes na mesma história.</a:t>
            </a:r>
          </a:p>
        </p:txBody>
      </p:sp>
      <p:sp>
        <p:nvSpPr>
          <p:cNvPr id="5" name="">
            <a:extLst xmlns:a="http://schemas.openxmlformats.org/drawingml/2006/main">
              <a:ext uri="{FF2B5EF4-FFF2-40B4-BE49-F238E27FC236}">
                <a16:creationId xmlns:a16="http://schemas.microsoft.com/office/drawing/2014/main" id="{B58372B8-CF24-46E9-B357-F940A42BBC42}"/>
              </a:ext>
            </a:extLst>
          </p:cNvPr>
          <p:cNvSpPr>
            <a:spLocks xmlns:a="http://schemas.openxmlformats.org/drawingml/2006/main" noGrp="1"/>
          </p:cNvSpPr>
          <p:nvPr/>
        </p:nvSpPr>
        <p:spPr>
          <a:xfrm xmlns:a="http://schemas.openxmlformats.org/drawingml/2006/main">
            <a:off x="609600" y="30575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Menor exposição explica parte da redução do risco.</a:t>
            </a:r>
          </a:p>
        </p:txBody>
      </p:sp>
      <p:sp>
        <p:nvSpPr>
          <p:cNvPr id="6" name="">
            <a:extLst xmlns:a="http://schemas.openxmlformats.org/drawingml/2006/main">
              <a:ext uri="{FF2B5EF4-FFF2-40B4-BE49-F238E27FC236}">
                <a16:creationId xmlns:a16="http://schemas.microsoft.com/office/drawing/2014/main" id="{3B4FC0A1-567B-4F92-8F21-B489512AFD00}"/>
              </a:ext>
            </a:extLst>
          </p:cNvPr>
          <p:cNvSpPr>
            <a:spLocks xmlns:a="http://schemas.openxmlformats.org/drawingml/2006/main" noGrp="1"/>
          </p:cNvSpPr>
          <p:nvPr/>
        </p:nvSpPr>
        <p:spPr>
          <a:xfrm xmlns:a="http://schemas.openxmlformats.org/drawingml/2006/main">
            <a:off x="609600" y="39433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Resultados dependem bastante de BRL e JPY.</a:t>
            </a:r>
          </a:p>
        </p:txBody>
      </p:sp>
      <p:sp>
        <p:nvSpPr>
          <p:cNvPr id="7" name="">
            <a:extLst xmlns:a="http://schemas.openxmlformats.org/drawingml/2006/main">
              <a:ext uri="{FF2B5EF4-FFF2-40B4-BE49-F238E27FC236}">
                <a16:creationId xmlns:a16="http://schemas.microsoft.com/office/drawing/2014/main" id="{48E32B79-FFE9-4E29-9275-AA9BD1EC1764}"/>
              </a:ext>
            </a:extLst>
          </p:cNvPr>
          <p:cNvSpPr>
            <a:spLocks xmlns:a="http://schemas.openxmlformats.org/drawingml/2006/main" noGrp="1"/>
          </p:cNvSpPr>
          <p:nvPr/>
        </p:nvSpPr>
        <p:spPr>
          <a:xfrm xmlns:a="http://schemas.openxmlformats.org/drawingml/2006/main">
            <a:off x="609600" y="48291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Dados revisados e taxas aproximadas limitam a execução real.</a:t>
            </a:r>
          </a:p>
        </p:txBody>
      </p:sp>
      <p:sp>
        <p:nvSpPr>
          <p:cNvPr id="8" name="">
            <a:extLst xmlns:a="http://schemas.openxmlformats.org/drawingml/2006/main">
              <a:ext uri="{FF2B5EF4-FFF2-40B4-BE49-F238E27FC236}">
                <a16:creationId xmlns:a16="http://schemas.microsoft.com/office/drawing/2014/main" id="{A8E7224B-C04E-4624-9EB4-CF70C30B382C}"/>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O teste corrigido para 14 alternativas principais não estabelece ganho de retorno médio. Calendário controlado não elimina seleção histórica.</a:t>
            </a:r>
          </a:p>
        </p:txBody>
      </p:sp>
    </p:spTree>
    <p:extLst>
      <p:ext uri="{BB962C8B-B14F-4D97-AF65-F5344CB8AC3E}">
        <p14:creationId xmlns:p14="http://schemas.microsoft.com/office/powerpoint/2010/main" val="127692291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A75ABB-97A0-406E-B09B-75870EA9EC17}"/>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que o trabalho permite concluir</a:t>
            </a:r>
          </a:p>
        </p:txBody>
      </p:sp>
      <p:sp>
        <p:nvSpPr>
          <p:cNvPr id="2" name="">
            <a:extLst xmlns:a="http://schemas.openxmlformats.org/drawingml/2006/main">
              <a:ext uri="{FF2B5EF4-FFF2-40B4-BE49-F238E27FC236}">
                <a16:creationId xmlns:a16="http://schemas.microsoft.com/office/drawing/2014/main" id="{C81334D0-B5DF-4F55-B716-FA5214439E55}"/>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DEA7F5D1-ED33-4CCD-9975-643310F94279}"/>
              </a:ext>
            </a:extLst>
          </p:cNvPr>
          <p:cNvSpPr>
            <a:spLocks xmlns:a="http://schemas.openxmlformats.org/drawingml/2006/main" noGrp="1"/>
          </p:cNvSpPr>
          <p:nvPr/>
        </p:nvSpPr>
        <p:spPr>
          <a:xfrm xmlns:a="http://schemas.openxmlformats.org/drawingml/2006/main">
            <a:off x="609600" y="20764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15354D"/>
                </a:solidFill>
                <a:latin typeface="Arial"/>
                <a:ea typeface="Arial"/>
                <a:cs typeface="Arial"/>
              </a:defRPr>
            </a:pPr>
            <a:r>
              <a:rPr sz="2775" b="1">
                <a:solidFill>
                  <a:srgbClr val="15354D"/>
                </a:solidFill>
                <a:latin typeface="Arial"/>
                <a:ea typeface="Arial"/>
                <a:cs typeface="Arial"/>
              </a:rPr>
              <a:t>A relação histórica da aula se replica.</a:t>
            </a:r>
          </a:p>
        </p:txBody>
      </p:sp>
      <p:sp>
        <p:nvSpPr>
          <p:cNvPr id="4" name="">
            <a:extLst xmlns:a="http://schemas.openxmlformats.org/drawingml/2006/main">
              <a:ext uri="{FF2B5EF4-FFF2-40B4-BE49-F238E27FC236}">
                <a16:creationId xmlns:a16="http://schemas.microsoft.com/office/drawing/2014/main" id="{8C885013-14BE-4EA5-957A-A346D4C208F7}"/>
              </a:ext>
            </a:extLst>
          </p:cNvPr>
          <p:cNvSpPr>
            <a:spLocks xmlns:a="http://schemas.openxmlformats.org/drawingml/2006/main" noGrp="1"/>
          </p:cNvSpPr>
          <p:nvPr/>
        </p:nvSpPr>
        <p:spPr>
          <a:xfrm xmlns:a="http://schemas.openxmlformats.org/drawingml/2006/main">
            <a:off x="609600" y="32766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15354D"/>
                </a:solidFill>
                <a:latin typeface="Arial"/>
                <a:ea typeface="Arial"/>
                <a:cs typeface="Arial"/>
              </a:defRPr>
            </a:pPr>
            <a:r>
              <a:rPr sz="2550" b="0">
                <a:solidFill>
                  <a:srgbClr val="15354D"/>
                </a:solidFill>
                <a:latin typeface="Arial"/>
                <a:ea typeface="Arial"/>
                <a:cs typeface="Arial"/>
              </a:rPr>
              <a:t>Commodities ajudam em alguns testes, com instabilidade.</a:t>
            </a:r>
          </a:p>
        </p:txBody>
      </p:sp>
      <p:sp>
        <p:nvSpPr>
          <p:cNvPr id="5" name="">
            <a:extLst xmlns:a="http://schemas.openxmlformats.org/drawingml/2006/main">
              <a:ext uri="{FF2B5EF4-FFF2-40B4-BE49-F238E27FC236}">
                <a16:creationId xmlns:a16="http://schemas.microsoft.com/office/drawing/2014/main" id="{DF0D57C1-3651-47B6-A810-FFAF035B49CA}"/>
              </a:ext>
            </a:extLst>
          </p:cNvPr>
          <p:cNvSpPr>
            <a:spLocks xmlns:a="http://schemas.openxmlformats.org/drawingml/2006/main" noGrp="1"/>
          </p:cNvSpPr>
          <p:nvPr/>
        </p:nvSpPr>
        <p:spPr>
          <a:xfrm xmlns:a="http://schemas.openxmlformats.org/drawingml/2006/main">
            <a:off x="609600" y="44100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Controlar a exposição ao carry foi a hipótese mais promissora</a:t>
            </a:r>
          </a:p>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para reduzir risco na amostra.</a:t>
            </a:r>
          </a:p>
        </p:txBody>
      </p:sp>
      <p:sp>
        <p:nvSpPr>
          <p:cNvPr id="6" name="">
            <a:extLst xmlns:a="http://schemas.openxmlformats.org/drawingml/2006/main">
              <a:ext uri="{FF2B5EF4-FFF2-40B4-BE49-F238E27FC236}">
                <a16:creationId xmlns:a16="http://schemas.microsoft.com/office/drawing/2014/main" id="{A3BEE232-4CD0-44B8-8640-1DF7DDFD96F7}"/>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Próxima validação: regras congeladas, dados futuros e custos executáveis. Resultados exploratórios, sem arbitragem demonstrada.</a:t>
            </a:r>
          </a:p>
        </p:txBody>
      </p:sp>
    </p:spTree>
    <p:extLst>
      <p:ext uri="{BB962C8B-B14F-4D97-AF65-F5344CB8AC3E}">
        <p14:creationId xmlns:p14="http://schemas.microsoft.com/office/powerpoint/2010/main" val="52344821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CE0B74-68C1-4EBA-86DF-CC0A3B1F3FD2}"/>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Apoio: equações e informação disponível</a:t>
            </a:r>
          </a:p>
        </p:txBody>
      </p:sp>
      <p:sp>
        <p:nvSpPr>
          <p:cNvPr id="2" name="">
            <a:extLst xmlns:a="http://schemas.openxmlformats.org/drawingml/2006/main">
              <a:ext uri="{FF2B5EF4-FFF2-40B4-BE49-F238E27FC236}">
                <a16:creationId xmlns:a16="http://schemas.microsoft.com/office/drawing/2014/main" id="{0A6A5C07-A13F-41A0-80B0-E8A2CD9881A2}"/>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Regressões nominais. Índices de país omitidos para facilitar a leitura.</a:t>
            </a:r>
          </a:p>
        </p:txBody>
      </p:sp>
      <p:sp>
        <p:nvSpPr>
          <p:cNvPr id="3" name="">
            <a:extLst xmlns:a="http://schemas.openxmlformats.org/drawingml/2006/main">
              <a:ext uri="{FF2B5EF4-FFF2-40B4-BE49-F238E27FC236}">
                <a16:creationId xmlns:a16="http://schemas.microsoft.com/office/drawing/2014/main" id="{EA7629D8-2FEC-4BC4-AB14-2407F142C8E9}"/>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18 apoio</a:t>
            </a:r>
          </a:p>
        </p:txBody>
      </p:sp>
      <p:sp>
        <p:nvSpPr>
          <p:cNvPr id="4" name="">
            <a:extLst xmlns:a="http://schemas.openxmlformats.org/drawingml/2006/main">
              <a:ext uri="{FF2B5EF4-FFF2-40B4-BE49-F238E27FC236}">
                <a16:creationId xmlns:a16="http://schemas.microsoft.com/office/drawing/2014/main" id="{F9671D7B-E54D-497C-86CE-6395C692D5CD}"/>
              </a:ext>
            </a:extLst>
          </p:cNvPr>
          <p:cNvSpPr>
            <a:spLocks xmlns:a="http://schemas.openxmlformats.org/drawingml/2006/main" noGrp="1"/>
          </p:cNvSpPr>
          <p:nvPr/>
        </p:nvSpPr>
        <p:spPr>
          <a:xfrm xmlns:a="http://schemas.openxmlformats.org/drawingml/2006/main">
            <a:off x="609600" y="214312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15354D"/>
                </a:solidFill>
                <a:latin typeface="Arial"/>
                <a:ea typeface="Arial"/>
                <a:cs typeface="Arial"/>
              </a:defRPr>
            </a:pPr>
            <a:r>
              <a:rPr sz="2475" b="1">
                <a:solidFill>
                  <a:srgbClr val="15354D"/>
                </a:solidFill>
                <a:latin typeface="Arial"/>
                <a:ea typeface="Arial"/>
                <a:cs typeface="Arial"/>
              </a:rPr>
              <a:t>Base: Δs(t, t+h) = β × desvio real + erro</a:t>
            </a:r>
          </a:p>
        </p:txBody>
      </p:sp>
      <p:sp>
        <p:nvSpPr>
          <p:cNvPr id="5" name="">
            <a:extLst xmlns:a="http://schemas.openxmlformats.org/drawingml/2006/main">
              <a:ext uri="{FF2B5EF4-FFF2-40B4-BE49-F238E27FC236}">
                <a16:creationId xmlns:a16="http://schemas.microsoft.com/office/drawing/2014/main" id="{4495AC60-DCFC-466D-A3A5-67FDEAFA81FF}"/>
              </a:ext>
            </a:extLst>
          </p:cNvPr>
          <p:cNvSpPr>
            <a:spLocks xmlns:a="http://schemas.openxmlformats.org/drawingml/2006/main" noGrp="1"/>
          </p:cNvSpPr>
          <p:nvPr/>
        </p:nvSpPr>
        <p:spPr>
          <a:xfrm xmlns:a="http://schemas.openxmlformats.org/drawingml/2006/main">
            <a:off x="609600" y="31146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7B"/>
                </a:solidFill>
                <a:latin typeface="Arial"/>
                <a:ea typeface="Arial"/>
                <a:cs typeface="Arial"/>
              </a:defRPr>
            </a:pPr>
            <a:r>
              <a:rPr sz="2325" b="1">
                <a:solidFill>
                  <a:srgbClr val="007F7B"/>
                </a:solidFill>
                <a:latin typeface="Arial"/>
                <a:ea typeface="Arial"/>
                <a:cs typeface="Arial"/>
              </a:rPr>
              <a:t>Extensão: base + γ × preços globais + δ × exposição específica</a:t>
            </a:r>
          </a:p>
        </p:txBody>
      </p:sp>
      <p:sp>
        <p:nvSpPr>
          <p:cNvPr id="6" name="">
            <a:extLst xmlns:a="http://schemas.openxmlformats.org/drawingml/2006/main">
              <a:ext uri="{FF2B5EF4-FFF2-40B4-BE49-F238E27FC236}">
                <a16:creationId xmlns:a16="http://schemas.microsoft.com/office/drawing/2014/main" id="{1E287550-FBEA-434F-BC8E-78329D08D261}"/>
              </a:ext>
            </a:extLst>
          </p:cNvPr>
          <p:cNvSpPr>
            <a:spLocks xmlns:a="http://schemas.openxmlformats.org/drawingml/2006/main" noGrp="1"/>
          </p:cNvSpPr>
          <p:nvPr/>
        </p:nvSpPr>
        <p:spPr>
          <a:xfrm xmlns:a="http://schemas.openxmlformats.org/drawingml/2006/main">
            <a:off x="609600" y="4276725"/>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Em t, o treinamento só inclui alvos terminados até t−1.</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CPI e preços comerciais entram defasados.</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A previsão de 60 meses / 60 é um ritmo médio aproximado.</a:t>
            </a:r>
          </a:p>
        </p:txBody>
      </p:sp>
      <p:sp>
        <p:nvSpPr>
          <p:cNvPr id="7" name="">
            <a:extLst xmlns:a="http://schemas.openxmlformats.org/drawingml/2006/main">
              <a:ext uri="{FF2B5EF4-FFF2-40B4-BE49-F238E27FC236}">
                <a16:creationId xmlns:a16="http://schemas.microsoft.com/office/drawing/2014/main" id="{F2167DD6-CFC7-4C65-BED8-314D8848C058}"/>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Fontes: src/models.py e third/engine.py. Regressão preditiva agrupada. Sem identificação causal ou estimação completa do DSGE do artigo.</a:t>
            </a:r>
          </a:p>
        </p:txBody>
      </p:sp>
    </p:spTree>
    <p:extLst>
      <p:ext uri="{BB962C8B-B14F-4D97-AF65-F5344CB8AC3E}">
        <p14:creationId xmlns:p14="http://schemas.microsoft.com/office/powerpoint/2010/main" val="149462299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5639BF-EA91-4285-B0DE-FB2085D0F52A}"/>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Apoio: exposição, custos e interpretação</a:t>
            </a:r>
          </a:p>
        </p:txBody>
      </p:sp>
      <p:sp>
        <p:nvSpPr>
          <p:cNvPr id="2" name="">
            <a:extLst xmlns:a="http://schemas.openxmlformats.org/drawingml/2006/main">
              <a:ext uri="{FF2B5EF4-FFF2-40B4-BE49-F238E27FC236}">
                <a16:creationId xmlns:a16="http://schemas.microsoft.com/office/drawing/2014/main" id="{E2BDF16E-4134-46E5-9F4A-DE1DCB3F50E4}"/>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Comparação na mesma janela de 2018–2026. Controle de exposição retrospectivo.</a:t>
            </a:r>
          </a:p>
        </p:txBody>
      </p:sp>
      <p:sp>
        <p:nvSpPr>
          <p:cNvPr id="3" name="">
            <a:extLst xmlns:a="http://schemas.openxmlformats.org/drawingml/2006/main">
              <a:ext uri="{FF2B5EF4-FFF2-40B4-BE49-F238E27FC236}">
                <a16:creationId xmlns:a16="http://schemas.microsoft.com/office/drawing/2014/main" id="{FEE3F170-370B-4F20-8204-120D6F89AE2F}"/>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19 apoio</a:t>
            </a:r>
          </a:p>
        </p:txBody>
      </p:sp>
      <p:graphicFrame>
        <p:nvGraphicFramePr>
          <p:cNvPr id="10" name=""/>
          <p:cNvGraphicFramePr/>
          <p:nvPr/>
        </p:nvGraphicFramePr>
        <p:xfrm>
          <a:off xmlns:a="http://schemas.openxmlformats.org/drawingml/2006/main" x="609600" y="2114550"/>
          <a:ext xmlns:a="http://schemas.openxmlformats.org/drawingml/2006/main" cx="10972800" cy="2628900"/>
        </p:xfrm>
        <a:graphic xmlns:a="http://schemas.openxmlformats.org/drawingml/2006/main">
          <a:graphicData uri="http://schemas.openxmlformats.org/drawingml/2006/table">
            <a:tbl>
              <a:tblPr/>
              <a:tblGrid>
                <a:gridCol w="4143375"/>
                <a:gridCol w="2276475"/>
                <a:gridCol w="2276475"/>
                <a:gridCol w="2276475"/>
              </a:tblGrid>
              <a:tr h="657225">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a 48%</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Combinação</a:t>
                      </a:r>
                    </a:p>
                  </a:txBody>
                  <a:tcPr marL="152400" marR="114300" marT="95250" marB="95250" anchor="ctr">
                    <a:solidFill>
                      <a:srgbClr val="15354D"/>
                    </a:solidFill>
                  </a:tcPr>
                </a:tc>
              </a:tr>
              <a:tr h="657225">
                <a:tc>
                  <a:txBody>
                    <a:bodyPr/>
                    <a:lstStyle/>
                    <a:p>
                      <a:r>
                        <a:rPr sz="2025" b="1">
                          <a:solidFill>
                            <a:srgbClr val="15354D"/>
                          </a:solidFill>
                          <a:latin typeface="Arial"/>
                          <a:ea typeface="Arial"/>
                          <a:cs typeface="Arial"/>
                        </a:rPr>
                        <a:t>Retorno anual</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5,78%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4,18%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5,94%</a:t>
                      </a:r>
                    </a:p>
                  </a:txBody>
                  <a:tcPr marL="152400" marR="114300" marT="95250" marB="95250" anchor="ctr">
                    <a:solidFill>
                      <a:srgbClr val="FFFFFF"/>
                    </a:solidFill>
                  </a:tcPr>
                </a:tc>
              </a:tr>
              <a:tr h="657225">
                <a:tc>
                  <a:txBody>
                    <a:bodyPr/>
                    <a:lstStyle/>
                    <a:p>
                      <a:r>
                        <a:rPr sz="2025" b="1">
                          <a:solidFill>
                            <a:srgbClr val="15354D"/>
                          </a:solidFill>
                          <a:latin typeface="Arial"/>
                          <a:ea typeface="Arial"/>
                          <a:cs typeface="Arial"/>
                        </a:rPr>
                        <a:t>Volatilidade</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4,11%</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2,04%</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2,33%</a:t>
                      </a:r>
                    </a:p>
                  </a:txBody>
                  <a:tcPr marL="152400" marR="114300" marT="95250" marB="95250" anchor="ctr">
                    <a:solidFill>
                      <a:srgbClr val="E8EEF2"/>
                    </a:solidFill>
                  </a:tcPr>
                </a:tc>
              </a:tr>
              <a:tr h="657225">
                <a:tc>
                  <a:txBody>
                    <a:bodyPr/>
                    <a:lstStyle/>
                    <a:p>
                      <a:r>
                        <a:rPr sz="2025" b="1">
                          <a:solidFill>
                            <a:srgbClr val="15354D"/>
                          </a:solidFill>
                          <a:latin typeface="Arial"/>
                          <a:ea typeface="Arial"/>
                          <a:cs typeface="Arial"/>
                        </a:rPr>
                        <a:t>Queda máxima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-9,09%</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-4,02%</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-1,43%</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C0E7D96-CEFE-4525-B8BD-0318473FC37A}"/>
              </a:ext>
            </a:extLst>
          </p:cNvPr>
          <p:cNvSpPr>
            <a:spLocks xmlns:a="http://schemas.openxmlformats.org/drawingml/2006/main" noGrp="1"/>
          </p:cNvSpPr>
          <p:nvPr/>
        </p:nvSpPr>
        <p:spPr>
          <a:xfrm xmlns:a="http://schemas.openxmlformats.org/drawingml/2006/main">
            <a:off x="609600" y="5133975"/>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Sinal no mês t. Execução em t+1. Primeiro retorno em t+2.</a:t>
            </a:r>
          </a:p>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Custos e financiamento entram nos retornos das duas regras.</a:t>
            </a:r>
          </a:p>
        </p:txBody>
      </p:sp>
      <p:sp>
        <p:nvSpPr>
          <p:cNvPr id="6" name="">
            <a:extLst xmlns:a="http://schemas.openxmlformats.org/drawingml/2006/main">
              <a:ext uri="{FF2B5EF4-FFF2-40B4-BE49-F238E27FC236}">
                <a16:creationId xmlns:a16="http://schemas.microsoft.com/office/drawing/2014/main" id="{4EA57164-6B44-4517-AEB0-655A020F3725}"/>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A média de 48% só é conhecida ao final. Controle diagnóstico, sem regra executável ex ante. Fonte: exposure_controls.csv.</a:t>
            </a:r>
          </a:p>
        </p:txBody>
      </p:sp>
    </p:spTree>
    <p:extLst>
      <p:ext uri="{BB962C8B-B14F-4D97-AF65-F5344CB8AC3E}">
        <p14:creationId xmlns:p14="http://schemas.microsoft.com/office/powerpoint/2010/main" val="17404045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2026-09-15T18:37:12.6470000Z</dcterms:created>
  <dcterms:modified xsi:type="dcterms:W3CDTF">2026-09-15T18:37:12.6470000Z</dcterms:modified>
</coreProperties>
</file>